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08b6c6f8fd474c" /><Relationship Type="http://schemas.openxmlformats.org/officeDocument/2006/relationships/extended-properties" Target="/docProps/app.xml" Id="R8b8cf45dda664f52" /><Relationship Type="http://schemas.openxmlformats.org/officeDocument/2006/relationships/officeDocument" Target="/ppt/presentation.xml" Id="R76899edea2b342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1b98fb0c684f41"/>
  </p:sldMasterIdLst>
  <p:notesMasterIdLst>
    <p:notesMasterId xmlns:r="http://schemas.openxmlformats.org/officeDocument/2006/relationships" r:id="Re344d1226b5248db"/>
  </p:notesMasterIdLst>
  <p:sldIdLst>
    <p:sldId xmlns:r="http://schemas.openxmlformats.org/officeDocument/2006/relationships" id="256" r:id="R096faafe3ec14e0f"/>
    <p:sldId xmlns:r="http://schemas.openxmlformats.org/officeDocument/2006/relationships" id="257" r:id="R4d8d6330c2414991"/>
    <p:sldId xmlns:r="http://schemas.openxmlformats.org/officeDocument/2006/relationships" id="258" r:id="Rccadcc5e9a6b4ee7"/>
    <p:sldId xmlns:r="http://schemas.openxmlformats.org/officeDocument/2006/relationships" id="259" r:id="Raef5f26d5a884148"/>
    <p:sldId xmlns:r="http://schemas.openxmlformats.org/officeDocument/2006/relationships" id="260" r:id="R74e92dfb964c4bd0"/>
    <p:sldId xmlns:r="http://schemas.openxmlformats.org/officeDocument/2006/relationships" id="261" r:id="R32aeddf4e12b4567"/>
    <p:sldId xmlns:r="http://schemas.openxmlformats.org/officeDocument/2006/relationships" id="262" r:id="Ra01059a07e1142e1"/>
    <p:sldId xmlns:r="http://schemas.openxmlformats.org/officeDocument/2006/relationships" id="263" r:id="Rc4a2accbc7ee483e"/>
    <p:sldId xmlns:r="http://schemas.openxmlformats.org/officeDocument/2006/relationships" id="264" r:id="Rfa01904b6c414aad"/>
    <p:sldId xmlns:r="http://schemas.openxmlformats.org/officeDocument/2006/relationships" id="265" r:id="Rdb90ed671aec4ff7"/>
    <p:sldId xmlns:r="http://schemas.openxmlformats.org/officeDocument/2006/relationships" id="266" r:id="R32df851d6a97449f"/>
    <p:sldId xmlns:r="http://schemas.openxmlformats.org/officeDocument/2006/relationships" id="267" r:id="Re3c0b543c96b419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6f9b991f4f4c9a" /><Relationship Type="http://schemas.openxmlformats.org/officeDocument/2006/relationships/slideMaster" Target="/ppt/slideMasters/slideMaster1.xml" Id="R9d1b98fb0c684f41" /><Relationship Type="http://schemas.openxmlformats.org/officeDocument/2006/relationships/notesMaster" Target="/ppt/notesMasters/notesMaster1.xml" Id="Re344d1226b5248db" /><Relationship Type="http://schemas.openxmlformats.org/officeDocument/2006/relationships/presProps" Target="/ppt/presProps.xml" Id="Rf06f1ee2c4564dac" /><Relationship Type="http://schemas.openxmlformats.org/officeDocument/2006/relationships/tableStyles" Target="/ppt/tableStyles.xml" Id="Rb9dae3a92f7a46d8" /><Relationship Type="http://schemas.openxmlformats.org/officeDocument/2006/relationships/slide" Target="/ppt/slides/slide1.xml" Id="R096faafe3ec14e0f" /><Relationship Type="http://schemas.openxmlformats.org/officeDocument/2006/relationships/slide" Target="/ppt/slides/slide2.xml" Id="R4d8d6330c2414991" /><Relationship Type="http://schemas.openxmlformats.org/officeDocument/2006/relationships/slide" Target="/ppt/slides/slide3.xml" Id="Rccadcc5e9a6b4ee7" /><Relationship Type="http://schemas.openxmlformats.org/officeDocument/2006/relationships/slide" Target="/ppt/slides/slide4.xml" Id="Raef5f26d5a884148" /><Relationship Type="http://schemas.openxmlformats.org/officeDocument/2006/relationships/slide" Target="/ppt/slides/slide5.xml" Id="R74e92dfb964c4bd0" /><Relationship Type="http://schemas.openxmlformats.org/officeDocument/2006/relationships/slide" Target="/ppt/slides/slide6.xml" Id="R32aeddf4e12b4567" /><Relationship Type="http://schemas.openxmlformats.org/officeDocument/2006/relationships/slide" Target="/ppt/slides/slide7.xml" Id="Ra01059a07e1142e1" /><Relationship Type="http://schemas.openxmlformats.org/officeDocument/2006/relationships/slide" Target="/ppt/slides/slide8.xml" Id="Rc4a2accbc7ee483e" /><Relationship Type="http://schemas.openxmlformats.org/officeDocument/2006/relationships/slide" Target="/ppt/slides/slide9.xml" Id="Rfa01904b6c414aad" /><Relationship Type="http://schemas.openxmlformats.org/officeDocument/2006/relationships/slide" Target="/ppt/slides/slide10.xml" Id="Rdb90ed671aec4ff7" /><Relationship Type="http://schemas.openxmlformats.org/officeDocument/2006/relationships/slide" Target="/ppt/slides/slide11.xml" Id="R32df851d6a97449f" /><Relationship Type="http://schemas.openxmlformats.org/officeDocument/2006/relationships/slide" Target="/ppt/slides/slide12.xml" Id="Re3c0b543c96b41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bce2dd894040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7336024b4e4692" /><Relationship Type="http://schemas.openxmlformats.org/officeDocument/2006/relationships/notesMaster" Target="/ppt/notesMasters/notesMaster1.xml" Id="Rf4f643832b7445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0cc3c9d29442bb" /><Relationship Type="http://schemas.openxmlformats.org/officeDocument/2006/relationships/notesMaster" Target="/ppt/notesMasters/notesMaster1.xml" Id="R57761d41cc3c49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985efd25b34afc" /><Relationship Type="http://schemas.openxmlformats.org/officeDocument/2006/relationships/notesMaster" Target="/ppt/notesMasters/notesMaster1.xml" Id="Rc5135163883d45e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2d1284c2994469" /><Relationship Type="http://schemas.openxmlformats.org/officeDocument/2006/relationships/notesMaster" Target="/ppt/notesMasters/notesMaster1.xml" Id="R2c5efebca43f4e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32c91529754350" /><Relationship Type="http://schemas.openxmlformats.org/officeDocument/2006/relationships/notesMaster" Target="/ppt/notesMasters/notesMaster1.xml" Id="R9e406848849e49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c4f306c76c429c" /><Relationship Type="http://schemas.openxmlformats.org/officeDocument/2006/relationships/notesMaster" Target="/ppt/notesMasters/notesMaster1.xml" Id="R88206256a93f4f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e606fda01e4b93" /><Relationship Type="http://schemas.openxmlformats.org/officeDocument/2006/relationships/notesMaster" Target="/ppt/notesMasters/notesMaster1.xml" Id="Ra2a51b31801b44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89bb01b67a447a" /><Relationship Type="http://schemas.openxmlformats.org/officeDocument/2006/relationships/notesMaster" Target="/ppt/notesMasters/notesMaster1.xml" Id="R5ed90c9ea90049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16f522f1a64382" /><Relationship Type="http://schemas.openxmlformats.org/officeDocument/2006/relationships/notesMaster" Target="/ppt/notesMasters/notesMaster1.xml" Id="R5db00cadd08645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32df4eae7d540e5" /><Relationship Type="http://schemas.openxmlformats.org/officeDocument/2006/relationships/notesMaster" Target="/ppt/notesMasters/notesMaster1.xml" Id="R6408f31627f244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708f3217d04c0e" /><Relationship Type="http://schemas.openxmlformats.org/officeDocument/2006/relationships/notesMaster" Target="/ppt/notesMasters/notesMaster1.xml" Id="Re04f244f3efe49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f171236bb5f4d83" /><Relationship Type="http://schemas.openxmlformats.org/officeDocument/2006/relationships/notesMaster" Target="/ppt/notesMasters/notesMaster1.xml" Id="R6251b18becc34e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Энергоконтур — работающий продукт для решения задачи № 03: выбрать расположение и оснащение зарядных станций с учётом транспортной потребности, ограничений энергоснабжения и развития сети. Главное в нашей работе — согласованный план и проверка его последствий: сколько энергии получат пользователи, где возникнут очереди и сколько будет стоить выбранное качество обслуживания. Мы демонстрируем реализованный продукт и численное сценарное доказательство.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p_3_ru.pdf, стр. 5–8; README.md; docs/assets/interface-showcase.png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Организаторы описывают локальный экспертный выбор площадок. Он не связывает одновременно потребность в зарядке, реальную пропускную способность подключений и будущий рост. В результате одни станции простаивают, на других образуются очереди; подключение и строительство могут стоить больше, чем приносит выбранная площадка. Это одна системная задача: недостаточно оценить только популярность места, только транспортный маршрут или только оборудование.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p_3_ru.pdf, стр. 5–7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Наше решение отвечает на шесть связанных вопросов. Оно выбирает площадки и оборудование, проверяет доступный энергетический ресурс, назначает ввод и вложения по годам, рассчитывает обслуживание и показывает экономический компромисс. Оператор получает варианты развития своей сети; город — доступность и качество обслуживания при ограниченном бюджете. Важный результат — сравнимые последствия каждого решения, а не только точки на карте.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p_3_ru.pdf, стр. 5, 8; docs/IMPLEMENTATION_STATUS.md; actual PlanResult contract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Потребность определяется энергией транспорта и доступными моментами зарядки. Частный автомобиль может заряжаться дома; такси ограничено сменой и стоимостью простоя; парк — расписанием и батареей. Поездки, стоянки и домашняя зарядка преобразуются в публичную потребность. Датированная заявка сохраняет прибытие, крайний срок, энергию и ограничения батареи. Для выбора места учитывается достижимость по дороге. Параметры могут быть пользовательскими или сценарными; точность скрытого спроса без истории не заявляется. Рейсы парков сейчас рассчитываются отдельной моделью.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docs/MOBILITY_DEMAND.md; docs/DATED_DEMAND.md; engine/energy/mobility.py; dated.py; fleet.py; routing.py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Две соседние станции могут конкурировать за ресурс одной подстанции. Мы связываем выбор оборудования с пределом подключения и общим энергетическим узлом. Пользователь задаёт временные ограничения, стоимость и срок усиления; при заданных параметрах модель также может выбрать накопитель или генерацию. Так привлекательная по спросу точка оценивается с учётом возможности обслужить его. При отсутствии схемы сети проверяются мощность и энергобаланс; согласование с сетевой организацией остаётся необходимым.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p_3_ru.pdf, стр. 5–7; engine/energy/optimizer.py; dispatch.py; validation.py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Выбранный план проверяется при прибытиях автомобилей и ограниченных ресурсах станции. Возникают очереди, ограничения длительности зарядки и перераспределение между соседями. На рисунке — средний отпуск на каждой площадке для двух допустимых планов на одних и тех же потоках. Более мощная западная площадка меняет распределение обслуживания: 639,81 кВт·ч/сутки вместо 465,31; центральная отпускает меньше. Это демонстрирует влияние выбора оборудования на работу всей сети, которое требуется на странице 8 конкурсной задачи. Значения — результат модели, не наблюдения оператора.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p_3_ru.pdf, стр. 8; benchmark_monaco.json: plans.*.years.2028.site_utilization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сохраняет существующее оборудование и добавляет новые комплекты только в выбранных местах. В проверенном примере западная и восточная площадки получают по два поста 60 кВт в 2027 году; центральный актив два по 22 кВт остаётся. Новый CAPEX составляет 5,20 млн рублей, а у размещения по плотности — 3,70 млн. Повышенное качество обслуживания имеет цену, и мы её показываем. Пользователь может пересчитать требования, бюджет или цены. Это инвестиционный выбор, а не утверждение, что самое мощное оборудование всегда выгоднее.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benchmark_monaco.json: selected, capex_rub_by_year, scenario_npv_proxy_rub; docs/commission/REPORT.md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одинаковых исходных данных и потоках проверены существующая сеть, размещение по плотности и Энергоконтур. Доли обслуженной энергии равны 33,04%, 93,29% и 98,57%. Средний по 30 прогонам p95 ожидания снизился с 27,64 до 14,77 минуты относительно плотности. Парная разность обслуживания составляет +5,28 п.п., 95%-интервал [4,88; 5,67] п.п. Это измеренный сценарный результат. Фактический CAPEX планов различается, общий бюджетный предел одинаков. Улучшение всех критериев задачи одновременно этим примером ещё не доказано: более высокий сервис стоит дороже, NPV proxy и относительная загрузка ниже.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docs/commission/REPORT.md; benchmark_monaco.json: plans.*.years.2028.metrics; paired_differences.optimized_minus_density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Нормальная работа сети не раскрывает последствия отказа или ошибки оценки спроса. Мы отдельно проверяем отключение станции, увеличение спроса и уменьшение доступного сетевого ресурса. В показанной паре отключается одна и та же восточная площадка: east. У размещения по плотности сохраняется 42,40% обслуживания, у Энергоконтура 93,92%. Более мощный ресурс на западе позволяет перераспределить спрос. Проверка помогает обнаружить уязвимость и сравнить способы её устранения ещё до инвестиций; сохранение 93,92% не гарантируется при любом другом отказе.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benchmark_monaco.json: stress.density.failed_site_id, stress.optimized.failed_site_id, outage, demand_x1_25, grid_x0_75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Реализована основная расчётная связка конкурса: потребность, размещение, энергетические ограничения, инвестиции по годам и проверка эксплуатации. Работающий продукт получает пользовательский вход и возвращает сохранённый объяснимый план. На проверенном сценарии подтверждены рост обслуженной энергии, уменьшение ожидания и устойчивость к выбранному отказу. Мы не утверждаем, что эффект уже подтверждён в реальном мегаполисе. Для этого требуются данные города и оператора; затем сравнение при одинаковом сервисе должно проверить критерий инфраструктурных издержек. Объединение инвестиций парков и публичной сети, AC-режим и большой масштаб остаются расширениями. Приоритет участников пилота: оператор, сетевая организация и город; качественная оценка ролей не выдаётся за проведённые интервью.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p_3_ru.pdf, стр. 8; docs/commission/TASK_FIT_AUDIT.md; benchmark_monaco.json; 1.1333.pptx, базовый трек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Техническое устройство обеспечивает предметный расчёт. Go принимает запрос и сохраняет снимок с долговечной задачей; worker управляет вычислением и проверяет SHA артефактов. Python описывает совместные инвестиционные решения через Pyomo, HiGHS решает MILP. SimPy независимо проверяет эксплуатацию на тех же исходных данных. Результат проходит физический аудит, а при заданных требованиях сервиса — отдельную приёмку. PostgreSQL/PostGIS хранит версии и результаты, Redis ускоряет кэш и уведомления. Неуспех сервиса не превращается в успех от одного статуса optimal.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docs/ARCHITECTURE.md; docs/CALCULATIONS.md; engine/energy/optimizer.py; simulation.py; backend worker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 предметным решением стоит поставляемый программный комплект: Go API/worker, PostgreSQL/PostGIS, Redis, Python-модели, веб-клиент, Docker, OpenAPI и документация запуска. Зафиксированные протоколы содержат 266 Python-тестов, Go integration/race и 26 браузерных тестов. Для презентации код не менялся, эти тесты заново не запускались. Вход, вычислительные исходники, протокол и случайные seed сохранены с отпечатками. Это позволяет проверить расчёт и отделить корректность программы от достоверности городских данных. Исходники доступны по адресу GitHub; доступ комиссии нужно обеспечить перед отправкой.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README.md; docs/evidence/readme-2026-10-01/VERIFICATION.md; docs/evidence/task-fit-2026-10-01/VERIFICATION.md; git remote origin</a:t>
            </a:r>
          </a:p>
          <a:p xmlns:a="http://schemas.openxmlformats.org/drawingml/2006/main">
            <a:r>
              <a:t>Версия кода: 3ac4b5cf81a4ea1429da0f2b2dcd800025ff4624</a:t>
            </a:r>
          </a:p>
          <a:p xmlns:a="http://schemas.openxmlformats.org/drawingml/2006/main">
            <a:r>
              <a:t>Движок: 76c410c13022ba8816b644f28e35f3735f60e869cdfc3b4828fc7b436f26fc2e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de1de48a1449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60cf787f3b48e3" /><Relationship Type="http://schemas.openxmlformats.org/officeDocument/2006/relationships/slideLayout" Target="/ppt/slideLayouts/slideLayout1.xml" Id="Rd1ae3401bf8f44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ae3401bf8f44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cbae52dd54134" /><Relationship Type="http://schemas.openxmlformats.org/officeDocument/2006/relationships/image" Target="/ppt/media/image.png" Id="Rcf99cf92c87849aa" /><Relationship Type="http://schemas.openxmlformats.org/officeDocument/2006/relationships/image" Target="/ppt/media/image.jpeg" Id="Rfa3544643b3b41f6" /><Relationship Type="http://schemas.openxmlformats.org/officeDocument/2006/relationships/notesSlide" Target="/ppt/notesSlides/notesSlide1.xml" Id="Rd8027694f59d46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b990ee27e4261" /><Relationship Type="http://schemas.openxmlformats.org/officeDocument/2006/relationships/notesSlide" Target="/ppt/notesSlides/notesSlide2.xml" Id="Re2021b28fa6843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638604b7447a1" /><Relationship Type="http://schemas.openxmlformats.org/officeDocument/2006/relationships/notesSlide" Target="/ppt/notesSlides/notesSlide3.xml" Id="R982aa02513e349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89f6ef45f4ca0" /><Relationship Type="http://schemas.openxmlformats.org/officeDocument/2006/relationships/notesSlide" Target="/ppt/notesSlides/notesSlide4.xml" Id="R497f5effc4e94b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f1aca42ab84e85" /><Relationship Type="http://schemas.openxmlformats.org/officeDocument/2006/relationships/notesSlide" Target="/ppt/notesSlides/notesSlide5.xml" Id="R3ddcd1efc6804c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d75265cc7e41af" /><Relationship Type="http://schemas.openxmlformats.org/officeDocument/2006/relationships/chart" Target="/ppt/slides/charts/chart1.xml" Id="R1b4cc9212ef94251" /><Relationship Type="http://schemas.openxmlformats.org/officeDocument/2006/relationships/notesSlide" Target="/ppt/notesSlides/notesSlide6.xml" Id="R993fa4c64c9243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29f7db0fd456e" /><Relationship Type="http://schemas.openxmlformats.org/officeDocument/2006/relationships/notesSlide" Target="/ppt/notesSlides/notesSlide7.xml" Id="R9102cf4d65094f8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c3b0d27f54696" /><Relationship Type="http://schemas.openxmlformats.org/officeDocument/2006/relationships/chart" Target="/ppt/slides/charts/chart2.xml" Id="R139d11f197e947e2" /><Relationship Type="http://schemas.openxmlformats.org/officeDocument/2006/relationships/notesSlide" Target="/ppt/notesSlides/notesSlide8.xml" Id="R42ad4cae96a44d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ed0cb797641da" /><Relationship Type="http://schemas.openxmlformats.org/officeDocument/2006/relationships/notesSlide" Target="/ppt/notesSlides/notesSlide9.xml" Id="Ra0b4e5a07bb74f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1d56015cb42b3" /><Relationship Type="http://schemas.openxmlformats.org/officeDocument/2006/relationships/notesSlide" Target="/ppt/notesSlides/notesSlide10.xml" Id="R4efe811929104d8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0c775071f4471" /><Relationship Type="http://schemas.openxmlformats.org/officeDocument/2006/relationships/notesSlide" Target="/ppt/notesSlides/notesSlide11.xml" Id="Re9d08234419444c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f89fa5742481b" /><Relationship Type="http://schemas.openxmlformats.org/officeDocument/2006/relationships/hyperlink" Target="https://github.com/Elmar006/energy_web" TargetMode="External" Id="Rb3c6c9133f2b4e32" /><Relationship Type="http://schemas.openxmlformats.org/officeDocument/2006/relationships/notesSlide" Target="/ppt/notesSlides/notesSlide12.xml" Id="R47b086ce705e413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По плотности</c:v>
          </c:tx>
          <c:spPr>
            <a:solidFill xmlns:a="http://schemas.openxmlformats.org/drawingml/2006/main">
              <a:srgbClr val="A0A0A0"/>
            </a:solidFill>
          </c:spPr>
          <c:cat>
            <c:strRef>
              <c:f>'Chart Data'!$A$2:$A$4</c:f>
              <c:strCache>
                <c:ptCount val="3"/>
                <c:pt idx="0">
                  <c:v>Запад</c:v>
                </c:pt>
                <c:pt idx="1">
                  <c:v>Центр</c:v>
                </c:pt>
                <c:pt idx="2">
                  <c:v>Восток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465.3146</c:v>
                </c:pt>
                <c:pt idx="1">
                  <c:v>211.9697</c:v>
                </c:pt>
                <c:pt idx="2">
                  <c:v>837.1116</c:v>
                </c:pt>
              </c:numCache>
            </c:numRef>
          </c:val>
        </c:ser>
        <c:ser>
          <c:idx val="1"/>
          <c:order val="1"/>
          <c:tx>
            <c:v>Энергоконтур</c:v>
          </c:tx>
          <c:spPr>
            <a:solidFill xmlns:a="http://schemas.openxmlformats.org/drawingml/2006/main">
              <a:srgbClr val="151515"/>
            </a:solidFill>
          </c:spPr>
          <c:cat>
            <c:strRef>
              <c:f>'Chart Data'!$C$2:$C$4</c:f>
              <c:strCache>
                <c:ptCount val="3"/>
                <c:pt idx="0">
                  <c:v>Запад</c:v>
                </c:pt>
                <c:pt idx="1">
                  <c:v>Центр</c:v>
                </c:pt>
                <c:pt idx="2">
                  <c:v>Восток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639.8062</c:v>
                </c:pt>
                <c:pt idx="1">
                  <c:v>162.9153</c:v>
                </c:pt>
                <c:pt idx="2">
                  <c:v>798.013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 b="1">
                  <a:solidFill>
                    <a:srgbClr val="151515"/>
                  </a:solidFill>
                  <a:latin typeface="IBM Plex Sans"/>
                  <a:ea typeface="IBM Plex Sans"/>
                  <a:cs typeface="IBM Plex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EDEDE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8E8E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</a:p>
        </c:txPr>
        <c:crossAx val="48650112"/>
        <c:crossBetween val="between"/>
        <c:majorUnit val="2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606060"/>
              </a:solidFill>
              <a:latin typeface="IBM Plex Sans"/>
              <a:ea typeface="IBM Plex Sans"/>
              <a:cs typeface="IBM Plex Sans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Обслуживание</c:v>
          </c:tx>
          <c:spPr>
            <a:solidFill xmlns:a="http://schemas.openxmlformats.org/drawingml/2006/main">
              <a:srgbClr val="151515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C4C4C4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19191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51515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Существующая
сеть</c:v>
                </c:pt>
                <c:pt idx="1">
                  <c:v>По плотности</c:v>
                </c:pt>
                <c:pt idx="2">
                  <c:v>Энергоконтур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0.3304</c:v>
                </c:pt>
                <c:pt idx="1">
                  <c:v>0.9329</c:v>
                </c:pt>
                <c:pt idx="2">
                  <c:v>0.9857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 b="1">
                  <a:solidFill>
                    <a:srgbClr val="151515"/>
                  </a:solidFill>
                  <a:latin typeface="IBM Plex Sans"/>
                  <a:ea typeface="IBM Plex Sans"/>
                  <a:cs typeface="IBM Plex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EDEDE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</a:p>
        </c:txPr>
        <c:crossAx val="48672768"/>
      </c:catAx>
      <c:valAx>
        <c:axId val="48672768"/>
        <c:scaling>
          <c:orientation val="minMax"/>
          <c:max val="1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8E8E8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29FFE542-F249-45B9-8E46-DD483189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A6A6A6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A6A6A6"/>
                </a:solidFill>
                <a:latin typeface="IBM Plex Sans"/>
                <a:ea typeface="IBM Plex Sans"/>
                <a:cs typeface="IBM Plex Sans"/>
              </a:rPr>
              <a:t>01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99cf92c87849aa"/>
          <a:stretch xmlns:a="http://schemas.openxmlformats.org/drawingml/2006/main"/>
        </p:blipFill>
        <p:spPr>
          <a:xfrm xmlns:a="http://schemas.openxmlformats.org/drawingml/2006/main">
            <a:off x="685800" y="51435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3" name="Энергоконтур">
            <a:extLst xmlns:a="http://schemas.openxmlformats.org/drawingml/2006/main">
              <a:ext uri="{FF2B5EF4-FFF2-40B4-BE49-F238E27FC236}">
                <a16:creationId xmlns:a16="http://schemas.microsoft.com/office/drawing/2014/main" id="{FFA92595-FF19-4A2C-BA9C-EEFFB8D1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763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4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Энергоконтур</a:t>
            </a:r>
          </a:p>
        </p:txBody>
      </p:sp>
      <p:sp>
        <p:nvSpPr>
          <p:cNvPr id="4" name="Где строить зарядки&#10;и как развив">
            <a:extLst xmlns:a="http://schemas.openxmlformats.org/drawingml/2006/main">
              <a:ext uri="{FF2B5EF4-FFF2-40B4-BE49-F238E27FC236}">
                <a16:creationId xmlns:a16="http://schemas.microsoft.com/office/drawing/2014/main" id="{F1730877-600E-4607-AF87-EE7DCF51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5048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2850" b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Где строить зарядки</a:t>
            </a:r>
          </a:p>
          <a:p xmlns:a="http://schemas.openxmlformats.org/drawingml/2006/main">
            <a:pPr algn="l">
              <a:defRPr sz="2850" b="0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2850" b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и как развивать сеть</a:t>
            </a:r>
          </a:p>
        </p:txBody>
      </p:sp>
      <p:sp>
        <p:nvSpPr>
          <p:cNvPr id="5" name="Задача № 03">
            <a:extLst xmlns:a="http://schemas.openxmlformats.org/drawingml/2006/main">
              <a:ext uri="{FF2B5EF4-FFF2-40B4-BE49-F238E27FC236}">
                <a16:creationId xmlns:a16="http://schemas.microsoft.com/office/drawing/2014/main" id="{889FFDAB-95F5-45A2-ACCA-4300B2FD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38650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Задача № 03</a:t>
            </a:r>
          </a:p>
        </p:txBody>
      </p:sp>
      <p:sp>
        <p:nvSpPr>
          <p:cNvPr id="6" name="ООО «Росатом&#10;Сеть зарядных станц">
            <a:extLst xmlns:a="http://schemas.openxmlformats.org/drawingml/2006/main">
              <a:ext uri="{FF2B5EF4-FFF2-40B4-BE49-F238E27FC236}">
                <a16:creationId xmlns:a16="http://schemas.microsoft.com/office/drawing/2014/main" id="{167468CE-22AB-4E20-AF7E-A9067CDC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762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C6C6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C6C6C6"/>
                </a:solidFill>
                <a:latin typeface="IBM Plex Sans"/>
                <a:ea typeface="IBM Plex Sans"/>
                <a:cs typeface="IBM Plex Sans"/>
              </a:rPr>
              <a:t>ООО «Росатом</a:t>
            </a:r>
          </a:p>
          <a:p xmlns:a="http://schemas.openxmlformats.org/drawingml/2006/main">
            <a:pPr algn="l">
              <a:defRPr sz="1800" b="0">
                <a:solidFill>
                  <a:srgbClr val="C6C6C6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C6C6C6"/>
                </a:solidFill>
                <a:latin typeface="IBM Plex Sans"/>
                <a:ea typeface="IBM Plex Sans"/>
                <a:cs typeface="IBM Plex Sans"/>
              </a:rPr>
              <a:t>Сеть зарядных станций»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3544643b3b41f6"/>
          <a:stretch xmlns:a="http://schemas.openxmlformats.org/drawingml/2006/main"/>
        </p:blipFill>
        <p:spPr>
          <a:xfrm xmlns:a="http://schemas.openxmlformats.org/drawingml/2006/main">
            <a:off x="5382986" y="3038475"/>
            <a:ext cx="6188529" cy="36099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3801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Где сеть теряет эффективность">
            <a:extLst xmlns:a="http://schemas.openxmlformats.org/drawingml/2006/main">
              <a:ext uri="{FF2B5EF4-FFF2-40B4-BE49-F238E27FC236}">
                <a16:creationId xmlns:a16="http://schemas.microsoft.com/office/drawing/2014/main" id="{73EB08CF-6717-41FC-B148-B64FD0FB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33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Где сеть теряет эффективность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5BE60949-135D-4F58-BD3E-FB565271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02</a:t>
            </a:r>
          </a:p>
        </p:txBody>
      </p:sp>
      <p:sp>
        <p:nvSpPr>
          <p:cNvPr id="3" name="Размещение определяет доступност">
            <a:extLst xmlns:a="http://schemas.openxmlformats.org/drawingml/2006/main">
              <a:ext uri="{FF2B5EF4-FFF2-40B4-BE49-F238E27FC236}">
                <a16:creationId xmlns:a16="http://schemas.microsoft.com/office/drawing/2014/main" id="{141E8138-3D70-40B3-8705-793BA699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10572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475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Размещение определяет доступность зарядки,</a:t>
            </a:r>
          </a:p>
          <a:p xmlns:a="http://schemas.openxmlformats.org/drawingml/2006/main">
            <a:pPr algn="l">
              <a:defRPr sz="2475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475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нагрузку на энергосеть и отдачу инвестиций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E7B4FC-B3E4-4F69-8874-2C28B4C31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5" name="Очереди">
            <a:extLst xmlns:a="http://schemas.openxmlformats.org/drawingml/2006/main">
              <a:ext uri="{FF2B5EF4-FFF2-40B4-BE49-F238E27FC236}">
                <a16:creationId xmlns:a16="http://schemas.microsoft.com/office/drawing/2014/main" id="{9A6A1FBD-7646-4590-8C50-382CF3BE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Очереди</a:t>
            </a:r>
          </a:p>
        </p:txBody>
      </p:sp>
      <p:sp>
        <p:nvSpPr>
          <p:cNvPr id="6" name="Востребованные точки&#10;не успевают">
            <a:extLst xmlns:a="http://schemas.openxmlformats.org/drawingml/2006/main">
              <a:ext uri="{FF2B5EF4-FFF2-40B4-BE49-F238E27FC236}">
                <a16:creationId xmlns:a16="http://schemas.microsoft.com/office/drawing/2014/main" id="{A889001D-E576-43B9-AC3E-36C0ADB8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33337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Востребованные точки</a:t>
            </a:r>
          </a:p>
          <a:p xmlns:a="http://schemas.openxmlformats.org/drawingml/2006/main">
            <a:pPr algn="l">
              <a:def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не успевают обслужить спрос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B6A720-48C0-4A10-AC95-B10053E5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623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8" name="Недогрузка">
            <a:extLst xmlns:a="http://schemas.openxmlformats.org/drawingml/2006/main">
              <a:ext uri="{FF2B5EF4-FFF2-40B4-BE49-F238E27FC236}">
                <a16:creationId xmlns:a16="http://schemas.microsoft.com/office/drawing/2014/main" id="{0ABFD52F-175E-4DB7-A548-D26825A9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099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Недогрузка</a:t>
            </a:r>
          </a:p>
        </p:txBody>
      </p:sp>
      <p:sp>
        <p:nvSpPr>
          <p:cNvPr id="9" name="Ресурс построен там,&#10;где зарядка">
            <a:extLst xmlns:a="http://schemas.openxmlformats.org/drawingml/2006/main">
              <a:ext uri="{FF2B5EF4-FFF2-40B4-BE49-F238E27FC236}">
                <a16:creationId xmlns:a16="http://schemas.microsoft.com/office/drawing/2014/main" id="{BFF15D26-47B4-410A-904C-CCF8564E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95750"/>
            <a:ext cx="33337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Ресурс построен там,</a:t>
            </a:r>
          </a:p>
          <a:p xmlns:a="http://schemas.openxmlformats.org/drawingml/2006/main">
            <a:pPr algn="l">
              <a:def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где зарядка нужна реже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B4072-522E-4FF2-BB6A-1A7BAE5A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623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11" name="Лишние затраты">
            <a:extLst xmlns:a="http://schemas.openxmlformats.org/drawingml/2006/main">
              <a:ext uri="{FF2B5EF4-FFF2-40B4-BE49-F238E27FC236}">
                <a16:creationId xmlns:a16="http://schemas.microsoft.com/office/drawing/2014/main" id="{6362CFBA-D2E9-4A10-A48A-BB0A0F9A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099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Лишние затраты</a:t>
            </a:r>
          </a:p>
        </p:txBody>
      </p:sp>
      <p:sp>
        <p:nvSpPr>
          <p:cNvPr id="12" name="Подключение и оборудование&#10;не со">
            <a:extLst xmlns:a="http://schemas.openxmlformats.org/drawingml/2006/main">
              <a:ext uri="{FF2B5EF4-FFF2-40B4-BE49-F238E27FC236}">
                <a16:creationId xmlns:a16="http://schemas.microsoft.com/office/drawing/2014/main" id="{1DC507E7-D7E6-4297-80E5-5713C2C3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95750"/>
            <a:ext cx="33337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Подключение и оборудование</a:t>
            </a:r>
          </a:p>
          <a:p xmlns:a="http://schemas.openxmlformats.org/drawingml/2006/main">
            <a:pPr algn="l">
              <a:def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не согласованы с потребностью</a:t>
            </a:r>
          </a:p>
        </p:txBody>
      </p:sp>
      <p:sp>
        <p:nvSpPr>
          <p:cNvPr id="13" name="Решение должно учитывать транспо">
            <a:extLst xmlns:a="http://schemas.openxmlformats.org/drawingml/2006/main">
              <a:ext uri="{FF2B5EF4-FFF2-40B4-BE49-F238E27FC236}">
                <a16:creationId xmlns:a16="http://schemas.microsoft.com/office/drawing/2014/main" id="{E97500A4-9F68-43DF-B9A8-FA7D040D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Решение должно учитывать транспорт, энергию и развитие сети вместе</a:t>
            </a:r>
          </a:p>
        </p:txBody>
      </p:sp>
    </p:spTree>
    <p:extLst>
      <p:ext uri="{BB962C8B-B14F-4D97-AF65-F5344CB8AC3E}">
        <p14:creationId xmlns:p14="http://schemas.microsoft.com/office/powerpoint/2010/main" val="278688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План размещения, энергии и вложе">
            <a:extLst xmlns:a="http://schemas.openxmlformats.org/drawingml/2006/main">
              <a:ext uri="{FF2B5EF4-FFF2-40B4-BE49-F238E27FC236}">
                <a16:creationId xmlns:a16="http://schemas.microsoft.com/office/drawing/2014/main" id="{15EC5CB5-0CBF-42AD-BB69-BDBF1FE8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33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План размещения, энергии и вложений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91CD3E8B-BE80-47D0-909A-2CAB864A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786880-052A-47F8-B40B-9CC0F3B9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Где">
            <a:extLst xmlns:a="http://schemas.openxmlformats.org/drawingml/2006/main">
              <a:ext uri="{FF2B5EF4-FFF2-40B4-BE49-F238E27FC236}">
                <a16:creationId xmlns:a16="http://schemas.microsoft.com/office/drawing/2014/main" id="{BC5F3EFB-88F5-462B-B739-F3E3E0E4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Где</a:t>
            </a:r>
          </a:p>
        </p:txBody>
      </p:sp>
      <p:sp>
        <p:nvSpPr>
          <p:cNvPr id="5" name="Площадки и дорожная&#10;доступность">
            <a:extLst xmlns:a="http://schemas.openxmlformats.org/drawingml/2006/main">
              <a:ext uri="{FF2B5EF4-FFF2-40B4-BE49-F238E27FC236}">
                <a16:creationId xmlns:a16="http://schemas.microsoft.com/office/drawing/2014/main" id="{AB84FD28-FAD8-4BC8-AA5A-39367C13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Площадки и дорожная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доступность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4136A-4E5E-430A-8ADA-99A8FA89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716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7" name="Что">
            <a:extLst xmlns:a="http://schemas.openxmlformats.org/drawingml/2006/main">
              <a:ext uri="{FF2B5EF4-FFF2-40B4-BE49-F238E27FC236}">
                <a16:creationId xmlns:a16="http://schemas.microsoft.com/office/drawing/2014/main" id="{8557A64A-6304-4729-ACB9-AFE7DB1E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8122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Что</a:t>
            </a:r>
          </a:p>
        </p:txBody>
      </p:sp>
      <p:sp>
        <p:nvSpPr>
          <p:cNvPr id="8" name="Тип и число постов&#10;из каталога о">
            <a:extLst xmlns:a="http://schemas.openxmlformats.org/drawingml/2006/main">
              <a:ext uri="{FF2B5EF4-FFF2-40B4-BE49-F238E27FC236}">
                <a16:creationId xmlns:a16="http://schemas.microsoft.com/office/drawing/2014/main" id="{1F4AC59C-CEFA-4BB4-83C5-0BED5C0B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384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Тип и число постов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из каталога оборудования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7AF17C-9BF6-4D51-9F91-F87F01AB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716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10" name="Как питать">
            <a:extLst xmlns:a="http://schemas.openxmlformats.org/drawingml/2006/main">
              <a:ext uri="{FF2B5EF4-FFF2-40B4-BE49-F238E27FC236}">
                <a16:creationId xmlns:a16="http://schemas.microsoft.com/office/drawing/2014/main" id="{BABBCF60-79C2-4CB6-A085-D62C8DAE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8122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Как питать</a:t>
            </a:r>
          </a:p>
        </p:txBody>
      </p:sp>
      <p:sp>
        <p:nvSpPr>
          <p:cNvPr id="11" name="Подключение, усиление,&#10;накопител">
            <a:extLst xmlns:a="http://schemas.openxmlformats.org/drawingml/2006/main">
              <a:ext uri="{FF2B5EF4-FFF2-40B4-BE49-F238E27FC236}">
                <a16:creationId xmlns:a16="http://schemas.microsoft.com/office/drawing/2014/main" id="{A1A4851D-8074-4C74-A148-895B6A5A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Подключение, усиление,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накопитель или генерация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F01609-0795-4A21-978A-0F8FDFA1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13" name="Когда">
            <a:extLst xmlns:a="http://schemas.openxmlformats.org/drawingml/2006/main">
              <a:ext uri="{FF2B5EF4-FFF2-40B4-BE49-F238E27FC236}">
                <a16:creationId xmlns:a16="http://schemas.microsoft.com/office/drawing/2014/main" id="{7C7DB687-BA39-4FD1-9274-CD20537F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Когда</a:t>
            </a:r>
          </a:p>
        </p:txBody>
      </p:sp>
      <p:sp>
        <p:nvSpPr>
          <p:cNvPr id="14" name="Годы ввода и&#10;распределение вложе">
            <a:extLst xmlns:a="http://schemas.openxmlformats.org/drawingml/2006/main">
              <a:ext uri="{FF2B5EF4-FFF2-40B4-BE49-F238E27FC236}">
                <a16:creationId xmlns:a16="http://schemas.microsoft.com/office/drawing/2014/main" id="{AB78B1D0-9992-42DA-80BA-D1B8D68F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Годы ввода и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распределение вложений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075908-07FA-441D-B3E5-5A0D80E7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4812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16" name="Как работает">
            <a:extLst xmlns:a="http://schemas.openxmlformats.org/drawingml/2006/main">
              <a:ext uri="{FF2B5EF4-FFF2-40B4-BE49-F238E27FC236}">
                <a16:creationId xmlns:a16="http://schemas.microsoft.com/office/drawing/2014/main" id="{969E73D0-3F92-4FF0-876E-55861CA4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576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Как работает</a:t>
            </a:r>
          </a:p>
        </p:txBody>
      </p:sp>
      <p:sp>
        <p:nvSpPr>
          <p:cNvPr id="17" name="Обслуженная энергия,&#10;очереди и с">
            <a:extLst xmlns:a="http://schemas.openxmlformats.org/drawingml/2006/main">
              <a:ext uri="{FF2B5EF4-FFF2-40B4-BE49-F238E27FC236}">
                <a16:creationId xmlns:a16="http://schemas.microsoft.com/office/drawing/2014/main" id="{603E42B2-071F-419A-B818-25C1DC0F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9149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Обслуженная энергия,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очереди и соседние станции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F4F6AE-E704-4FE2-91FF-952E978C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19" name="Что стоит">
            <a:extLst xmlns:a="http://schemas.openxmlformats.org/drawingml/2006/main">
              <a:ext uri="{FF2B5EF4-FFF2-40B4-BE49-F238E27FC236}">
                <a16:creationId xmlns:a16="http://schemas.microsoft.com/office/drawing/2014/main" id="{D5D525FE-3ACF-437F-800B-EB0AE47F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576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4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Что стоит</a:t>
            </a:r>
          </a:p>
        </p:txBody>
      </p:sp>
      <p:sp>
        <p:nvSpPr>
          <p:cNvPr id="20" name="CAPEX, денежные потоки&#10;и сценарн">
            <a:extLst xmlns:a="http://schemas.openxmlformats.org/drawingml/2006/main">
              <a:ext uri="{FF2B5EF4-FFF2-40B4-BE49-F238E27FC236}">
                <a16:creationId xmlns:a16="http://schemas.microsoft.com/office/drawing/2014/main" id="{0C8EB68C-3675-41EA-A4A1-F40A68C5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9149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CAPEX, денежные потоки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и сценарная экономика</a:t>
            </a:r>
          </a:p>
        </p:txBody>
      </p:sp>
      <p:sp>
        <p:nvSpPr>
          <p:cNvPr id="21" name="Для города — доступность и серви">
            <a:extLst xmlns:a="http://schemas.openxmlformats.org/drawingml/2006/main">
              <a:ext uri="{FF2B5EF4-FFF2-40B4-BE49-F238E27FC236}">
                <a16:creationId xmlns:a16="http://schemas.microsoft.com/office/drawing/2014/main" id="{3501A246-5DE7-4FE5-B20F-E3E330EC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55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3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Для города — доступность и сервис. Для оператора — развитие и экономика.</a:t>
            </a:r>
          </a:p>
        </p:txBody>
      </p:sp>
    </p:spTree>
    <p:extLst>
      <p:ext uri="{BB962C8B-B14F-4D97-AF65-F5344CB8AC3E}">
        <p14:creationId xmlns:p14="http://schemas.microsoft.com/office/powerpoint/2010/main" val="11729548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Строить там, где нужна зарядка">
            <a:extLst xmlns:a="http://schemas.openxmlformats.org/drawingml/2006/main">
              <a:ext uri="{FF2B5EF4-FFF2-40B4-BE49-F238E27FC236}">
                <a16:creationId xmlns:a16="http://schemas.microsoft.com/office/drawing/2014/main" id="{6ED5AC53-11EE-46D5-84E0-6481BD3C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33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Строить там, где нужна зарядка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C3727D4B-47B5-429F-82E9-577A3BB6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04</a:t>
            </a:r>
          </a:p>
        </p:txBody>
      </p:sp>
      <p:sp>
        <p:nvSpPr>
          <p:cNvPr id="3" name="Поездка → расход энергии → досту">
            <a:extLst xmlns:a="http://schemas.openxmlformats.org/drawingml/2006/main">
              <a:ext uri="{FF2B5EF4-FFF2-40B4-BE49-F238E27FC236}">
                <a16:creationId xmlns:a16="http://schemas.microsoft.com/office/drawing/2014/main" id="{2B14943D-CF18-4714-9C3F-18CE4589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2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Поездка → расход энергии → доступное окно зарядки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FC7E0-438D-4F18-99CB-D9D63C57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5" name="Частные автомобили">
            <a:extLst xmlns:a="http://schemas.openxmlformats.org/drawingml/2006/main">
              <a:ext uri="{FF2B5EF4-FFF2-40B4-BE49-F238E27FC236}">
                <a16:creationId xmlns:a16="http://schemas.microsoft.com/office/drawing/2014/main" id="{6A2B1C8F-D030-459B-A671-097F3EA5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025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Частные автомобили</a:t>
            </a:r>
          </a:p>
        </p:txBody>
      </p:sp>
      <p:sp>
        <p:nvSpPr>
          <p:cNvPr id="6" name="Поездки, стоянки, домашняя заряд">
            <a:extLst xmlns:a="http://schemas.openxmlformats.org/drawingml/2006/main">
              <a:ext uri="{FF2B5EF4-FFF2-40B4-BE49-F238E27FC236}">
                <a16:creationId xmlns:a16="http://schemas.microsoft.com/office/drawing/2014/main" id="{DB876A46-22A4-44ED-AB39-FEFAE114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6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Поездки, стоянки, домашняя зарядка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59549-3337-4E88-81E4-41F7FA6A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8" name="Такси">
            <a:extLst xmlns:a="http://schemas.openxmlformats.org/drawingml/2006/main">
              <a:ext uri="{FF2B5EF4-FFF2-40B4-BE49-F238E27FC236}">
                <a16:creationId xmlns:a16="http://schemas.microsoft.com/office/drawing/2014/main" id="{AEB2E404-7255-4776-AD31-2D3C67EB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025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Такси</a:t>
            </a:r>
          </a:p>
        </p:txBody>
      </p:sp>
      <p:sp>
        <p:nvSpPr>
          <p:cNvPr id="9" name="Смены, пробег и допустимый прост">
            <a:extLst xmlns:a="http://schemas.openxmlformats.org/drawingml/2006/main">
              <a:ext uri="{FF2B5EF4-FFF2-40B4-BE49-F238E27FC236}">
                <a16:creationId xmlns:a16="http://schemas.microsoft.com/office/drawing/2014/main" id="{8B77FAA1-7601-4AF7-B56F-FC3EA0BE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6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Смены, пробег и допустимый простой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A4AFB2-B567-4979-B89A-3FF8434A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11" name="Транспортные парки">
            <a:extLst xmlns:a="http://schemas.openxmlformats.org/drawingml/2006/main">
              <a:ext uri="{FF2B5EF4-FFF2-40B4-BE49-F238E27FC236}">
                <a16:creationId xmlns:a16="http://schemas.microsoft.com/office/drawing/2014/main" id="{067F3C1D-5D50-4CB8-9A2E-2C8C3A26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025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Транспортные парки</a:t>
            </a:r>
          </a:p>
        </p:txBody>
      </p:sp>
      <p:sp>
        <p:nvSpPr>
          <p:cNvPr id="12" name="Рейсы, окна и батарея: отдельный">
            <a:extLst xmlns:a="http://schemas.openxmlformats.org/drawingml/2006/main">
              <a:ext uri="{FF2B5EF4-FFF2-40B4-BE49-F238E27FC236}">
                <a16:creationId xmlns:a16="http://schemas.microsoft.com/office/drawing/2014/main" id="{CBF6090B-AA1F-4048-BE02-24C55120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546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6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Рейсы, окна и батарея: отдельный расчёт</a:t>
            </a:r>
          </a:p>
        </p:txBody>
      </p:sp>
      <p:sp>
        <p:nvSpPr>
          <p:cNvPr id="13" name="Потребность во времени">
            <a:extLst xmlns:a="http://schemas.openxmlformats.org/drawingml/2006/main">
              <a:ext uri="{FF2B5EF4-FFF2-40B4-BE49-F238E27FC236}">
                <a16:creationId xmlns:a16="http://schemas.microsoft.com/office/drawing/2014/main" id="{3B10EEFA-789C-4957-8A20-3FC0BA38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600325"/>
            <a:ext cx="43719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1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Потребность во времени</a:t>
            </a:r>
          </a:p>
        </p:txBody>
      </p:sp>
      <p:sp>
        <p:nvSpPr>
          <p:cNvPr id="14" name="Прибытие">
            <a:extLst xmlns:a="http://schemas.openxmlformats.org/drawingml/2006/main">
              <a:ext uri="{FF2B5EF4-FFF2-40B4-BE49-F238E27FC236}">
                <a16:creationId xmlns:a16="http://schemas.microsoft.com/office/drawing/2014/main" id="{B3C43F4A-6164-4004-A5AB-FD901AE1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52775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1650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Прибытие</a:t>
            </a:r>
          </a:p>
        </p:txBody>
      </p:sp>
      <p:sp>
        <p:nvSpPr>
          <p:cNvPr id="15" name="Крайний срок">
            <a:extLst xmlns:a="http://schemas.openxmlformats.org/drawingml/2006/main">
              <a:ext uri="{FF2B5EF4-FFF2-40B4-BE49-F238E27FC236}">
                <a16:creationId xmlns:a16="http://schemas.microsoft.com/office/drawing/2014/main" id="{8DB7CD3D-796F-4CB9-A412-B7FB1900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152775"/>
            <a:ext cx="1971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1650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Крайний срок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F41F01-F3F5-4DAB-AA91-6DB6D923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590925"/>
            <a:ext cx="4343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17" name="Энергия выдаётся&#10;в допустимом ок">
            <a:extLst xmlns:a="http://schemas.openxmlformats.org/drawingml/2006/main">
              <a:ext uri="{FF2B5EF4-FFF2-40B4-BE49-F238E27FC236}">
                <a16:creationId xmlns:a16="http://schemas.microsoft.com/office/drawing/2014/main" id="{F874865E-165B-41C5-86AE-E1C0ABDA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00500"/>
            <a:ext cx="4324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325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Энергия выдаётся</a:t>
            </a:r>
          </a:p>
          <a:p xmlns:a="http://schemas.openxmlformats.org/drawingml/2006/main">
            <a:pPr algn="l">
              <a:defRPr sz="2325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325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в допустимом окне</a:t>
            </a:r>
          </a:p>
        </p:txBody>
      </p:sp>
      <p:sp>
        <p:nvSpPr>
          <p:cNvPr id="18" name="Дорога до станции&#10;Предел мощност">
            <a:extLst xmlns:a="http://schemas.openxmlformats.org/drawingml/2006/main">
              <a:ext uri="{FF2B5EF4-FFF2-40B4-BE49-F238E27FC236}">
                <a16:creationId xmlns:a16="http://schemas.microsoft.com/office/drawing/2014/main" id="{2B16E401-2F89-44D9-9EB8-56D60588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276850"/>
            <a:ext cx="43719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Дорога до станции</a:t>
            </a:r>
          </a:p>
          <a:p xmlns:a="http://schemas.openxmlformats.org/drawingml/2006/main">
            <a:pPr algn="l">
              <a:def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Предел мощности и заряд батареи</a:t>
            </a:r>
          </a:p>
        </p:txBody>
      </p:sp>
      <p:sp>
        <p:nvSpPr>
          <p:cNvPr id="19" name="Источники и допущения сохраняютс">
            <a:extLst xmlns:a="http://schemas.openxmlformats.org/drawingml/2006/main">
              <a:ext uri="{FF2B5EF4-FFF2-40B4-BE49-F238E27FC236}">
                <a16:creationId xmlns:a16="http://schemas.microsoft.com/office/drawing/2014/main" id="{CC5D1442-5F8B-471F-9F24-2366FD8B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579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3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Источники и допущения сохраняются: пользователь может заменить их своими данными</a:t>
            </a:r>
          </a:p>
        </p:txBody>
      </p:sp>
    </p:spTree>
    <p:extLst>
      <p:ext uri="{BB962C8B-B14F-4D97-AF65-F5344CB8AC3E}">
        <p14:creationId xmlns:p14="http://schemas.microsoft.com/office/powerpoint/2010/main" val="3015597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Выбирать площадку вместе с энерг">
            <a:extLst xmlns:a="http://schemas.openxmlformats.org/drawingml/2006/main">
              <a:ext uri="{FF2B5EF4-FFF2-40B4-BE49-F238E27FC236}">
                <a16:creationId xmlns:a16="http://schemas.microsoft.com/office/drawing/2014/main" id="{3B16F5D8-F5AB-40D5-A2E4-CE67E48C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33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Выбирать площадку вместе с энергоснабжением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1CD28A1D-54C2-4956-BEE5-F8670A46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1380A-5E86-4015-8D22-9D0AE8F2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876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</a:ln>
        </p:spPr>
      </p:sp>
      <p:sp>
        <p:nvSpPr>
          <p:cNvPr id="4" name="Общий ресурс">
            <a:extLst xmlns:a="http://schemas.openxmlformats.org/drawingml/2006/main">
              <a:ext uri="{FF2B5EF4-FFF2-40B4-BE49-F238E27FC236}">
                <a16:creationId xmlns:a16="http://schemas.microsoft.com/office/drawing/2014/main" id="{AA3B39F2-C755-4691-A70F-1C9C2FDF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1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Общий ресурс</a:t>
            </a:r>
          </a:p>
        </p:txBody>
      </p:sp>
      <p:sp>
        <p:nvSpPr>
          <p:cNvPr id="5" name="Доступная мощность&#10;по времени">
            <a:extLst xmlns:a="http://schemas.openxmlformats.org/drawingml/2006/main">
              <a:ext uri="{FF2B5EF4-FFF2-40B4-BE49-F238E27FC236}">
                <a16:creationId xmlns:a16="http://schemas.microsoft.com/office/drawing/2014/main" id="{CEC762BC-B31F-49D9-8F72-C935132F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00375"/>
            <a:ext cx="2457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Доступная мощность</a:t>
            </a:r>
          </a:p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по времени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591B73-1509-4ED0-AEE9-E51F882E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90750"/>
            <a:ext cx="2876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</a:ln>
        </p:spPr>
      </p:sp>
      <p:sp>
        <p:nvSpPr>
          <p:cNvPr id="7" name="Подключение">
            <a:extLst xmlns:a="http://schemas.openxmlformats.org/drawingml/2006/main">
              <a:ext uri="{FF2B5EF4-FFF2-40B4-BE49-F238E27FC236}">
                <a16:creationId xmlns:a16="http://schemas.microsoft.com/office/drawing/2014/main" id="{0B4D3499-3FE6-475F-9CB6-CA2E541E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1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Подключение</a:t>
            </a:r>
          </a:p>
        </p:txBody>
      </p:sp>
      <p:sp>
        <p:nvSpPr>
          <p:cNvPr id="8" name="Предел, стоимость&#10;и сроки усилен">
            <a:extLst xmlns:a="http://schemas.openxmlformats.org/drawingml/2006/main">
              <a:ext uri="{FF2B5EF4-FFF2-40B4-BE49-F238E27FC236}">
                <a16:creationId xmlns:a16="http://schemas.microsoft.com/office/drawing/2014/main" id="{E7E346F7-8FF0-4765-9B31-B508A22F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000375"/>
            <a:ext cx="2457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Предел, стоимость</a:t>
            </a:r>
          </a:p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и сроки усиления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154EFE-1421-4006-9178-68E26DEB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190750"/>
            <a:ext cx="2876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</a:ln>
        </p:spPr>
      </p:sp>
      <p:sp>
        <p:nvSpPr>
          <p:cNvPr id="10" name="Станция">
            <a:extLst xmlns:a="http://schemas.openxmlformats.org/drawingml/2006/main">
              <a:ext uri="{FF2B5EF4-FFF2-40B4-BE49-F238E27FC236}">
                <a16:creationId xmlns:a16="http://schemas.microsoft.com/office/drawing/2014/main" id="{0ADFCE4F-D425-4793-B261-2E2409D9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1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Станция</a:t>
            </a:r>
          </a:p>
        </p:txBody>
      </p:sp>
      <p:sp>
        <p:nvSpPr>
          <p:cNvPr id="11" name="Посты, потребление&#10;и потребность">
            <a:extLst xmlns:a="http://schemas.openxmlformats.org/drawingml/2006/main">
              <a:ext uri="{FF2B5EF4-FFF2-40B4-BE49-F238E27FC236}">
                <a16:creationId xmlns:a16="http://schemas.microsoft.com/office/drawing/2014/main" id="{AEC57476-9F1A-44B6-93EE-4B536224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0375"/>
            <a:ext cx="2457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Посты, потребление</a:t>
            </a:r>
          </a:p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и потребность в энергии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C1BF5-27A5-4312-BFEE-CDEEBDEF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933700"/>
            <a:ext cx="6477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6060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E2442-113A-41DF-ACA8-A3B1ED1B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33700"/>
            <a:ext cx="6477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606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BD06D6-0E0B-4981-B371-2BA88BF8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15" name="Усилить сеть">
            <a:extLst xmlns:a="http://schemas.openxmlformats.org/drawingml/2006/main">
              <a:ext uri="{FF2B5EF4-FFF2-40B4-BE49-F238E27FC236}">
                <a16:creationId xmlns:a16="http://schemas.microsoft.com/office/drawing/2014/main" id="{DEF203D8-1B1C-4B1E-B584-64E57348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1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Усилить сеть</a:t>
            </a:r>
          </a:p>
        </p:txBody>
      </p:sp>
      <p:sp>
        <p:nvSpPr>
          <p:cNvPr id="16" name="Учесть затраты&#10;и дату доступност">
            <a:extLst xmlns:a="http://schemas.openxmlformats.org/drawingml/2006/main">
              <a:ext uri="{FF2B5EF4-FFF2-40B4-BE49-F238E27FC236}">
                <a16:creationId xmlns:a16="http://schemas.microsoft.com/office/drawing/2014/main" id="{1BE62633-D310-4593-A1B8-7407C8C9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14925"/>
            <a:ext cx="3333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Учесть затраты</a:t>
            </a:r>
          </a:p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и дату доступности мощности</a:t>
            </a:r>
          </a:p>
        </p:txBody>
      </p:sp>
      <p:sp>
        <p:nvSpPr>
          <p:cNvPr id="17" name="Добавить накопитель">
            <a:extLst xmlns:a="http://schemas.openxmlformats.org/drawingml/2006/main">
              <a:ext uri="{FF2B5EF4-FFF2-40B4-BE49-F238E27FC236}">
                <a16:creationId xmlns:a16="http://schemas.microsoft.com/office/drawing/2014/main" id="{05DE03C0-C62A-44AF-81BF-2234859E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572000"/>
            <a:ext cx="33432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1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Добавить накопитель</a:t>
            </a:r>
          </a:p>
        </p:txBody>
      </p:sp>
      <p:sp>
        <p:nvSpPr>
          <p:cNvPr id="18" name="Перенести доступную энергию&#10;межд">
            <a:extLst xmlns:a="http://schemas.openxmlformats.org/drawingml/2006/main">
              <a:ext uri="{FF2B5EF4-FFF2-40B4-BE49-F238E27FC236}">
                <a16:creationId xmlns:a16="http://schemas.microsoft.com/office/drawing/2014/main" id="{303B7A7D-7915-4466-ACAC-D0099F1C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5114925"/>
            <a:ext cx="33432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Перенести доступную энергию</a:t>
            </a:r>
          </a:p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между интервалами</a:t>
            </a:r>
          </a:p>
        </p:txBody>
      </p:sp>
      <p:sp>
        <p:nvSpPr>
          <p:cNvPr id="19" name="Использовать генерацию">
            <a:extLst xmlns:a="http://schemas.openxmlformats.org/drawingml/2006/main">
              <a:ext uri="{FF2B5EF4-FFF2-40B4-BE49-F238E27FC236}">
                <a16:creationId xmlns:a16="http://schemas.microsoft.com/office/drawing/2014/main" id="{FF6E4BC9-0D8B-4E32-8D50-953CE83C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72000"/>
            <a:ext cx="32670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1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Использовать генерацию</a:t>
            </a:r>
          </a:p>
        </p:txBody>
      </p:sp>
      <p:sp>
        <p:nvSpPr>
          <p:cNvPr id="20" name="Учесть выработку&#10;и пригодность п">
            <a:extLst xmlns:a="http://schemas.openxmlformats.org/drawingml/2006/main">
              <a:ext uri="{FF2B5EF4-FFF2-40B4-BE49-F238E27FC236}">
                <a16:creationId xmlns:a16="http://schemas.microsoft.com/office/drawing/2014/main" id="{BFC29096-D305-4CCF-98CB-1EA2C91A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114925"/>
            <a:ext cx="32670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Учесть выработку</a:t>
            </a:r>
          </a:p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и пригодность площадки</a:t>
            </a:r>
          </a:p>
        </p:txBody>
      </p:sp>
      <p:sp>
        <p:nvSpPr>
          <p:cNvPr id="21" name="Варианты сравниваются при заданн">
            <a:extLst xmlns:a="http://schemas.openxmlformats.org/drawingml/2006/main">
              <a:ext uri="{FF2B5EF4-FFF2-40B4-BE49-F238E27FC236}">
                <a16:creationId xmlns:a16="http://schemas.microsoft.com/office/drawing/2014/main" id="{12376EDC-F4AC-47E2-AC09-FB1B493B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198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4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Варианты сравниваются при заданных мощностях, профилях, ценах и ограничениях</a:t>
            </a:r>
          </a:p>
        </p:txBody>
      </p:sp>
    </p:spTree>
    <p:extLst>
      <p:ext uri="{BB962C8B-B14F-4D97-AF65-F5344CB8AC3E}">
        <p14:creationId xmlns:p14="http://schemas.microsoft.com/office/powerpoint/2010/main" val="3966544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Оценить работу станции и соседне">
            <a:extLst xmlns:a="http://schemas.openxmlformats.org/drawingml/2006/main">
              <a:ext uri="{FF2B5EF4-FFF2-40B4-BE49-F238E27FC236}">
                <a16:creationId xmlns:a16="http://schemas.microsoft.com/office/drawing/2014/main" id="{A84501AE-C647-42CD-A821-4E5E7770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33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Оценить работу станции и соседней сети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F8FAAF6C-CCE4-417C-990D-74E4E5E5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06</a:t>
            </a:r>
          </a:p>
        </p:txBody>
      </p:sp>
      <p:sp>
        <p:nvSpPr>
          <p:cNvPr id="3" name="Отпуск энергии по площадкам, кВт">
            <a:extLst xmlns:a="http://schemas.openxmlformats.org/drawingml/2006/main">
              <a:ext uri="{FF2B5EF4-FFF2-40B4-BE49-F238E27FC236}">
                <a16:creationId xmlns:a16="http://schemas.microsoft.com/office/drawing/2014/main" id="{59B6930F-9171-4977-94BE-413C93A6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714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9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Отпуск энергии по площадкам, кВт·ч/сутки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85800" y="2152650"/>
          <a:ext xmlns:a="http://schemas.openxmlformats.org/drawingml/2006/main" cx="6772275" cy="3514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4cc9212ef9425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74F1DF-8625-4A3B-A23F-64CA365D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38350"/>
            <a:ext cx="3438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6" name="Что определяет сервис">
            <a:extLst xmlns:a="http://schemas.openxmlformats.org/drawingml/2006/main">
              <a:ext uri="{FF2B5EF4-FFF2-40B4-BE49-F238E27FC236}">
                <a16:creationId xmlns:a16="http://schemas.microsoft.com/office/drawing/2014/main" id="{5D2B424A-FE83-40B5-9AE5-8789F2D4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05050"/>
            <a:ext cx="34385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1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Что определяет сервис</a:t>
            </a:r>
          </a:p>
        </p:txBody>
      </p:sp>
      <p:sp>
        <p:nvSpPr>
          <p:cNvPr id="7" name="Время прибытия&#10;Длительность заря">
            <a:extLst xmlns:a="http://schemas.openxmlformats.org/drawingml/2006/main">
              <a:ext uri="{FF2B5EF4-FFF2-40B4-BE49-F238E27FC236}">
                <a16:creationId xmlns:a16="http://schemas.microsoft.com/office/drawing/2014/main" id="{65C30A03-1A85-4BF0-A7A7-3508C4AE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09925"/>
            <a:ext cx="34480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Время прибытия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Длительность зарядки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Очередь и отъезд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Выбор соседней станции</a:t>
            </a:r>
          </a:p>
        </p:txBody>
      </p:sp>
      <p:sp>
        <p:nvSpPr>
          <p:cNvPr id="8" name="Запад: 2 × 60 кВт&#10;в выбранном пл">
            <a:extLst xmlns:a="http://schemas.openxmlformats.org/drawingml/2006/main">
              <a:ext uri="{FF2B5EF4-FFF2-40B4-BE49-F238E27FC236}">
                <a16:creationId xmlns:a16="http://schemas.microsoft.com/office/drawing/2014/main" id="{4E9D4745-FF25-4B77-B8C4-94A43B91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229225"/>
            <a:ext cx="3448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19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Запад: 2 × 60 кВт</a:t>
            </a:r>
          </a:p>
          <a:p xmlns:a="http://schemas.openxmlformats.org/drawingml/2006/main">
            <a:pPr algn="l">
              <a:defRPr sz="19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19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в выбранном плане</a:t>
            </a:r>
          </a:p>
        </p:txBody>
      </p:sp>
      <p:sp>
        <p:nvSpPr>
          <p:cNvPr id="9" name="Базовый сценарий 2028 года · 30 ">
            <a:extLst xmlns:a="http://schemas.openxmlformats.org/drawingml/2006/main">
              <a:ext uri="{FF2B5EF4-FFF2-40B4-BE49-F238E27FC236}">
                <a16:creationId xmlns:a16="http://schemas.microsoft.com/office/drawing/2014/main" id="{A8A05EB3-AA54-4C6B-B4DB-7559084E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57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4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Базовый сценарий 2028 года · 30 общих потоков · 3 суток на прогон</a:t>
            </a:r>
          </a:p>
        </p:txBody>
      </p:sp>
    </p:spTree>
    <p:extLst>
      <p:ext uri="{BB962C8B-B14F-4D97-AF65-F5344CB8AC3E}">
        <p14:creationId xmlns:p14="http://schemas.microsoft.com/office/powerpoint/2010/main" val="613634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Видеть сроки и цену качества сер">
            <a:extLst xmlns:a="http://schemas.openxmlformats.org/drawingml/2006/main">
              <a:ext uri="{FF2B5EF4-FFF2-40B4-BE49-F238E27FC236}">
                <a16:creationId xmlns:a16="http://schemas.microsoft.com/office/drawing/2014/main" id="{A18F24E5-C644-49CD-8EFF-75EA28CB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33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Видеть сроки и цену качества сервиса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078BF03D-3997-42E8-A69F-C5934725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07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85800" y="1790700"/>
          <a:ext xmlns:a="http://schemas.openxmlformats.org/drawingml/2006/main" cx="10820400" cy="2428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5810250"/>
                <a:gridCol w="2390775"/>
              </a:tblGrid>
              <a:tr h="607219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Площадка</a:t>
                      </a:r>
                    </a:p>
                  </a:txBody>
                  <a:tcPr marL="152400" marR="133350" marT="95250" marB="76200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Решение</a:t>
                      </a:r>
                    </a:p>
                  </a:txBody>
                  <a:tcPr marL="152400" marR="133350" marT="95250" marB="76200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Ввод</a:t>
                      </a:r>
                    </a:p>
                  </a:txBody>
                  <a:tcPr marL="152400" marR="133350" marT="95250" marB="76200" anchor="ctr">
                    <a:solidFill>
                      <a:srgbClr val="151515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515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Запад</a:t>
                      </a:r>
                    </a:p>
                  </a:txBody>
                  <a:tcPr marL="152400" marR="133350" marT="95250" marB="76200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515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2 × 60 кВт</a:t>
                      </a:r>
                    </a:p>
                  </a:txBody>
                  <a:tcPr marL="152400" marR="133350" marT="95250" marB="76200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515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2027</a:t>
                      </a:r>
                    </a:p>
                  </a:txBody>
                  <a:tcPr marL="152400" marR="133350" marT="95250" marB="76200" anchor="ctr">
                    <a:solidFill>
                      <a:srgbClr val="F4F4F4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515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Центр</a:t>
                      </a:r>
                    </a:p>
                  </a:txBody>
                  <a:tcPr marL="152400" marR="1333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515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Сохранить 2 × 22 кВт</a:t>
                      </a:r>
                    </a:p>
                  </a:txBody>
                  <a:tcPr marL="152400" marR="1333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515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Существуют</a:t>
                      </a:r>
                    </a:p>
                  </a:txBody>
                  <a:tcPr marL="152400" marR="133350" marT="95250" marB="76200" anchor="ctr">
                    <a:solidFill>
                      <a:srgbClr val="FFFFFF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515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Восток</a:t>
                      </a:r>
                    </a:p>
                  </a:txBody>
                  <a:tcPr marL="152400" marR="133350" marT="95250" marB="76200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515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2 × 60 кВт</a:t>
                      </a:r>
                    </a:p>
                  </a:txBody>
                  <a:tcPr marL="152400" marR="133350" marT="95250" marB="76200"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1515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2027</a:t>
                      </a:r>
                    </a:p>
                  </a:txBody>
                  <a:tcPr marL="152400" marR="133350" marT="95250" marB="76200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5,20 млн ₽">
            <a:extLst xmlns:a="http://schemas.openxmlformats.org/drawingml/2006/main">
              <a:ext uri="{FF2B5EF4-FFF2-40B4-BE49-F238E27FC236}">
                <a16:creationId xmlns:a16="http://schemas.microsoft.com/office/drawing/2014/main" id="{91B2E299-87A2-4E08-94FD-85BD79B1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504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39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5,20 млн ₽</a:t>
            </a:r>
          </a:p>
        </p:txBody>
      </p:sp>
      <p:sp>
        <p:nvSpPr>
          <p:cNvPr id="5" name="новый CAPEX выбранного плана">
            <a:extLst xmlns:a="http://schemas.openxmlformats.org/drawingml/2006/main">
              <a:ext uri="{FF2B5EF4-FFF2-40B4-BE49-F238E27FC236}">
                <a16:creationId xmlns:a16="http://schemas.microsoft.com/office/drawing/2014/main" id="{BC8FCF11-D903-40D9-84CE-D3F55102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504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новый CAPEX выбранного плана</a:t>
            </a:r>
          </a:p>
        </p:txBody>
      </p:sp>
      <p:sp>
        <p:nvSpPr>
          <p:cNvPr id="6" name="3,70 млн ₽">
            <a:extLst xmlns:a="http://schemas.openxmlformats.org/drawingml/2006/main">
              <a:ext uri="{FF2B5EF4-FFF2-40B4-BE49-F238E27FC236}">
                <a16:creationId xmlns:a16="http://schemas.microsoft.com/office/drawing/2014/main" id="{C777D052-5B49-49EE-8A78-96C87F07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29150"/>
            <a:ext cx="4991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606060"/>
                </a:solidFill>
                <a:latin typeface="Manrope"/>
                <a:ea typeface="Manrope"/>
                <a:cs typeface="Manrope"/>
              </a:defRPr>
            </a:pPr>
            <a:r>
              <a:rPr sz="3900" b="1">
                <a:solidFill>
                  <a:srgbClr val="606060"/>
                </a:solidFill>
                <a:latin typeface="Manrope"/>
                <a:ea typeface="Manrope"/>
                <a:cs typeface="Manrope"/>
              </a:rPr>
              <a:t>3,70 млн ₽</a:t>
            </a:r>
          </a:p>
        </p:txBody>
      </p:sp>
      <p:sp>
        <p:nvSpPr>
          <p:cNvPr id="7" name="CAPEX размещения по плотности">
            <a:extLst xmlns:a="http://schemas.openxmlformats.org/drawingml/2006/main">
              <a:ext uri="{FF2B5EF4-FFF2-40B4-BE49-F238E27FC236}">
                <a16:creationId xmlns:a16="http://schemas.microsoft.com/office/drawing/2014/main" id="{DD077F26-9D94-4363-A027-307EFBB2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467350"/>
            <a:ext cx="4991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CAPEX размещения по плотности</a:t>
            </a:r>
          </a:p>
        </p:txBody>
      </p:sp>
      <p:sp>
        <p:nvSpPr>
          <p:cNvPr id="8" name="Общий предел 10 млн ₽ · годы 202">
            <a:extLst xmlns:a="http://schemas.openxmlformats.org/drawingml/2006/main">
              <a:ext uri="{FF2B5EF4-FFF2-40B4-BE49-F238E27FC236}">
                <a16:creationId xmlns:a16="http://schemas.microsoft.com/office/drawing/2014/main" id="{FE784FFF-A6DB-4326-BBE0-4580C824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47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4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Общий предел 10 млн ₽ · годы 2027–2028 · цены заданы сценарно</a:t>
            </a:r>
          </a:p>
        </p:txBody>
      </p:sp>
    </p:spTree>
    <p:extLst>
      <p:ext uri="{BB962C8B-B14F-4D97-AF65-F5344CB8AC3E}">
        <p14:creationId xmlns:p14="http://schemas.microsoft.com/office/powerpoint/2010/main" val="6428104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ервис улучшился в проверенном с">
            <a:extLst xmlns:a="http://schemas.openxmlformats.org/drawingml/2006/main">
              <a:ext uri="{FF2B5EF4-FFF2-40B4-BE49-F238E27FC236}">
                <a16:creationId xmlns:a16="http://schemas.microsoft.com/office/drawing/2014/main" id="{6692C0C8-3200-4E1F-8C7D-513AA610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33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Сервис улучшился в проверенном сценарии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98750CB9-C2A9-4F89-97FB-0033523C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08</a:t>
            </a:r>
          </a:p>
        </p:txBody>
      </p:sp>
      <p:sp>
        <p:nvSpPr>
          <p:cNvPr id="3" name="Доля обслуженной энергии">
            <a:extLst xmlns:a="http://schemas.openxmlformats.org/drawingml/2006/main">
              <a:ext uri="{FF2B5EF4-FFF2-40B4-BE49-F238E27FC236}">
                <a16:creationId xmlns:a16="http://schemas.microsoft.com/office/drawing/2014/main" id="{77B3D6B7-886C-4021-8924-1FC20638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04975"/>
            <a:ext cx="7086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20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Доля обслуженной энергии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85800" y="2219325"/>
          <a:ext xmlns:a="http://schemas.openxmlformats.org/drawingml/2006/main" cx="6791325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9d11f197e947e2"/>
          </a:graphicData>
        </a:graphic>
      </p:graphicFrame>
      <p:sp>
        <p:nvSpPr>
          <p:cNvPr id="5" name="14,77">
            <a:extLst xmlns:a="http://schemas.openxmlformats.org/drawingml/2006/main">
              <a:ext uri="{FF2B5EF4-FFF2-40B4-BE49-F238E27FC236}">
                <a16:creationId xmlns:a16="http://schemas.microsoft.com/office/drawing/2014/main" id="{A2455F11-DA99-4AC2-8D43-E12EB4BB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66925"/>
            <a:ext cx="3333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75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5775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14,77</a:t>
            </a:r>
          </a:p>
        </p:txBody>
      </p:sp>
      <p:sp>
        <p:nvSpPr>
          <p:cNvPr id="6" name="минут ожидания">
            <a:extLst xmlns:a="http://schemas.openxmlformats.org/drawingml/2006/main">
              <a:ext uri="{FF2B5EF4-FFF2-40B4-BE49-F238E27FC236}">
                <a16:creationId xmlns:a16="http://schemas.microsoft.com/office/drawing/2014/main" id="{E01E9A1B-AC90-4B9B-8834-34651105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194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минут ожидания</a:t>
            </a:r>
          </a:p>
        </p:txBody>
      </p:sp>
      <p:sp>
        <p:nvSpPr>
          <p:cNvPr id="7" name="Среднее по прогонам p95">
            <a:extLst xmlns:a="http://schemas.openxmlformats.org/drawingml/2006/main">
              <a:ext uri="{FF2B5EF4-FFF2-40B4-BE49-F238E27FC236}">
                <a16:creationId xmlns:a16="http://schemas.microsoft.com/office/drawing/2014/main" id="{5F6CF8E4-97E0-4175-8B73-7A0C2D31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7433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Среднее по прогонам p95</a:t>
            </a:r>
          </a:p>
        </p:txBody>
      </p:sp>
      <p:sp>
        <p:nvSpPr>
          <p:cNvPr id="8" name="−46,6%">
            <a:extLst xmlns:a="http://schemas.openxmlformats.org/drawingml/2006/main">
              <a:ext uri="{FF2B5EF4-FFF2-40B4-BE49-F238E27FC236}">
                <a16:creationId xmlns:a16="http://schemas.microsoft.com/office/drawing/2014/main" id="{12B4AFF6-975D-4A04-B2DF-8971DBCA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196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42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−46,6%</a:t>
            </a:r>
          </a:p>
        </p:txBody>
      </p:sp>
      <p:sp>
        <p:nvSpPr>
          <p:cNvPr id="9" name="относительно 27,64 минуты&#10;у разм">
            <a:extLst xmlns:a="http://schemas.openxmlformats.org/drawingml/2006/main">
              <a:ext uri="{FF2B5EF4-FFF2-40B4-BE49-F238E27FC236}">
                <a16:creationId xmlns:a16="http://schemas.microsoft.com/office/drawing/2014/main" id="{92CCCB20-4A74-4ADC-96FE-02BBA4B1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29225"/>
            <a:ext cx="333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относительно 27,64 минуты</a:t>
            </a:r>
          </a:p>
          <a:p xmlns:a="http://schemas.openxmlformats.org/drawingml/2006/main">
            <a:pPr algn="l">
              <a:def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у размещения по плотности</a:t>
            </a:r>
          </a:p>
        </p:txBody>
      </p:sp>
      <p:sp>
        <p:nvSpPr>
          <p:cNvPr id="10" name="+5,28 п.п. обслуживания   95%-ин">
            <a:extLst xmlns:a="http://schemas.openxmlformats.org/drawingml/2006/main">
              <a:ext uri="{FF2B5EF4-FFF2-40B4-BE49-F238E27FC236}">
                <a16:creationId xmlns:a16="http://schemas.microsoft.com/office/drawing/2014/main" id="{05F42416-B1D7-49CE-AC60-6BDD25FA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71723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+5,28 п.п. обслуживания   95%-интервал: 4,88–5,67 п.п.</a:t>
            </a:r>
          </a:p>
        </p:txBody>
      </p:sp>
      <p:sp>
        <p:nvSpPr>
          <p:cNvPr id="11" name="30 парных seed · 3 суток · спрос">
            <a:extLst xmlns:a="http://schemas.openxmlformats.org/drawingml/2006/main">
              <a:ext uri="{FF2B5EF4-FFF2-40B4-BE49-F238E27FC236}">
                <a16:creationId xmlns:a16="http://schemas.microsoft.com/office/drawing/2014/main" id="{37BDD0B4-11DF-409F-A0DD-54F16861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3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30 парных seed · 3 суток · спрос, резерв сети и цены заданы сценарно</a:t>
            </a:r>
          </a:p>
        </p:txBody>
      </p:sp>
    </p:spTree>
    <p:extLst>
      <p:ext uri="{BB962C8B-B14F-4D97-AF65-F5344CB8AC3E}">
        <p14:creationId xmlns:p14="http://schemas.microsoft.com/office/powerpoint/2010/main" val="18023197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оверить устойчивость до строит">
            <a:extLst xmlns:a="http://schemas.openxmlformats.org/drawingml/2006/main">
              <a:ext uri="{FF2B5EF4-FFF2-40B4-BE49-F238E27FC236}">
                <a16:creationId xmlns:a16="http://schemas.microsoft.com/office/drawing/2014/main" id="{CF188ED0-F174-4E0E-873C-8191BEAB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33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Проверить устойчивость до строительства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A92B5A0A-A601-432E-8283-A2D1E925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09</a:t>
            </a:r>
          </a:p>
        </p:txBody>
      </p:sp>
      <p:sp>
        <p:nvSpPr>
          <p:cNvPr id="3" name="Одинаковый отказ: восточная площ">
            <a:extLst xmlns:a="http://schemas.openxmlformats.org/drawingml/2006/main">
              <a:ext uri="{FF2B5EF4-FFF2-40B4-BE49-F238E27FC236}">
                <a16:creationId xmlns:a16="http://schemas.microsoft.com/office/drawing/2014/main" id="{57264FF2-0D31-4017-B155-D7C7344F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325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Одинаковый отказ: восточная площадка недоступна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009E0E-0C51-4A3B-854F-DBD8680C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5" name="42,40%">
            <a:extLst xmlns:a="http://schemas.openxmlformats.org/drawingml/2006/main">
              <a:ext uri="{FF2B5EF4-FFF2-40B4-BE49-F238E27FC236}">
                <a16:creationId xmlns:a16="http://schemas.microsoft.com/office/drawing/2014/main" id="{D87B3AD9-630F-47B6-8854-A8AEEC06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50292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625" b="1">
                <a:solidFill>
                  <a:srgbClr val="606060"/>
                </a:solidFill>
                <a:latin typeface="Manrope"/>
                <a:ea typeface="Manrope"/>
                <a:cs typeface="Manrope"/>
              </a:defRPr>
            </a:pPr>
            <a:r>
              <a:rPr sz="5625" b="1">
                <a:solidFill>
                  <a:srgbClr val="606060"/>
                </a:solidFill>
                <a:latin typeface="Manrope"/>
                <a:ea typeface="Manrope"/>
                <a:cs typeface="Manrope"/>
              </a:rPr>
              <a:t>42,40%</a:t>
            </a:r>
          </a:p>
        </p:txBody>
      </p:sp>
      <p:sp>
        <p:nvSpPr>
          <p:cNvPr id="6" name="Размещение по плотности">
            <a:extLst xmlns:a="http://schemas.openxmlformats.org/drawingml/2006/main">
              <a:ext uri="{FF2B5EF4-FFF2-40B4-BE49-F238E27FC236}">
                <a16:creationId xmlns:a16="http://schemas.microsoft.com/office/drawing/2014/main" id="{68B8A274-2F66-4669-8A8F-E9C02657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50292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Размещение по плотности</a:t>
            </a:r>
          </a:p>
        </p:txBody>
      </p:sp>
      <p:sp>
        <p:nvSpPr>
          <p:cNvPr id="7" name="Обслуженная доля энергии">
            <a:extLst xmlns:a="http://schemas.openxmlformats.org/drawingml/2006/main">
              <a:ext uri="{FF2B5EF4-FFF2-40B4-BE49-F238E27FC236}">
                <a16:creationId xmlns:a16="http://schemas.microsoft.com/office/drawing/2014/main" id="{34025FC7-BAA3-4C8B-9958-F67046BF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72025"/>
            <a:ext cx="50292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Обслуженная доля энергии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92060-A218-4F36-A989-08609206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771775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9" name="93,92%">
            <a:extLst xmlns:a="http://schemas.openxmlformats.org/drawingml/2006/main">
              <a:ext uri="{FF2B5EF4-FFF2-40B4-BE49-F238E27FC236}">
                <a16:creationId xmlns:a16="http://schemas.microsoft.com/office/drawing/2014/main" id="{9DDA3FCD-108A-44B2-8734-659A0100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67050"/>
            <a:ext cx="50292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625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5625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93,92%</a:t>
            </a:r>
          </a:p>
        </p:txBody>
      </p:sp>
      <p:sp>
        <p:nvSpPr>
          <p:cNvPr id="10" name="Энергоконтур">
            <a:extLst xmlns:a="http://schemas.openxmlformats.org/drawingml/2006/main">
              <a:ext uri="{FF2B5EF4-FFF2-40B4-BE49-F238E27FC236}">
                <a16:creationId xmlns:a16="http://schemas.microsoft.com/office/drawing/2014/main" id="{C70AC053-AFB4-416C-9309-EEE06951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248150"/>
            <a:ext cx="50292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Энергоконтур</a:t>
            </a:r>
          </a:p>
        </p:txBody>
      </p:sp>
      <p:sp>
        <p:nvSpPr>
          <p:cNvPr id="11" name="Обслуженная доля энергии">
            <a:extLst xmlns:a="http://schemas.openxmlformats.org/drawingml/2006/main">
              <a:ext uri="{FF2B5EF4-FFF2-40B4-BE49-F238E27FC236}">
                <a16:creationId xmlns:a16="http://schemas.microsoft.com/office/drawing/2014/main" id="{754722A5-B789-4B99-8B6F-8270B361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772025"/>
            <a:ext cx="50292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Обслуженная доля энергии</a:t>
            </a:r>
          </a:p>
        </p:txBody>
      </p:sp>
      <p:sp>
        <p:nvSpPr>
          <p:cNvPr id="12" name="Другие проверки: рост спроса и с">
            <a:extLst xmlns:a="http://schemas.openxmlformats.org/drawingml/2006/main">
              <a:ext uri="{FF2B5EF4-FFF2-40B4-BE49-F238E27FC236}">
                <a16:creationId xmlns:a16="http://schemas.microsoft.com/office/drawing/2014/main" id="{3257C068-5416-4655-8DD2-6368A3C4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441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19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Другие проверки: рост спроса и сокращение доступной мощности</a:t>
            </a:r>
          </a:p>
        </p:txBody>
      </p:sp>
      <p:sp>
        <p:nvSpPr>
          <p:cNvPr id="13" name="Результат показывает риск плана ">
            <a:extLst xmlns:a="http://schemas.openxmlformats.org/drawingml/2006/main">
              <a:ext uri="{FF2B5EF4-FFF2-40B4-BE49-F238E27FC236}">
                <a16:creationId xmlns:a16="http://schemas.microsoft.com/office/drawing/2014/main" id="{5D341FA6-B545-4171-B12D-E953E52A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35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Результат показывает риск плана при заданном сценарии, ещё до вложений</a:t>
            </a:r>
          </a:p>
        </p:txBody>
      </p:sp>
    </p:spTree>
    <p:extLst>
      <p:ext uri="{BB962C8B-B14F-4D97-AF65-F5344CB8AC3E}">
        <p14:creationId xmlns:p14="http://schemas.microsoft.com/office/powerpoint/2010/main" val="13171471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Что подтверждено результатом">
            <a:extLst xmlns:a="http://schemas.openxmlformats.org/drawingml/2006/main">
              <a:ext uri="{FF2B5EF4-FFF2-40B4-BE49-F238E27FC236}">
                <a16:creationId xmlns:a16="http://schemas.microsoft.com/office/drawing/2014/main" id="{99653F3F-FECD-495C-8C3A-9639BE15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33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Что подтверждено результатом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456E0B9C-06C9-43E9-8DDD-2985BB81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10</a:t>
            </a:r>
          </a:p>
        </p:txBody>
      </p:sp>
      <p:sp>
        <p:nvSpPr>
          <p:cNvPr id="3" name="План сети рассчитывается и прове">
            <a:extLst xmlns:a="http://schemas.openxmlformats.org/drawingml/2006/main">
              <a:ext uri="{FF2B5EF4-FFF2-40B4-BE49-F238E27FC236}">
                <a16:creationId xmlns:a16="http://schemas.microsoft.com/office/drawing/2014/main" id="{56E07C6A-C017-42BD-ADC3-4C159889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572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5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План сети рассчитывается и проверяется</a:t>
            </a:r>
          </a:p>
          <a:p xmlns:a="http://schemas.openxmlformats.org/drawingml/2006/main">
            <a:pPr algn="l">
              <a:defRPr sz="25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255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в действующем веб-приложении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260E8-7211-4F2A-9749-6B7AC38A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5" name="Решение">
            <a:extLst xmlns:a="http://schemas.openxmlformats.org/drawingml/2006/main">
              <a:ext uri="{FF2B5EF4-FFF2-40B4-BE49-F238E27FC236}">
                <a16:creationId xmlns:a16="http://schemas.microsoft.com/office/drawing/2014/main" id="{0DDA6117-6DBC-4892-98C1-F476F1F9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22764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195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Решение</a:t>
            </a:r>
          </a:p>
        </p:txBody>
      </p:sp>
      <p:sp>
        <p:nvSpPr>
          <p:cNvPr id="6" name="Площадки, оборудование, энергия ">
            <a:extLst xmlns:a="http://schemas.openxmlformats.org/drawingml/2006/main">
              <a:ext uri="{FF2B5EF4-FFF2-40B4-BE49-F238E27FC236}">
                <a16:creationId xmlns:a16="http://schemas.microsoft.com/office/drawing/2014/main" id="{54D450E1-D340-4233-B699-5DF0552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390900"/>
            <a:ext cx="823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Площадки, оборудование, энергия и вложения согласованы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8123DC-73F0-4B27-9590-4A7E7F62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8" name="Продукт">
            <a:extLst xmlns:a="http://schemas.openxmlformats.org/drawingml/2006/main">
              <a:ext uri="{FF2B5EF4-FFF2-40B4-BE49-F238E27FC236}">
                <a16:creationId xmlns:a16="http://schemas.microsoft.com/office/drawing/2014/main" id="{674DE285-4154-49A2-9215-C342AE5F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22764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195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Продукт</a:t>
            </a:r>
          </a:p>
        </p:txBody>
      </p:sp>
      <p:sp>
        <p:nvSpPr>
          <p:cNvPr id="9" name="Пользовательские данные → расчёт">
            <a:extLst xmlns:a="http://schemas.openxmlformats.org/drawingml/2006/main">
              <a:ext uri="{FF2B5EF4-FFF2-40B4-BE49-F238E27FC236}">
                <a16:creationId xmlns:a16="http://schemas.microsoft.com/office/drawing/2014/main" id="{E4DF5FE0-EC09-4014-A6B5-C0D8E6ED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143375"/>
            <a:ext cx="823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Пользовательские данные → расчёт → сохранённый план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23480C-18EA-4770-B7AB-6D21B12D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11" name="Доказательство">
            <a:extLst xmlns:a="http://schemas.openxmlformats.org/drawingml/2006/main">
              <a:ext uri="{FF2B5EF4-FFF2-40B4-BE49-F238E27FC236}">
                <a16:creationId xmlns:a16="http://schemas.microsoft.com/office/drawing/2014/main" id="{CA3C631C-B5AA-40E2-B16D-C14784D9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22764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195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Доказательство</a:t>
            </a:r>
          </a:p>
        </p:txBody>
      </p:sp>
      <p:sp>
        <p:nvSpPr>
          <p:cNvPr id="12" name="Сравнение сервиса, затрат и отка">
            <a:extLst xmlns:a="http://schemas.openxmlformats.org/drawingml/2006/main">
              <a:ext uri="{FF2B5EF4-FFF2-40B4-BE49-F238E27FC236}">
                <a16:creationId xmlns:a16="http://schemas.microsoft.com/office/drawing/2014/main" id="{DAC14AA4-3732-4BA1-9A73-630C15DF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895850"/>
            <a:ext cx="823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Сравнение сервиса, затрат и отказа на одинаковых входах</a:t>
            </a:r>
          </a:p>
        </p:txBody>
      </p:sp>
      <p:sp>
        <p:nvSpPr>
          <p:cNvPr id="13" name="Городской эффект проверяется с о">
            <a:extLst xmlns:a="http://schemas.openxmlformats.org/drawingml/2006/main">
              <a:ext uri="{FF2B5EF4-FFF2-40B4-BE49-F238E27FC236}">
                <a16:creationId xmlns:a16="http://schemas.microsoft.com/office/drawing/2014/main" id="{744C51D9-AD3C-4BE4-A73D-5F12E2CE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Городской эффект проверяется с оператором и сетевой организацией</a:t>
            </a:r>
          </a:p>
          <a:p xmlns:a="http://schemas.openxmlformats.org/drawingml/2006/main">
            <a:pPr algn="l">
              <a:defRPr sz="180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1">
                <a:solidFill>
                  <a:srgbClr val="151515"/>
                </a:solidFill>
                <a:latin typeface="IBM Plex Sans"/>
                <a:ea typeface="IBM Plex Sans"/>
                <a:cs typeface="IBM Plex Sans"/>
              </a:rPr>
              <a:t>на подтверждённых спросе, подключениях и ценах</a:t>
            </a:r>
          </a:p>
        </p:txBody>
      </p:sp>
    </p:spTree>
    <p:extLst>
      <p:ext uri="{BB962C8B-B14F-4D97-AF65-F5344CB8AC3E}">
        <p14:creationId xmlns:p14="http://schemas.microsoft.com/office/powerpoint/2010/main" val="12402262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Как рассчитывается план">
            <a:extLst xmlns:a="http://schemas.openxmlformats.org/drawingml/2006/main">
              <a:ext uri="{FF2B5EF4-FFF2-40B4-BE49-F238E27FC236}">
                <a16:creationId xmlns:a16="http://schemas.microsoft.com/office/drawing/2014/main" id="{C784D772-FEE6-48C0-B584-00C3C2CB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33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Как рассчитывается план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F6E3BFB5-6AE5-41FB-9EC4-49C4630C2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11</a:t>
            </a:r>
          </a:p>
        </p:txBody>
      </p:sp>
      <p:sp>
        <p:nvSpPr>
          <p:cNvPr id="3" name="Go API и worker">
            <a:extLst xmlns:a="http://schemas.openxmlformats.org/drawingml/2006/main">
              <a:ext uri="{FF2B5EF4-FFF2-40B4-BE49-F238E27FC236}">
                <a16:creationId xmlns:a16="http://schemas.microsoft.com/office/drawing/2014/main" id="{8CDF4E22-3253-44BE-9CB4-97F1B5B0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724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Go API и worker</a:t>
            </a:r>
          </a:p>
        </p:txBody>
      </p:sp>
      <p:sp>
        <p:nvSpPr>
          <p:cNvPr id="4" name="Запрос и снимок входа&#10;Долговечна">
            <a:extLst xmlns:a="http://schemas.openxmlformats.org/drawingml/2006/main">
              <a:ext uri="{FF2B5EF4-FFF2-40B4-BE49-F238E27FC236}">
                <a16:creationId xmlns:a16="http://schemas.microsoft.com/office/drawing/2014/main" id="{C7F5D27E-6A31-4625-8EA9-FADF3EBE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271462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Запрос и снимок входа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Долговечная задача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Версии и артефакты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7E9D36-9FF2-4FA6-BA3D-95F0E9B5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1866900"/>
            <a:ext cx="33909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6" name="Pyomo + HiGHS">
            <a:extLst xmlns:a="http://schemas.openxmlformats.org/drawingml/2006/main">
              <a:ext uri="{FF2B5EF4-FFF2-40B4-BE49-F238E27FC236}">
                <a16:creationId xmlns:a16="http://schemas.microsoft.com/office/drawing/2014/main" id="{F6EF4D56-9C72-477E-9DDE-608EBF7B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095500"/>
            <a:ext cx="2876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22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Pyomo + HiGHS</a:t>
            </a:r>
          </a:p>
        </p:txBody>
      </p:sp>
      <p:sp>
        <p:nvSpPr>
          <p:cNvPr id="7" name="Совместный выбор&#10;инфраструктуры,">
            <a:extLst xmlns:a="http://schemas.openxmlformats.org/drawingml/2006/main">
              <a:ext uri="{FF2B5EF4-FFF2-40B4-BE49-F238E27FC236}">
                <a16:creationId xmlns:a16="http://schemas.microsoft.com/office/drawing/2014/main" id="{48A65563-A594-4AF0-B28C-1B37FFC2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67000"/>
            <a:ext cx="28670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Совместный выбор</a:t>
            </a:r>
          </a:p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инфраструктуры, энергии</a:t>
            </a:r>
          </a:p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и инвестиций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A70EF-E229-4104-84C6-24B92B21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4438650"/>
            <a:ext cx="33909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</a:ln>
        </p:spPr>
      </p:sp>
      <p:sp>
        <p:nvSpPr>
          <p:cNvPr id="9" name="SimPy">
            <a:extLst xmlns:a="http://schemas.openxmlformats.org/drawingml/2006/main">
              <a:ext uri="{FF2B5EF4-FFF2-40B4-BE49-F238E27FC236}">
                <a16:creationId xmlns:a16="http://schemas.microsoft.com/office/drawing/2014/main" id="{91EEC243-FC24-40BC-9B93-8642C74C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3867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SimPy</a:t>
            </a:r>
          </a:p>
        </p:txBody>
      </p:sp>
      <p:sp>
        <p:nvSpPr>
          <p:cNvPr id="10" name="Независимая эксплуатация">
            <a:extLst xmlns:a="http://schemas.openxmlformats.org/drawingml/2006/main">
              <a:ext uri="{FF2B5EF4-FFF2-40B4-BE49-F238E27FC236}">
                <a16:creationId xmlns:a16="http://schemas.microsoft.com/office/drawing/2014/main" id="{DAA94135-5E0D-425D-AE25-064B7A16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124450"/>
            <a:ext cx="28860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7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Независимая эксплуатация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252A2E-8423-4534-A29D-AEA8996E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95600"/>
            <a:ext cx="5143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606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C32091-5A67-4111-B635-FB79DB01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857625"/>
            <a:ext cx="190500" cy="4476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06060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320B1-500C-457F-B915-C4C759BD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962525"/>
            <a:ext cx="5143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606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E5D049-A73D-4C27-AFF6-61C2879D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895600"/>
            <a:ext cx="5524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606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C8DCF9-A846-4F0E-8E1F-7AA0406F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4962525"/>
            <a:ext cx="5524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6060"/>
          </a:solidFill>
          <a:ln xmlns:a="http://schemas.openxmlformats.org/drawingml/2006/main" w="0">
            <a:noFill/>
          </a:ln>
        </p:spPr>
      </p:sp>
      <p:sp>
        <p:nvSpPr>
          <p:cNvPr id="16" name="Инвестиционный план">
            <a:extLst xmlns:a="http://schemas.openxmlformats.org/drawingml/2006/main">
              <a:ext uri="{FF2B5EF4-FFF2-40B4-BE49-F238E27FC236}">
                <a16:creationId xmlns:a16="http://schemas.microsoft.com/office/drawing/2014/main" id="{0F502486-779D-4A2F-8CB5-3AC63194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076450"/>
            <a:ext cx="2905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100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Инвестиционный план</a:t>
            </a:r>
          </a:p>
        </p:txBody>
      </p:sp>
      <p:sp>
        <p:nvSpPr>
          <p:cNvPr id="17" name="Площадки и оборудование&#10;Сроки и ">
            <a:extLst xmlns:a="http://schemas.openxmlformats.org/drawingml/2006/main">
              <a:ext uri="{FF2B5EF4-FFF2-40B4-BE49-F238E27FC236}">
                <a16:creationId xmlns:a16="http://schemas.microsoft.com/office/drawing/2014/main" id="{C1E70876-D111-417C-8825-356B0C1A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876550"/>
            <a:ext cx="2905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Площадки и оборудование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Сроки и затраты</a:t>
            </a:r>
          </a:p>
          <a:p xmlns:a="http://schemas.openxmlformats.org/drawingml/2006/main">
            <a:pPr algn="l">
              <a:def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Энергоснабжение</a:t>
            </a:r>
          </a:p>
        </p:txBody>
      </p:sp>
      <p:sp>
        <p:nvSpPr>
          <p:cNvPr id="18" name="Проверка результата">
            <a:extLst xmlns:a="http://schemas.openxmlformats.org/drawingml/2006/main">
              <a:ext uri="{FF2B5EF4-FFF2-40B4-BE49-F238E27FC236}">
                <a16:creationId xmlns:a16="http://schemas.microsoft.com/office/drawing/2014/main" id="{50AAC9FE-4442-4A96-A786-8D77D5B0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505325"/>
            <a:ext cx="2905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1515"/>
                </a:solidFill>
                <a:latin typeface="Manrope"/>
                <a:ea typeface="Manrope"/>
                <a:cs typeface="Manrope"/>
              </a:defRPr>
            </a:pPr>
            <a:r>
              <a:rPr sz="2025" b="1">
                <a:solidFill>
                  <a:srgbClr val="151515"/>
                </a:solidFill>
                <a:latin typeface="Manrope"/>
                <a:ea typeface="Manrope"/>
                <a:cs typeface="Manrope"/>
              </a:rPr>
              <a:t>Проверка результата</a:t>
            </a:r>
          </a:p>
        </p:txBody>
      </p:sp>
      <p:sp>
        <p:nvSpPr>
          <p:cNvPr id="19" name="Энергия, сервис и риски">
            <a:extLst xmlns:a="http://schemas.openxmlformats.org/drawingml/2006/main">
              <a:ext uri="{FF2B5EF4-FFF2-40B4-BE49-F238E27FC236}">
                <a16:creationId xmlns:a16="http://schemas.microsoft.com/office/drawing/2014/main" id="{97884585-87F0-448A-833E-04C0A883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5305425"/>
            <a:ext cx="2914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Энергия, сервис и риски</a:t>
            </a:r>
          </a:p>
        </p:txBody>
      </p:sp>
      <p:sp>
        <p:nvSpPr>
          <p:cNvPr id="20" name="Инвестиции общие для сценариев; ">
            <a:extLst xmlns:a="http://schemas.openxmlformats.org/drawingml/2006/main">
              <a:ext uri="{FF2B5EF4-FFF2-40B4-BE49-F238E27FC236}">
                <a16:creationId xmlns:a16="http://schemas.microsoft.com/office/drawing/2014/main" id="{4C3D0065-E51A-4023-BC8F-15AEEB77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62675"/>
            <a:ext cx="10477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defRPr>
            </a:pPr>
            <a:r>
              <a:rPr sz="1425" b="0">
                <a:solidFill>
                  <a:srgbClr val="606060"/>
                </a:solidFill>
                <a:latin typeface="IBM Plex Sans"/>
                <a:ea typeface="IBM Plex Sans"/>
                <a:cs typeface="IBM Plex Sans"/>
              </a:rPr>
              <a:t>Инвестиции общие для сценариев; эксплуатация учитывает разные условия</a:t>
            </a:r>
          </a:p>
        </p:txBody>
      </p:sp>
    </p:spTree>
    <p:extLst>
      <p:ext uri="{BB962C8B-B14F-4D97-AF65-F5344CB8AC3E}">
        <p14:creationId xmlns:p14="http://schemas.microsoft.com/office/powerpoint/2010/main" val="2249815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Реализация и проверяемость">
            <a:extLst xmlns:a="http://schemas.openxmlformats.org/drawingml/2006/main">
              <a:ext uri="{FF2B5EF4-FFF2-40B4-BE49-F238E27FC236}">
                <a16:creationId xmlns:a16="http://schemas.microsoft.com/office/drawing/2014/main" id="{AD84DF29-DADB-4647-8F5A-7B8BEE17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330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Реализация и проверяемость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29D88C63-C676-49AD-A674-B9D1D601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A6A6A6"/>
                </a:solidFill>
                <a:latin typeface="IBM Plex Sans"/>
                <a:ea typeface="IBM Plex Sans"/>
                <a:cs typeface="IBM Plex Sans"/>
              </a:defRPr>
            </a:pPr>
            <a:r>
              <a:rPr sz="1200" b="0">
                <a:solidFill>
                  <a:srgbClr val="A6A6A6"/>
                </a:solidFill>
                <a:latin typeface="IBM Plex Sans"/>
                <a:ea typeface="IBM Plex Sans"/>
                <a:cs typeface="IBM Plex Sans"/>
              </a:rPr>
              <a:t>12</a:t>
            </a:r>
          </a:p>
        </p:txBody>
      </p:sp>
      <p:sp>
        <p:nvSpPr>
          <p:cNvPr id="3" name="Go · PostgreSQL/PostGIS · Redis ">
            <a:extLst xmlns:a="http://schemas.openxmlformats.org/drawingml/2006/main">
              <a:ext uri="{FF2B5EF4-FFF2-40B4-BE49-F238E27FC236}">
                <a16:creationId xmlns:a16="http://schemas.microsoft.com/office/drawing/2014/main" id="{9AF0B5CE-A2E1-426F-BF09-31867F31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IBM Plex Sans"/>
                <a:ea typeface="IBM Plex Sans"/>
                <a:cs typeface="IBM Plex Sans"/>
              </a:defRPr>
            </a:pPr>
            <a:r>
              <a:rPr sz="2250" b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Go · PostgreSQL/PostGIS · Redis · Python</a:t>
            </a:r>
          </a:p>
        </p:txBody>
      </p:sp>
      <p:sp>
        <p:nvSpPr>
          <p:cNvPr id="4" name="266">
            <a:extLst xmlns:a="http://schemas.openxmlformats.org/drawingml/2006/main">
              <a:ext uri="{FF2B5EF4-FFF2-40B4-BE49-F238E27FC236}">
                <a16:creationId xmlns:a16="http://schemas.microsoft.com/office/drawing/2014/main" id="{F496FF04-7964-4681-B3DD-BBD171A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29527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52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266</a:t>
            </a:r>
          </a:p>
        </p:txBody>
      </p:sp>
      <p:sp>
        <p:nvSpPr>
          <p:cNvPr id="5" name="Python-тестов">
            <a:extLst xmlns:a="http://schemas.openxmlformats.org/drawingml/2006/main">
              <a:ext uri="{FF2B5EF4-FFF2-40B4-BE49-F238E27FC236}">
                <a16:creationId xmlns:a16="http://schemas.microsoft.com/office/drawing/2014/main" id="{CD243462-DCD5-40FD-969F-01499DE6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BCBCB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CBCBCB"/>
                </a:solidFill>
                <a:latin typeface="IBM Plex Sans"/>
                <a:ea typeface="IBM Plex Sans"/>
                <a:cs typeface="IBM Plex Sans"/>
              </a:rPr>
              <a:t>Python-тестов</a:t>
            </a:r>
          </a:p>
        </p:txBody>
      </p:sp>
      <p:sp>
        <p:nvSpPr>
          <p:cNvPr id="6" name="26">
            <a:extLst xmlns:a="http://schemas.openxmlformats.org/drawingml/2006/main">
              <a:ext uri="{FF2B5EF4-FFF2-40B4-BE49-F238E27FC236}">
                <a16:creationId xmlns:a16="http://schemas.microsoft.com/office/drawing/2014/main" id="{63A25B2B-DDA5-49CC-AB8E-AE31B822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800350"/>
            <a:ext cx="29527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52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26</a:t>
            </a:r>
          </a:p>
        </p:txBody>
      </p:sp>
      <p:sp>
        <p:nvSpPr>
          <p:cNvPr id="7" name="браузерных тестов">
            <a:extLst xmlns:a="http://schemas.openxmlformats.org/drawingml/2006/main">
              <a:ext uri="{FF2B5EF4-FFF2-40B4-BE49-F238E27FC236}">
                <a16:creationId xmlns:a16="http://schemas.microsoft.com/office/drawing/2014/main" id="{6287D527-FBD1-4263-AD22-A12A48B6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733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BCBCB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CBCBCB"/>
                </a:solidFill>
                <a:latin typeface="IBM Plex Sans"/>
                <a:ea typeface="IBM Plex Sans"/>
                <a:cs typeface="IBM Plex Sans"/>
              </a:rPr>
              <a:t>браузерных тестов</a:t>
            </a:r>
          </a:p>
        </p:txBody>
      </p:sp>
      <p:sp>
        <p:nvSpPr>
          <p:cNvPr id="8" name="Go">
            <a:extLst xmlns:a="http://schemas.openxmlformats.org/drawingml/2006/main">
              <a:ext uri="{FF2B5EF4-FFF2-40B4-BE49-F238E27FC236}">
                <a16:creationId xmlns:a16="http://schemas.microsoft.com/office/drawing/2014/main" id="{DAE58BE4-2EE2-4E6E-9414-6FE1EE98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800350"/>
            <a:ext cx="24765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52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Go</a:t>
            </a:r>
          </a:p>
        </p:txBody>
      </p:sp>
      <p:sp>
        <p:nvSpPr>
          <p:cNvPr id="9" name="race / integration">
            <a:extLst xmlns:a="http://schemas.openxmlformats.org/drawingml/2006/main">
              <a:ext uri="{FF2B5EF4-FFF2-40B4-BE49-F238E27FC236}">
                <a16:creationId xmlns:a16="http://schemas.microsoft.com/office/drawing/2014/main" id="{D4F7A726-2D1E-41DC-A1F0-E19F8233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733800"/>
            <a:ext cx="2524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BCBCB"/>
                </a:solidFill>
                <a:latin typeface="IBM Plex Sans"/>
                <a:ea typeface="IBM Plex Sans"/>
                <a:cs typeface="IBM Plex Sans"/>
              </a:defRPr>
            </a:pPr>
            <a:r>
              <a:rPr sz="1875" b="0">
                <a:solidFill>
                  <a:srgbClr val="CBCBCB"/>
                </a:solidFill>
                <a:latin typeface="IBM Plex Sans"/>
                <a:ea typeface="IBM Plex Sans"/>
                <a:cs typeface="IBM Plex Sans"/>
              </a:rPr>
              <a:t>race / integration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74B5FA-1B8F-4DC5-9ABA-CB6B0F1E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4848"/>
          </a:solidFill>
          <a:ln xmlns:a="http://schemas.openxmlformats.org/drawingml/2006/main" w="0">
            <a:noFill/>
          </a:ln>
        </p:spPr>
      </p:sp>
      <p:sp>
        <p:nvSpPr>
          <p:cNvPr id="11" name="Исходники, запуск, контракты и п">
            <a:extLst xmlns:a="http://schemas.openxmlformats.org/drawingml/2006/main">
              <a:ext uri="{FF2B5EF4-FFF2-40B4-BE49-F238E27FC236}">
                <a16:creationId xmlns:a16="http://schemas.microsoft.com/office/drawing/2014/main" id="{472F1532-80A8-4470-8B41-E281FA45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defRPr>
            </a:pPr>
            <a:r>
              <a:rPr sz="2175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Исходники, запуск, контракты и протоколы проверки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defRPr>
            </a:pPr>
            <a:r>
              <a:rPr sz="2175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сохранены в репозитории</a:t>
            </a:r>
          </a:p>
        </p:txBody>
      </p:sp>
      <p:sp>
        <p:nvSpPr>
          <p:cNvPr id="12" name="github.com/Elmar006/energy_web">
            <a:extLst xmlns:a="http://schemas.openxmlformats.org/drawingml/2006/main">
              <a:ext uri="{FF2B5EF4-FFF2-40B4-BE49-F238E27FC236}">
                <a16:creationId xmlns:a16="http://schemas.microsoft.com/office/drawing/2014/main" id="{5E4C0762-EF44-45E0-A47E-035809EE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9715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IBM Plex Sans"/>
                <a:ea typeface="IBM Plex Sans"/>
                <a:cs typeface="IBM Plex Sans"/>
              </a:defRPr>
            </a:pPr>
            <a:r>
              <a:rPr sz="2100" u="sng">
                <a:solidFill>
                  <a:srgbClr val="FFFFFF"/>
                </a:solidFill>
                <a:latin typeface="IBM Plex Sans"/>
                <a:ea typeface="IBM Plex Sans"/>
                <a:cs typeface="IBM Plex Sans"/>
                <a:hlinkClick xmlns:r="http://schemas.openxmlformats.org/officeDocument/2006/relationships" r:id="Rb3c6c9133f2b4e32"/>
              </a:rPr>
              <a:t>github.com/Elmar006/energy_web</a:t>
            </a:r>
          </a:p>
        </p:txBody>
      </p:sp>
    </p:spTree>
    <p:extLst>
      <p:ext uri="{BB962C8B-B14F-4D97-AF65-F5344CB8AC3E}">
        <p14:creationId xmlns:p14="http://schemas.microsoft.com/office/powerpoint/2010/main" val="17074586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2026-10-01T19:57:39.6670000Z</dcterms:created>
  <dcterms:modified xsi:type="dcterms:W3CDTF">2026-10-01T19:57:39.6670000Z</dcterms:modified>
</coreProperties>
</file>