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6a69086a1ee4456" /><Relationship Type="http://schemas.openxmlformats.org/officeDocument/2006/relationships/extended-properties" Target="/docProps/app.xml" Id="R82533234b44e4f40" /><Relationship Type="http://schemas.openxmlformats.org/officeDocument/2006/relationships/officeDocument" Target="/ppt/presentation.xml" Id="Ref33188318e94e0b" /></Relationships>
</file>

<file path=ppt/presentation.xml><?xml version="1.0" encoding="utf-8"?>
<p:presentation xmlns:p="http://schemas.openxmlformats.org/presentationml/2006/main">
  <p:sldMasterIdLst>
    <p:sldMasterId xmlns:r="http://schemas.openxmlformats.org/officeDocument/2006/relationships" id="2147483648" r:id="R55c87b9102444b2c"/>
  </p:sldMasterIdLst>
  <p:notesMasterIdLst>
    <p:notesMasterId xmlns:r="http://schemas.openxmlformats.org/officeDocument/2006/relationships" r:id="Rb6300f9b5fd742d4"/>
  </p:notesMasterIdLst>
  <p:sldIdLst>
    <p:sldId xmlns:r="http://schemas.openxmlformats.org/officeDocument/2006/relationships" id="256" r:id="R65ce9058e3cb4c3f"/>
    <p:sldId xmlns:r="http://schemas.openxmlformats.org/officeDocument/2006/relationships" id="257" r:id="R8545650d83a74e47"/>
    <p:sldId xmlns:r="http://schemas.openxmlformats.org/officeDocument/2006/relationships" id="258" r:id="R9dd040ffd8ff4039"/>
    <p:sldId xmlns:r="http://schemas.openxmlformats.org/officeDocument/2006/relationships" id="259" r:id="R1d184f21cd0c4a36"/>
    <p:sldId xmlns:r="http://schemas.openxmlformats.org/officeDocument/2006/relationships" id="260" r:id="Re272d57db8b347cd"/>
    <p:sldId xmlns:r="http://schemas.openxmlformats.org/officeDocument/2006/relationships" id="261" r:id="R8f5cfd5f918c4f6e"/>
    <p:sldId xmlns:r="http://schemas.openxmlformats.org/officeDocument/2006/relationships" id="262" r:id="R6e60ece6891d43b0"/>
    <p:sldId xmlns:r="http://schemas.openxmlformats.org/officeDocument/2006/relationships" id="263" r:id="Rab62d065b27b4a0b"/>
    <p:sldId xmlns:r="http://schemas.openxmlformats.org/officeDocument/2006/relationships" id="264" r:id="R02da044fab5845af"/>
    <p:sldId xmlns:r="http://schemas.openxmlformats.org/officeDocument/2006/relationships" id="265" r:id="R044658ac5ac841f8"/>
    <p:sldId xmlns:r="http://schemas.openxmlformats.org/officeDocument/2006/relationships" id="266" r:id="R52f57f2ac74945d3"/>
    <p:sldId xmlns:r="http://schemas.openxmlformats.org/officeDocument/2006/relationships" id="267" r:id="Ra578de63ba1544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6ede4a6e784ae0" /><Relationship Type="http://schemas.openxmlformats.org/officeDocument/2006/relationships/slideMaster" Target="/ppt/slideMasters/slideMaster1.xml" Id="R55c87b9102444b2c" /><Relationship Type="http://schemas.openxmlformats.org/officeDocument/2006/relationships/notesMaster" Target="/ppt/notesMasters/notesMaster1.xml" Id="Rb6300f9b5fd742d4" /><Relationship Type="http://schemas.openxmlformats.org/officeDocument/2006/relationships/presProps" Target="/ppt/presProps.xml" Id="R5e85f7d5fd7b42ff" /><Relationship Type="http://schemas.openxmlformats.org/officeDocument/2006/relationships/tableStyles" Target="/ppt/tableStyles.xml" Id="Rf604a842304e4f43" /><Relationship Type="http://schemas.openxmlformats.org/officeDocument/2006/relationships/slide" Target="/ppt/slides/slide1.xml" Id="R65ce9058e3cb4c3f" /><Relationship Type="http://schemas.openxmlformats.org/officeDocument/2006/relationships/slide" Target="/ppt/slides/slide2.xml" Id="R8545650d83a74e47" /><Relationship Type="http://schemas.openxmlformats.org/officeDocument/2006/relationships/slide" Target="/ppt/slides/slide3.xml" Id="R9dd040ffd8ff4039" /><Relationship Type="http://schemas.openxmlformats.org/officeDocument/2006/relationships/slide" Target="/ppt/slides/slide4.xml" Id="R1d184f21cd0c4a36" /><Relationship Type="http://schemas.openxmlformats.org/officeDocument/2006/relationships/slide" Target="/ppt/slides/slide5.xml" Id="Re272d57db8b347cd" /><Relationship Type="http://schemas.openxmlformats.org/officeDocument/2006/relationships/slide" Target="/ppt/slides/slide6.xml" Id="R8f5cfd5f918c4f6e" /><Relationship Type="http://schemas.openxmlformats.org/officeDocument/2006/relationships/slide" Target="/ppt/slides/slide7.xml" Id="R6e60ece6891d43b0" /><Relationship Type="http://schemas.openxmlformats.org/officeDocument/2006/relationships/slide" Target="/ppt/slides/slide8.xml" Id="Rab62d065b27b4a0b" /><Relationship Type="http://schemas.openxmlformats.org/officeDocument/2006/relationships/slide" Target="/ppt/slides/slide9.xml" Id="R02da044fab5845af" /><Relationship Type="http://schemas.openxmlformats.org/officeDocument/2006/relationships/slide" Target="/ppt/slides/slide10.xml" Id="R044658ac5ac841f8" /><Relationship Type="http://schemas.openxmlformats.org/officeDocument/2006/relationships/slide" Target="/ppt/slides/slide11.xml" Id="R52f57f2ac74945d3" /><Relationship Type="http://schemas.openxmlformats.org/officeDocument/2006/relationships/slide" Target="/ppt/slides/slide12.xml" Id="Ra578de63ba1544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cbaae2bba446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4186dbb86f4b6b" /><Relationship Type="http://schemas.openxmlformats.org/officeDocument/2006/relationships/notesMaster" Target="/ppt/notesMasters/notesMaster1.xml" Id="Rf4b46f185af649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61c76bae0c40f7" /><Relationship Type="http://schemas.openxmlformats.org/officeDocument/2006/relationships/notesMaster" Target="/ppt/notesMasters/notesMaster1.xml" Id="Rf9d8a2287f3f4b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709c5c129b4f88" /><Relationship Type="http://schemas.openxmlformats.org/officeDocument/2006/relationships/notesMaster" Target="/ppt/notesMasters/notesMaster1.xml" Id="R80dd2cc0cb7042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f3b56e07154950" /><Relationship Type="http://schemas.openxmlformats.org/officeDocument/2006/relationships/notesMaster" Target="/ppt/notesMasters/notesMaster1.xml" Id="Rf4d6861a8adc4d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08be58979d45c2" /><Relationship Type="http://schemas.openxmlformats.org/officeDocument/2006/relationships/notesMaster" Target="/ppt/notesMasters/notesMaster1.xml" Id="R72d43d75ffe34a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47b4b08d2448e1" /><Relationship Type="http://schemas.openxmlformats.org/officeDocument/2006/relationships/notesMaster" Target="/ppt/notesMasters/notesMaster1.xml" Id="Rbf4419fcdc0042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9ce26f2a9e40f4" /><Relationship Type="http://schemas.openxmlformats.org/officeDocument/2006/relationships/notesMaster" Target="/ppt/notesMasters/notesMaster1.xml" Id="R8cafb48c8bb14b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7cb2440728445a" /><Relationship Type="http://schemas.openxmlformats.org/officeDocument/2006/relationships/notesMaster" Target="/ppt/notesMasters/notesMaster1.xml" Id="R502d003b22d24f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509c45ae1f2480e" /><Relationship Type="http://schemas.openxmlformats.org/officeDocument/2006/relationships/notesMaster" Target="/ppt/notesMasters/notesMaster1.xml" Id="R95293c6d394b46d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fd863e8cca4a95" /><Relationship Type="http://schemas.openxmlformats.org/officeDocument/2006/relationships/notesMaster" Target="/ppt/notesMasters/notesMaster1.xml" Id="R387641794af042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a0d7b4345274f50" /><Relationship Type="http://schemas.openxmlformats.org/officeDocument/2006/relationships/notesMaster" Target="/ppt/notesMasters/notesMaster1.xml" Id="Rd622ba39532c4b0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623046511714c83" /><Relationship Type="http://schemas.openxmlformats.org/officeDocument/2006/relationships/notesMaster" Target="/ppt/notesMasters/notesMaster1.xml" Id="Ra7745d0e6c134b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Энергоконтур помогает выбрать, где строить зарядные станции, какое оборудование установить, как обеспечить его энергией и когда вкладывать средства. Мы объединили эти решения в одной расчётной модели и проверяем, как предложенная сеть будет работать при приезде автомобилей. Пользователь получает план строительства и понятные последствия каждого варианта. В следующих разделах раскрывается сам способ решения конкурсной проблемы.</a:t>
            </a:r>
          </a:p>
          <a:p xmlns:a="http://schemas.openxmlformats.org/drawingml/2006/main">
            <a:r>
              <a:t/>
            </a:r>
          </a:p>
          <a:p xmlns:a="http://schemas.openxmlformats.org/drawingml/2006/main">
            <a:r>
              <a:t>Источники: Конкурсная задача № 03, страницы 5–8; действующий интерфейс Энергоконтура.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Высокий автомобильный поток не равен потребности в публичной зарядке: часть машин заряжается дома, часть не может долго ждать. Большая мощность оборудования не означает такую же мощность подключения. Даже хорошая станция меняет нагрузку соседних. Поэтому выбор одной площадки нельзя оценивать отдельно от других. Наша модель сопоставляет транспортную потребность, оборудование, общий энергетический ресурс и вложения. Каждый предлагаемый вариант проходит все эти ограничения одновременно.</a:t>
            </a:r>
          </a:p>
          <a:p xmlns:a="http://schemas.openxmlformats.org/drawingml/2006/main">
            <a:r>
              <a:t/>
            </a:r>
          </a:p>
          <a:p xmlns:a="http://schemas.openxmlformats.org/drawingml/2006/main">
            <a:r>
              <a:t>Источники: Конкурсная задача № 03, страницы 5–7; реализованная модель совместного планирования.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 маршрутов мы получаем расход энергии, а из стоянок — моменты, когда автомобиль может заряжаться. Учитывается остаток батареи и необходимый запас для следующих поездок. Доступная домашняя или базовая зарядка покрывает часть потребности. Оставшаяся потребность становится публичной заявкой: место, время прибытия и отъезда, необходимая энергия и допустимая скорость зарядки. Так виден спрос и в местах, где станций пока нет. Эти данные задаёт пользователь; при отсутствии истории используются обозначенные предположения. Электробусные рейсы сейчас рассчитываются отдельным режимом.</a:t>
            </a:r>
          </a:p>
          <a:p xmlns:a="http://schemas.openxmlformats.org/drawingml/2006/main">
            <a:r>
              <a:t/>
            </a:r>
          </a:p>
          <a:p xmlns:a="http://schemas.openxmlformats.org/drawingml/2006/main">
            <a:r>
              <a:t>Источники: Модель поездок и стоянок; модель датированных зарядных заявок; отдельный расчёт транспортного парка.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Сначала дорожная доступность связывает потребность с площадками, до которых водитель может добраться. Для каждой площадки рассматриваются разрешённые комплекты оборудования. Более мощное оборудование полезно, только если автомобиль может его использовать и подключение позволяет выдать энергию. Несколько зон могут конкурировать за одну станцию; одна зона может обслуживаться несколькими станциями. Поэтому модель выбирает сочетание площадок и комплектов для всей сети с учётом существующих активов и бюджета. В разобранном далее сценарии сравниваются два оснащения новой западной площадки: два поста 22 кВт и два поста 60 кВт.</a:t>
            </a:r>
          </a:p>
          <a:p xmlns:a="http://schemas.openxmlformats.org/drawingml/2006/main">
            <a:r>
              <a:t/>
            </a:r>
          </a:p>
          <a:p xmlns:a="http://schemas.openxmlformats.org/drawingml/2006/main">
            <a:r>
              <a:t>Источники: Реализованная модель выбора площадок и комплектов; расчётный пример сравнения планов от 1 октября 2026 года.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Мощность зарядных постов, предел подключения станции и доступный ресурс общего сетевого узла проверяются одновременно. Если два объекта используют один узел, его ресурс нельзя обещать каждому целиком. При дефиците мощности модель сопоставляет допустимые решения: другое оснащение или место, усиление с известным сроком, перенос зарядки внутри доступного окна, накопитель или генерацию. Накопитель использует ранее полученную энергию с учётом потерь; генерация зависит от временного профиля. Без электрической схемы проверяются лимиты и баланс энергии, а напряжения и линии требуют отдельного инженерного расчёта.</a:t>
            </a:r>
          </a:p>
          <a:p xmlns:a="http://schemas.openxmlformats.org/drawingml/2006/main">
            <a:r>
              <a:t/>
            </a:r>
          </a:p>
          <a:p xmlns:a="http://schemas.openxmlformats.org/drawingml/2006/main">
            <a:r>
              <a:t>Источники: Модель подключений и общих узлов; энергетический баланс, накопители и генерация. Конкурсная задача № 03, страницы 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После выбора допустимых решений модель распределяет вложения по годам. Отдельно учитываются оплата оборудования и момент, когда станция или усиление действительно доступны. Уже существующие станции сохраняются в расчёте. Один график строительства проверяется при разных сценариях роста спроса. В нашем примере западная и восточная площадки получают по два поста 60 кВт в 2027 году; два центральных поста 22 кВт продолжают работать. В 2028 году обслуживание рассчитывается той же введённой инфраструктурой. На выбранный план нужны 5,20 млн рублей новых вложений в пределах общего бюджета 10 млн рублей; цены сценарные.</a:t>
            </a:r>
          </a:p>
          <a:p xmlns:a="http://schemas.openxmlformats.org/drawingml/2006/main">
            <a:r>
              <a:t/>
            </a:r>
          </a:p>
          <a:p xmlns:a="http://schemas.openxmlformats.org/drawingml/2006/main">
            <a:r>
              <a:t>Источники: Рассчитанный инвестиционный план 2027–2028; существующие активы, годовые бюджеты и сроки ввода.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План строительства ещё не описывает очередь. Поэтому мы отдельно воспроизводим приезды автомобилей. Водитель выбирает достижимую станцию, занимает свободный пост или ждёт. Во время зарядки мощность ограничена автомобилем, оборудованием, подключением и общим сетевым ресурсом; на скорость влияет заряд батареи. При отъезде фиксируется реально полученная и недополученная энергия. Работа станции не обязана повторить назначения планировщика: это отдельная модель поведения. Так обнаруживается ситуация, когда годовой мощности на бумаге достаточно, а в конкретный час автомобили не успевают зарядиться.</a:t>
            </a:r>
          </a:p>
          <a:p xmlns:a="http://schemas.openxmlformats.org/drawingml/2006/main">
            <a:r>
              <a:t/>
            </a:r>
          </a:p>
          <a:p xmlns:a="http://schemas.openxmlformats.org/drawingml/2006/main">
            <a:r>
              <a:t>Источники: Реализованная событийная модель эксплуатации и энергетическая диспетчеризация.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рассматриваемом примере состав площадок одинаков, но западная станция получает более мощный комплект. Модель эксплуатации показывает, что она выдаёт около 640 вместо 465 кВт·ч за сутки. Часть обслуживания смещается с центра и востока: это следствие общего выбора станций и ограниченных ресурсов. При занятости или отказе водитель может выбрать доступного соседа, если предоставлены дорожные связи и хватает времени. Поэтому мы оцениваем всю сеть вместе. Внешние приезды для сравниваемых планов одинаковы; различия вызваны предложенной инфраструктурой и её работой, а не более удобным потоком клиентов.</a:t>
            </a:r>
          </a:p>
          <a:p xmlns:a="http://schemas.openxmlformats.org/drawingml/2006/main">
            <a:r>
              <a:t/>
            </a:r>
          </a:p>
          <a:p xmlns:a="http://schemas.openxmlformats.org/drawingml/2006/main">
            <a:r>
              <a:t>Источники: Сравнение планов: средняя энергия по площадкам за базовый 2028 год. Расчётный пример, 1 октября 2026 года.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Система позволяет сопоставить качество обслуживания с необходимыми вложениями. В этом примере оба плана укладываются в один предельный бюджет, но фактически тратят разные суммы. Размещение по плотности выдаёт 93,29% требуемой энергии при новых вложениях 3,70 млн рублей. План Энергоконтура выдаёт 98,57% при 5,20 млн. Когда в обоих вариантах отключается восточная станция, сохраняется соответственно 42,40% и 93,92% обслуживания. Более мощный западный ресурс повышает доступность и резерв. При этом снижение издержек и рост относительной загрузки этим примером не доказаны: выбор зависит от цены нужного сервиса.</a:t>
            </a:r>
          </a:p>
          <a:p xmlns:a="http://schemas.openxmlformats.org/drawingml/2006/main">
            <a:r>
              <a:t/>
            </a:r>
          </a:p>
          <a:p xmlns:a="http://schemas.openxmlformats.org/drawingml/2006/main">
            <a:r>
              <a:t>Источники: Парное сравнение планов от 1 октября 2026 года: обслуживание, новые вложения и отказ одной и той же восточной площадки.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Результат — сохранённый план развития с выбранными площадками, оборудованием, сроками и энергетическими ресурсами. Пользователь видит работу сети и сравнивает варианты по качеству и затратам. Можно изменить площадку, бюджет, спрос или условия подключения и пересчитать последствия. Основная расчётная связка конкурсной задачи реализована в работающем приложении. Пример подтверждает улучшение обслуживания и устойчивости при более высоких вложениях. Полный эффект в реальной агломерации требует подтверждённых транспортных и сетевых данных; одновременное улучшение всех критериев пока не доказано.</a:t>
            </a:r>
          </a:p>
          <a:p xmlns:a="http://schemas.openxmlformats.org/drawingml/2006/main">
            <a:r>
              <a:t/>
            </a:r>
          </a:p>
          <a:p xmlns:a="http://schemas.openxmlformats.org/drawingml/2006/main">
            <a:r>
              <a:t>Источники: Действующий интерфейс и расчётные результаты Энергоконтура; сопоставление с конкурсной задачей № 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Технически решение разделено на выбор плана и проверку его работы. Смешанно-целочисленная оптимизация одновременно выбирает площадки, комплекты, сроки и энергетические решения при ограничениях бюджета и мощности. Отдельная событийная модель воспроизводит обслуживание транспорта. Проверка энергетического баланса и ограничений выявляет недопустимые планы. Приложение сохраняет вход и результат, чтобы расчёт можно было повторить. Наличие математически допустимого плана не гарантирует достижение желаемого качества обслуживания: оно оценивается отдельно.</a:t>
            </a:r>
          </a:p>
          <a:p xmlns:a="http://schemas.openxmlformats.org/drawingml/2006/main">
            <a:r>
              <a:t/>
            </a:r>
          </a:p>
          <a:p xmlns:a="http://schemas.openxmlformats.org/drawingml/2006/main">
            <a:r>
              <a:t>Источники: Вычислительное ядро Энергоконтура: оптимизация, эксплуатация и проверка допустимости.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Энергоконтур поставляется как веб-приложение с сервером, вычислительным ядром, базой данных и документацией запуска. Браузер показывает карту, ввод сценария и результаты; Go управляет данными и длительными задачами; Python выполняет предметные расчёты. PostgreSQL и Redis обеспечивают хранение и быстрый доступ. Контейнерное развёртывание и описанный интерфейс обмена позволяют подключать пользовательские данные и развивать интерфейс независимо от модели. Источники и инструкции собраны в репозитории проекта.</a:t>
            </a:r>
          </a:p>
          <a:p xmlns:a="http://schemas.openxmlformats.org/drawingml/2006/main">
            <a:r>
              <a:t/>
            </a:r>
          </a:p>
          <a:p xmlns:a="http://schemas.openxmlformats.org/drawingml/2006/main">
            <a:r>
              <a:t>Источники: Репозиторий Энергоконтура и документация запуска.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fcbc4a7f5443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1b2687abc14cb7" /><Relationship Type="http://schemas.openxmlformats.org/officeDocument/2006/relationships/slideLayout" Target="/ppt/slideLayouts/slideLayout1.xml" Id="Rbfbca631b7e84f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bca631b7e84f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a1201a3d2d4e47" /><Relationship Type="http://schemas.openxmlformats.org/officeDocument/2006/relationships/image" Target="/ppt/media/image.png" Id="Red0821d121c34de9" /><Relationship Type="http://schemas.openxmlformats.org/officeDocument/2006/relationships/image" Target="/ppt/media/image.jpeg" Id="R05662bb25f7d46e1" /><Relationship Type="http://schemas.openxmlformats.org/officeDocument/2006/relationships/notesSlide" Target="/ppt/notesSlides/notesSlide1.xml" Id="Rd1e443064cd045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c019a4b0a94f1f" /><Relationship Type="http://schemas.openxmlformats.org/officeDocument/2006/relationships/notesSlide" Target="/ppt/notesSlides/notesSlide2.xml" Id="R0d4cac90021749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3ce7ffa49064a09" /><Relationship Type="http://schemas.openxmlformats.org/officeDocument/2006/relationships/notesSlide" Target="/ppt/notesSlides/notesSlide3.xml" Id="Rf5f0d41c36b448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7558a6b1254f0a" /><Relationship Type="http://schemas.openxmlformats.org/officeDocument/2006/relationships/notesSlide" Target="/ppt/notesSlides/notesSlide4.xml" Id="Rd15d240c701a4c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24adac5b8f44661" /><Relationship Type="http://schemas.openxmlformats.org/officeDocument/2006/relationships/notesSlide" Target="/ppt/notesSlides/notesSlide5.xml" Id="Ra553afa0681147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684ab020074605" /><Relationship Type="http://schemas.openxmlformats.org/officeDocument/2006/relationships/notesSlide" Target="/ppt/notesSlides/notesSlide6.xml" Id="Rc4948009eb0b4b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bc08732db04e0f" /><Relationship Type="http://schemas.openxmlformats.org/officeDocument/2006/relationships/notesSlide" Target="/ppt/notesSlides/notesSlide7.xml" Id="R183f2d47f26c49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e294bd6918243f6" /><Relationship Type="http://schemas.openxmlformats.org/officeDocument/2006/relationships/chart" Target="/ppt/slides/charts/chart1.xml" Id="R5fc5233960d741fd" /><Relationship Type="http://schemas.openxmlformats.org/officeDocument/2006/relationships/notesSlide" Target="/ppt/notesSlides/notesSlide8.xml" Id="Rcbfb3e26150f40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ae96a7160114ec3" /><Relationship Type="http://schemas.openxmlformats.org/officeDocument/2006/relationships/notesSlide" Target="/ppt/notesSlides/notesSlide9.xml" Id="R22c5613b52184f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d2774bcf49f47eb" /><Relationship Type="http://schemas.openxmlformats.org/officeDocument/2006/relationships/image" Target="/ppt/media/image2.jpeg" Id="Rfa5524ad11a94a53" /><Relationship Type="http://schemas.openxmlformats.org/officeDocument/2006/relationships/notesSlide" Target="/ppt/notesSlides/notesSlide10.xml" Id="R23ee51950fb3470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a79993bc1804969" /><Relationship Type="http://schemas.openxmlformats.org/officeDocument/2006/relationships/notesSlide" Target="/ppt/notesSlides/notesSlide11.xml" Id="R49371938133a46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0e2f4b0c5c84325" /><Relationship Type="http://schemas.openxmlformats.org/officeDocument/2006/relationships/hyperlink" Target="https://github.com/Elmar006/energy_web" TargetMode="External" Id="R232f35877f5c47f1" /><Relationship Type="http://schemas.openxmlformats.org/officeDocument/2006/relationships/notesSlide" Target="/ppt/notesSlides/notesSlide12.xml" Id="R9ab90c0159ca487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По плотности спроса</c:v>
          </c:tx>
          <c:spPr>
            <a:solidFill xmlns:a="http://schemas.openxmlformats.org/drawingml/2006/main">
              <a:srgbClr val="A0A0A0"/>
            </a:solidFill>
          </c:spPr>
          <c:cat>
            <c:strRef>
              <c:f>'Chart Data'!$A$2:$A$4</c:f>
              <c:strCache>
                <c:ptCount val="3"/>
                <c:pt idx="0">
                  <c:v>Запад</c:v>
                </c:pt>
                <c:pt idx="1">
                  <c:v>Центр</c:v>
                </c:pt>
                <c:pt idx="2">
                  <c:v>Восток</c:v>
                </c:pt>
              </c:strCache>
            </c:strRef>
          </c:cat>
          <c:val>
            <c:numRef>
              <c:f>'Chart Data'!$B$2:$B$4</c:f>
              <c:numCache>
                <c:formatCode>0</c:formatCode>
                <c:ptCount val="3"/>
                <c:pt idx="0">
                  <c:v>465.3146</c:v>
                </c:pt>
                <c:pt idx="1">
                  <c:v>211.9697</c:v>
                </c:pt>
                <c:pt idx="2">
                  <c:v>837.1116</c:v>
                </c:pt>
              </c:numCache>
            </c:numRef>
          </c:val>
        </c:ser>
        <c:ser>
          <c:idx val="1"/>
          <c:order val="1"/>
          <c:tx>
            <c:v>Энергоконтур</c:v>
          </c:tx>
          <c:spPr>
            <a:solidFill xmlns:a="http://schemas.openxmlformats.org/drawingml/2006/main">
              <a:srgbClr val="151515"/>
            </a:solidFill>
          </c:spPr>
          <c:cat>
            <c:strRef>
              <c:f>'Chart Data'!$C$2:$C$4</c:f>
              <c:strCache>
                <c:ptCount val="3"/>
                <c:pt idx="0">
                  <c:v>Запад</c:v>
                </c:pt>
                <c:pt idx="1">
                  <c:v>Центр</c:v>
                </c:pt>
                <c:pt idx="2">
                  <c:v>Восток</c:v>
                </c:pt>
              </c:strCache>
            </c:strRef>
          </c:cat>
          <c:val>
            <c:numRef>
              <c:f>'Chart Data'!$D$2:$D$4</c:f>
              <c:numCache>
                <c:formatCode>0</c:formatCode>
                <c:ptCount val="3"/>
                <c:pt idx="0">
                  <c:v>639.8062</c:v>
                </c:pt>
                <c:pt idx="1">
                  <c:v>162.9153</c:v>
                </c:pt>
                <c:pt idx="2">
                  <c:v>798.013</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51515"/>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EDEDE"/>
            </a:solidFill>
          </a:ln>
        </c:spPr>
        <c:txPr>
          <a:bodyPr xmlns:a="http://schemas.openxmlformats.org/drawingml/2006/main" anchorCtr="1"/>
          <a:lstStyle xmlns:a="http://schemas.openxmlformats.org/drawingml/2006/main"/>
          <a:p xmlns:a="http://schemas.openxmlformats.org/drawingml/2006/main">
            <a:pPr>
              <a:defRPr sz="1500">
                <a:solidFill>
                  <a:srgbClr val="151515"/>
                </a:solidFill>
                <a:latin typeface="IBM Plex Sans"/>
                <a:ea typeface="IBM Plex Sans"/>
                <a:cs typeface="IBM Plex Sans"/>
              </a:defRPr>
            </a:pPr>
          </a:p>
        </c:txPr>
        <c:crossAx val="48672768"/>
      </c:catAx>
      <c:valAx>
        <c:axId val="48672768"/>
        <c:scaling>
          <c:orientation val="minMax"/>
          <c:max val="1000"/>
          <c:min val="0"/>
        </c:scaling>
        <c:delete val="0"/>
        <c:axPos val="l"/>
        <c:majorGridlines>
          <c:spPr>
            <a:ln xmlns:a="http://schemas.openxmlformats.org/drawingml/2006/main" w="9525">
              <a:solidFill>
                <a:srgbClr val="E8E8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606060"/>
                </a:solidFill>
                <a:latin typeface="IBM Plex Sans"/>
                <a:ea typeface="IBM Plex Sans"/>
                <a:cs typeface="IBM Plex Sans"/>
              </a:defRPr>
            </a:pPr>
          </a:p>
        </c:txPr>
        <c:crossAx val="48650112"/>
        <c:crossBetween val="between"/>
        <c:majorUnit val="25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1515"/>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2DE3B795-D516-416F-81F1-E23919C66FD2}"/>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6A6A6"/>
                </a:solidFill>
                <a:latin typeface="IBM Plex Sans"/>
                <a:ea typeface="IBM Plex Sans"/>
                <a:cs typeface="IBM Plex Sans"/>
              </a:defRPr>
            </a:pPr>
            <a:r>
              <a:rPr sz="1200" b="0">
                <a:solidFill>
                  <a:srgbClr val="A6A6A6"/>
                </a:solidFill>
                <a:latin typeface="IBM Plex Sans"/>
                <a:ea typeface="IBM Plex Sans"/>
                <a:cs typeface="IBM Plex Sans"/>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d0821d121c34de9"/>
          <a:stretch xmlns:a="http://schemas.openxmlformats.org/drawingml/2006/main"/>
        </p:blipFill>
        <p:spPr>
          <a:xfrm xmlns:a="http://schemas.openxmlformats.org/drawingml/2006/main">
            <a:off x="685800" y="514350"/>
            <a:ext cx="666750" cy="666750"/>
          </a:xfrm>
          <a:prstGeom xmlns:a="http://schemas.openxmlformats.org/drawingml/2006/main" prst="rect">
            <a:avLst/>
          </a:prstGeom>
        </p:spPr>
      </p:pic>
      <p:sp>
        <p:nvSpPr>
          <p:cNvPr id="3" name="Энергоконтур">
            <a:extLst xmlns:a="http://schemas.openxmlformats.org/drawingml/2006/main">
              <a:ext uri="{FF2B5EF4-FFF2-40B4-BE49-F238E27FC236}">
                <a16:creationId xmlns:a16="http://schemas.microsoft.com/office/drawing/2014/main" id="{2ED6487F-E966-4169-8478-F6E1ACB8E974}"/>
              </a:ext>
            </a:extLst>
          </p:cNvPr>
          <p:cNvSpPr>
            <a:spLocks xmlns:a="http://schemas.openxmlformats.org/drawingml/2006/main" noGrp="1"/>
          </p:cNvSpPr>
          <p:nvPr/>
        </p:nvSpPr>
        <p:spPr>
          <a:xfrm xmlns:a="http://schemas.openxmlformats.org/drawingml/2006/main">
            <a:off x="685800" y="1504950"/>
            <a:ext cx="10763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FFFFFF"/>
                </a:solidFill>
                <a:latin typeface="Manrope"/>
                <a:ea typeface="Manrope"/>
                <a:cs typeface="Manrope"/>
              </a:defRPr>
            </a:pPr>
            <a:r>
              <a:rPr sz="6450" b="1">
                <a:solidFill>
                  <a:srgbClr val="FFFFFF"/>
                </a:solidFill>
                <a:latin typeface="Manrope"/>
                <a:ea typeface="Manrope"/>
                <a:cs typeface="Manrope"/>
              </a:rPr>
              <a:t>Энергоконтур</a:t>
            </a:r>
          </a:p>
        </p:txBody>
      </p:sp>
      <p:sp>
        <p:nvSpPr>
          <p:cNvPr id="4" name="Как спланировать&#10;зарядную сеть">
            <a:extLst xmlns:a="http://schemas.openxmlformats.org/drawingml/2006/main">
              <a:ext uri="{FF2B5EF4-FFF2-40B4-BE49-F238E27FC236}">
                <a16:creationId xmlns:a16="http://schemas.microsoft.com/office/drawing/2014/main" id="{05A2124F-2D0A-4C6A-8909-7385B65F7669}"/>
              </a:ext>
            </a:extLst>
          </p:cNvPr>
          <p:cNvSpPr>
            <a:spLocks xmlns:a="http://schemas.openxmlformats.org/drawingml/2006/main" noGrp="1"/>
          </p:cNvSpPr>
          <p:nvPr/>
        </p:nvSpPr>
        <p:spPr>
          <a:xfrm xmlns:a="http://schemas.openxmlformats.org/drawingml/2006/main">
            <a:off x="723900" y="2752725"/>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FFFFFF"/>
                </a:solidFill>
                <a:latin typeface="Manrope"/>
                <a:ea typeface="Manrope"/>
                <a:cs typeface="Manrope"/>
              </a:defRPr>
            </a:pPr>
            <a:r>
              <a:rPr sz="3000" b="0">
                <a:solidFill>
                  <a:srgbClr val="FFFFFF"/>
                </a:solidFill>
                <a:latin typeface="Manrope"/>
                <a:ea typeface="Manrope"/>
                <a:cs typeface="Manrope"/>
              </a:rPr>
              <a:t>Как спланировать</a:t>
            </a:r>
          </a:p>
          <a:p xmlns:a="http://schemas.openxmlformats.org/drawingml/2006/main">
            <a:pPr algn="l">
              <a:defRPr sz="3000" b="0">
                <a:solidFill>
                  <a:srgbClr val="FFFFFF"/>
                </a:solidFill>
                <a:latin typeface="Manrope"/>
                <a:ea typeface="Manrope"/>
                <a:cs typeface="Manrope"/>
              </a:defRPr>
            </a:pPr>
            <a:r>
              <a:rPr sz="3000" b="0">
                <a:solidFill>
                  <a:srgbClr val="FFFFFF"/>
                </a:solidFill>
                <a:latin typeface="Manrope"/>
                <a:ea typeface="Manrope"/>
                <a:cs typeface="Manrope"/>
              </a:rPr>
              <a:t>зарядную сеть</a:t>
            </a:r>
          </a:p>
        </p:txBody>
      </p:sp>
      <p:sp>
        <p:nvSpPr>
          <p:cNvPr id="5" name="Размещение · энергия · инвестици">
            <a:extLst xmlns:a="http://schemas.openxmlformats.org/drawingml/2006/main">
              <a:ext uri="{FF2B5EF4-FFF2-40B4-BE49-F238E27FC236}">
                <a16:creationId xmlns:a16="http://schemas.microsoft.com/office/drawing/2014/main" id="{FBBBD836-BFF3-463A-871D-21BE4D7BD817}"/>
              </a:ext>
            </a:extLst>
          </p:cNvPr>
          <p:cNvSpPr>
            <a:spLocks xmlns:a="http://schemas.openxmlformats.org/drawingml/2006/main" noGrp="1"/>
          </p:cNvSpPr>
          <p:nvPr/>
        </p:nvSpPr>
        <p:spPr>
          <a:xfrm xmlns:a="http://schemas.openxmlformats.org/drawingml/2006/main">
            <a:off x="723900" y="4114800"/>
            <a:ext cx="4619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CBCBCB"/>
                </a:solidFill>
                <a:latin typeface="IBM Plex Sans"/>
                <a:ea typeface="IBM Plex Sans"/>
                <a:cs typeface="IBM Plex Sans"/>
              </a:defRPr>
            </a:pPr>
            <a:r>
              <a:rPr sz="1875" b="0">
                <a:solidFill>
                  <a:srgbClr val="CBCBCB"/>
                </a:solidFill>
                <a:latin typeface="IBM Plex Sans"/>
                <a:ea typeface="IBM Plex Sans"/>
                <a:cs typeface="IBM Plex Sans"/>
              </a:rPr>
              <a:t>Размещение · энергия · инвестиции</a:t>
            </a:r>
          </a:p>
        </p:txBody>
      </p:sp>
      <p:sp>
        <p:nvSpPr>
          <p:cNvPr id="6" name="Задача № 03">
            <a:extLst xmlns:a="http://schemas.openxmlformats.org/drawingml/2006/main">
              <a:ext uri="{FF2B5EF4-FFF2-40B4-BE49-F238E27FC236}">
                <a16:creationId xmlns:a16="http://schemas.microsoft.com/office/drawing/2014/main" id="{251E562B-92BE-4CF9-A4A5-19ADF9762951}"/>
              </a:ext>
            </a:extLst>
          </p:cNvPr>
          <p:cNvSpPr>
            <a:spLocks xmlns:a="http://schemas.openxmlformats.org/drawingml/2006/main" noGrp="1"/>
          </p:cNvSpPr>
          <p:nvPr/>
        </p:nvSpPr>
        <p:spPr>
          <a:xfrm xmlns:a="http://schemas.openxmlformats.org/drawingml/2006/main">
            <a:off x="723900" y="4953000"/>
            <a:ext cx="347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IBM Plex Sans"/>
                <a:ea typeface="IBM Plex Sans"/>
                <a:cs typeface="IBM Plex Sans"/>
              </a:defRPr>
            </a:pPr>
            <a:r>
              <a:rPr sz="1800" b="1">
                <a:solidFill>
                  <a:srgbClr val="FFFFFF"/>
                </a:solidFill>
                <a:latin typeface="IBM Plex Sans"/>
                <a:ea typeface="IBM Plex Sans"/>
                <a:cs typeface="IBM Plex Sans"/>
              </a:rPr>
              <a:t>Задача № 03</a:t>
            </a:r>
          </a:p>
        </p:txBody>
      </p:sp>
      <p:sp>
        <p:nvSpPr>
          <p:cNvPr id="7" name="ООО «Росатом&#10;Сеть зарядных станц">
            <a:extLst xmlns:a="http://schemas.openxmlformats.org/drawingml/2006/main">
              <a:ext uri="{FF2B5EF4-FFF2-40B4-BE49-F238E27FC236}">
                <a16:creationId xmlns:a16="http://schemas.microsoft.com/office/drawing/2014/main" id="{F2DD8308-2ED7-4F0B-B482-84CD88D1B9E2}"/>
              </a:ext>
            </a:extLst>
          </p:cNvPr>
          <p:cNvSpPr>
            <a:spLocks xmlns:a="http://schemas.openxmlformats.org/drawingml/2006/main" noGrp="1"/>
          </p:cNvSpPr>
          <p:nvPr/>
        </p:nvSpPr>
        <p:spPr>
          <a:xfrm xmlns:a="http://schemas.openxmlformats.org/drawingml/2006/main">
            <a:off x="723900" y="539115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C6C6C6"/>
                </a:solidFill>
                <a:latin typeface="IBM Plex Sans"/>
                <a:ea typeface="IBM Plex Sans"/>
                <a:cs typeface="IBM Plex Sans"/>
              </a:defRPr>
            </a:pPr>
            <a:r>
              <a:rPr sz="1725" b="0">
                <a:solidFill>
                  <a:srgbClr val="C6C6C6"/>
                </a:solidFill>
                <a:latin typeface="IBM Plex Sans"/>
                <a:ea typeface="IBM Plex Sans"/>
                <a:cs typeface="IBM Plex Sans"/>
              </a:rPr>
              <a:t>ООО «Росатом</a:t>
            </a:r>
          </a:p>
          <a:p xmlns:a="http://schemas.openxmlformats.org/drawingml/2006/main">
            <a:pPr algn="l">
              <a:defRPr sz="1725" b="0">
                <a:solidFill>
                  <a:srgbClr val="C6C6C6"/>
                </a:solidFill>
                <a:latin typeface="IBM Plex Sans"/>
                <a:ea typeface="IBM Plex Sans"/>
                <a:cs typeface="IBM Plex Sans"/>
              </a:defRPr>
            </a:pPr>
            <a:r>
              <a:rPr sz="1725" b="0">
                <a:solidFill>
                  <a:srgbClr val="C6C6C6"/>
                </a:solidFill>
                <a:latin typeface="IBM Plex Sans"/>
                <a:ea typeface="IBM Plex Sans"/>
                <a:cs typeface="IBM Plex Sans"/>
              </a:rPr>
              <a:t>Сеть зарядных станций»</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5662bb25f7d46e1"/>
          <a:stretch xmlns:a="http://schemas.openxmlformats.org/drawingml/2006/main"/>
        </p:blipFill>
        <p:spPr>
          <a:xfrm xmlns:a="http://schemas.openxmlformats.org/drawingml/2006/main">
            <a:off x="5382986" y="3038475"/>
            <a:ext cx="6188529" cy="3609975"/>
          </a:xfrm>
          <a:prstGeom xmlns:a="http://schemas.openxmlformats.org/drawingml/2006/main" prst="rect">
            <a:avLst/>
          </a:prstGeom>
        </p:spPr>
      </p:pic>
    </p:spTree>
    <p:extLst>
      <p:ext uri="{BB962C8B-B14F-4D97-AF65-F5344CB8AC3E}">
        <p14:creationId xmlns:p14="http://schemas.microsoft.com/office/powerpoint/2010/main" val="2202852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Почему выбор отдельных точек не ">
            <a:extLst xmlns:a="http://schemas.openxmlformats.org/drawingml/2006/main">
              <a:ext uri="{FF2B5EF4-FFF2-40B4-BE49-F238E27FC236}">
                <a16:creationId xmlns:a16="http://schemas.microsoft.com/office/drawing/2014/main" id="{ECB66E80-49F4-426D-A732-4F9834BC03BF}"/>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anrope"/>
                <a:ea typeface="Manrope"/>
                <a:cs typeface="Manrope"/>
              </a:defRPr>
            </a:pPr>
            <a:r>
              <a:rPr sz="3300" b="1">
                <a:solidFill>
                  <a:srgbClr val="151515"/>
                </a:solidFill>
                <a:latin typeface="Manrope"/>
                <a:ea typeface="Manrope"/>
                <a:cs typeface="Manrope"/>
              </a:rPr>
              <a:t>Почему выбор отдельных точек не решает задачу</a:t>
            </a:r>
          </a:p>
        </p:txBody>
      </p:sp>
      <p:sp>
        <p:nvSpPr>
          <p:cNvPr id="2" name="02">
            <a:extLst xmlns:a="http://schemas.openxmlformats.org/drawingml/2006/main">
              <a:ext uri="{FF2B5EF4-FFF2-40B4-BE49-F238E27FC236}">
                <a16:creationId xmlns:a16="http://schemas.microsoft.com/office/drawing/2014/main" id="{E34E73F4-D015-4EFF-855A-2C55F0BD5675}"/>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IBM Plex Sans"/>
                <a:ea typeface="IBM Plex Sans"/>
                <a:cs typeface="IBM Plex Sans"/>
              </a:defRPr>
            </a:pPr>
            <a:r>
              <a:rPr sz="1200" b="0">
                <a:solidFill>
                  <a:srgbClr val="606060"/>
                </a:solidFill>
                <a:latin typeface="IBM Plex Sans"/>
                <a:ea typeface="IBM Plex Sans"/>
                <a:cs typeface="IBM Plex Sans"/>
              </a:rPr>
              <a:t>02</a:t>
            </a:r>
          </a:p>
        </p:txBody>
      </p:sp>
      <p:sp>
        <p:nvSpPr>
          <p:cNvPr id="3" name="">
            <a:extLst xmlns:a="http://schemas.openxmlformats.org/drawingml/2006/main">
              <a:ext uri="{FF2B5EF4-FFF2-40B4-BE49-F238E27FC236}">
                <a16:creationId xmlns:a16="http://schemas.microsoft.com/office/drawing/2014/main" id="{D52B276B-A7E8-4407-9DBF-E6A9DBA09E4F}"/>
              </a:ext>
            </a:extLst>
          </p:cNvPr>
          <p:cNvSpPr>
            <a:spLocks xmlns:a="http://schemas.openxmlformats.org/drawingml/2006/main" noGrp="1"/>
          </p:cNvSpPr>
          <p:nvPr/>
        </p:nvSpPr>
        <p:spPr>
          <a:xfrm xmlns:a="http://schemas.openxmlformats.org/drawingml/2006/main">
            <a:off x="685800" y="1924050"/>
            <a:ext cx="10820400"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4" name="Много машин">
            <a:extLst xmlns:a="http://schemas.openxmlformats.org/drawingml/2006/main">
              <a:ext uri="{FF2B5EF4-FFF2-40B4-BE49-F238E27FC236}">
                <a16:creationId xmlns:a16="http://schemas.microsoft.com/office/drawing/2014/main" id="{54BAFA2E-EF2F-423A-A78F-EDCC4D3017B4}"/>
              </a:ext>
            </a:extLst>
          </p:cNvPr>
          <p:cNvSpPr>
            <a:spLocks xmlns:a="http://schemas.openxmlformats.org/drawingml/2006/main" noGrp="1"/>
          </p:cNvSpPr>
          <p:nvPr/>
        </p:nvSpPr>
        <p:spPr>
          <a:xfrm xmlns:a="http://schemas.openxmlformats.org/drawingml/2006/main">
            <a:off x="685800" y="2114550"/>
            <a:ext cx="257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1515"/>
                </a:solidFill>
                <a:latin typeface="Manrope"/>
                <a:ea typeface="Manrope"/>
                <a:cs typeface="Manrope"/>
              </a:defRPr>
            </a:pPr>
            <a:r>
              <a:rPr sz="2175" b="1">
                <a:solidFill>
                  <a:srgbClr val="151515"/>
                </a:solidFill>
                <a:latin typeface="Manrope"/>
                <a:ea typeface="Manrope"/>
                <a:cs typeface="Manrope"/>
              </a:rPr>
              <a:t>Много машин</a:t>
            </a:r>
          </a:p>
        </p:txBody>
      </p:sp>
      <p:sp>
        <p:nvSpPr>
          <p:cNvPr id="5" name="Неясно, кому, когда и сколько эн">
            <a:extLst xmlns:a="http://schemas.openxmlformats.org/drawingml/2006/main">
              <a:ext uri="{FF2B5EF4-FFF2-40B4-BE49-F238E27FC236}">
                <a16:creationId xmlns:a16="http://schemas.microsoft.com/office/drawing/2014/main" id="{515573F9-B77B-41F2-840B-BD82E40DB1A6}"/>
              </a:ext>
            </a:extLst>
          </p:cNvPr>
          <p:cNvSpPr>
            <a:spLocks xmlns:a="http://schemas.openxmlformats.org/drawingml/2006/main" noGrp="1"/>
          </p:cNvSpPr>
          <p:nvPr/>
        </p:nvSpPr>
        <p:spPr>
          <a:xfrm xmlns:a="http://schemas.openxmlformats.org/drawingml/2006/main">
            <a:off x="3533775" y="210502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Неясно, кому, когда и сколько энергии нужно</a:t>
            </a:r>
          </a:p>
        </p:txBody>
      </p:sp>
      <p:sp>
        <p:nvSpPr>
          <p:cNvPr id="6" name="Рассчитываем потребность в заряд">
            <a:extLst xmlns:a="http://schemas.openxmlformats.org/drawingml/2006/main">
              <a:ext uri="{FF2B5EF4-FFF2-40B4-BE49-F238E27FC236}">
                <a16:creationId xmlns:a16="http://schemas.microsoft.com/office/drawing/2014/main" id="{F1FDC37A-AACE-4F03-A1D6-1A9922FF33CB}"/>
              </a:ext>
            </a:extLst>
          </p:cNvPr>
          <p:cNvSpPr>
            <a:spLocks xmlns:a="http://schemas.openxmlformats.org/drawingml/2006/main" noGrp="1"/>
          </p:cNvSpPr>
          <p:nvPr/>
        </p:nvSpPr>
        <p:spPr>
          <a:xfrm xmlns:a="http://schemas.openxmlformats.org/drawingml/2006/main">
            <a:off x="8258175" y="2105025"/>
            <a:ext cx="32194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IBM Plex Sans"/>
                <a:ea typeface="IBM Plex Sans"/>
                <a:cs typeface="IBM Plex Sans"/>
              </a:defRPr>
            </a:pPr>
            <a:r>
              <a:rPr sz="1875" b="1">
                <a:solidFill>
                  <a:srgbClr val="151515"/>
                </a:solidFill>
                <a:latin typeface="IBM Plex Sans"/>
                <a:ea typeface="IBM Plex Sans"/>
                <a:cs typeface="IBM Plex Sans"/>
              </a:rPr>
              <a:t>Рассчитываем потребность в зарядке</a:t>
            </a:r>
          </a:p>
        </p:txBody>
      </p:sp>
      <p:sp>
        <p:nvSpPr>
          <p:cNvPr id="7" name="">
            <a:extLst xmlns:a="http://schemas.openxmlformats.org/drawingml/2006/main">
              <a:ext uri="{FF2B5EF4-FFF2-40B4-BE49-F238E27FC236}">
                <a16:creationId xmlns:a16="http://schemas.microsoft.com/office/drawing/2014/main" id="{C689B3D3-FF13-4D41-B679-115997110243}"/>
              </a:ext>
            </a:extLst>
          </p:cNvPr>
          <p:cNvSpPr>
            <a:spLocks xmlns:a="http://schemas.openxmlformats.org/drawingml/2006/main" noGrp="1"/>
          </p:cNvSpPr>
          <p:nvPr/>
        </p:nvSpPr>
        <p:spPr>
          <a:xfrm xmlns:a="http://schemas.openxmlformats.org/drawingml/2006/main">
            <a:off x="685800" y="3124200"/>
            <a:ext cx="10820400"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8" name="Хорошая площадка">
            <a:extLst xmlns:a="http://schemas.openxmlformats.org/drawingml/2006/main">
              <a:ext uri="{FF2B5EF4-FFF2-40B4-BE49-F238E27FC236}">
                <a16:creationId xmlns:a16="http://schemas.microsoft.com/office/drawing/2014/main" id="{F8ACEDC0-2194-42F2-9CCB-0D381DF0C19F}"/>
              </a:ext>
            </a:extLst>
          </p:cNvPr>
          <p:cNvSpPr>
            <a:spLocks xmlns:a="http://schemas.openxmlformats.org/drawingml/2006/main" noGrp="1"/>
          </p:cNvSpPr>
          <p:nvPr/>
        </p:nvSpPr>
        <p:spPr>
          <a:xfrm xmlns:a="http://schemas.openxmlformats.org/drawingml/2006/main">
            <a:off x="685800" y="3314700"/>
            <a:ext cx="257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1515"/>
                </a:solidFill>
                <a:latin typeface="Manrope"/>
                <a:ea typeface="Manrope"/>
                <a:cs typeface="Manrope"/>
              </a:defRPr>
            </a:pPr>
            <a:r>
              <a:rPr sz="2175" b="1">
                <a:solidFill>
                  <a:srgbClr val="151515"/>
                </a:solidFill>
                <a:latin typeface="Manrope"/>
                <a:ea typeface="Manrope"/>
                <a:cs typeface="Manrope"/>
              </a:rPr>
              <a:t>Хорошая площадка</a:t>
            </a:r>
          </a:p>
        </p:txBody>
      </p:sp>
      <p:sp>
        <p:nvSpPr>
          <p:cNvPr id="9" name="Может не хватить подключения или">
            <a:extLst xmlns:a="http://schemas.openxmlformats.org/drawingml/2006/main">
              <a:ext uri="{FF2B5EF4-FFF2-40B4-BE49-F238E27FC236}">
                <a16:creationId xmlns:a16="http://schemas.microsoft.com/office/drawing/2014/main" id="{E24A6F8F-A77A-46BA-B331-0E2457D02190}"/>
              </a:ext>
            </a:extLst>
          </p:cNvPr>
          <p:cNvSpPr>
            <a:spLocks xmlns:a="http://schemas.openxmlformats.org/drawingml/2006/main" noGrp="1"/>
          </p:cNvSpPr>
          <p:nvPr/>
        </p:nvSpPr>
        <p:spPr>
          <a:xfrm xmlns:a="http://schemas.openxmlformats.org/drawingml/2006/main">
            <a:off x="3533775" y="330517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Может не хватить подключения или постов</a:t>
            </a:r>
          </a:p>
        </p:txBody>
      </p:sp>
      <p:sp>
        <p:nvSpPr>
          <p:cNvPr id="10" name="Подбираем оснащение вместе с эне">
            <a:extLst xmlns:a="http://schemas.openxmlformats.org/drawingml/2006/main">
              <a:ext uri="{FF2B5EF4-FFF2-40B4-BE49-F238E27FC236}">
                <a16:creationId xmlns:a16="http://schemas.microsoft.com/office/drawing/2014/main" id="{B7C317EC-4A83-4745-A224-F53B473661B9}"/>
              </a:ext>
            </a:extLst>
          </p:cNvPr>
          <p:cNvSpPr>
            <a:spLocks xmlns:a="http://schemas.openxmlformats.org/drawingml/2006/main" noGrp="1"/>
          </p:cNvSpPr>
          <p:nvPr/>
        </p:nvSpPr>
        <p:spPr>
          <a:xfrm xmlns:a="http://schemas.openxmlformats.org/drawingml/2006/main">
            <a:off x="8258175" y="3305175"/>
            <a:ext cx="32194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IBM Plex Sans"/>
                <a:ea typeface="IBM Plex Sans"/>
                <a:cs typeface="IBM Plex Sans"/>
              </a:defRPr>
            </a:pPr>
            <a:r>
              <a:rPr sz="1875" b="1">
                <a:solidFill>
                  <a:srgbClr val="151515"/>
                </a:solidFill>
                <a:latin typeface="IBM Plex Sans"/>
                <a:ea typeface="IBM Plex Sans"/>
                <a:cs typeface="IBM Plex Sans"/>
              </a:rPr>
              <a:t>Подбираем оснащение вместе с энергией</a:t>
            </a:r>
          </a:p>
        </p:txBody>
      </p:sp>
      <p:sp>
        <p:nvSpPr>
          <p:cNvPr id="11" name="">
            <a:extLst xmlns:a="http://schemas.openxmlformats.org/drawingml/2006/main">
              <a:ext uri="{FF2B5EF4-FFF2-40B4-BE49-F238E27FC236}">
                <a16:creationId xmlns:a16="http://schemas.microsoft.com/office/drawing/2014/main" id="{51B15FA0-2612-4922-A3EE-29EA7143E89C}"/>
              </a:ext>
            </a:extLst>
          </p:cNvPr>
          <p:cNvSpPr>
            <a:spLocks xmlns:a="http://schemas.openxmlformats.org/drawingml/2006/main" noGrp="1"/>
          </p:cNvSpPr>
          <p:nvPr/>
        </p:nvSpPr>
        <p:spPr>
          <a:xfrm xmlns:a="http://schemas.openxmlformats.org/drawingml/2006/main">
            <a:off x="685800" y="4324350"/>
            <a:ext cx="10820400"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12" name="Новая станция">
            <a:extLst xmlns:a="http://schemas.openxmlformats.org/drawingml/2006/main">
              <a:ext uri="{FF2B5EF4-FFF2-40B4-BE49-F238E27FC236}">
                <a16:creationId xmlns:a16="http://schemas.microsoft.com/office/drawing/2014/main" id="{3F1EAD55-1C54-405C-91E9-57E468287DAF}"/>
              </a:ext>
            </a:extLst>
          </p:cNvPr>
          <p:cNvSpPr>
            <a:spLocks xmlns:a="http://schemas.openxmlformats.org/drawingml/2006/main" noGrp="1"/>
          </p:cNvSpPr>
          <p:nvPr/>
        </p:nvSpPr>
        <p:spPr>
          <a:xfrm xmlns:a="http://schemas.openxmlformats.org/drawingml/2006/main">
            <a:off x="685800" y="4514850"/>
            <a:ext cx="257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1515"/>
                </a:solidFill>
                <a:latin typeface="Manrope"/>
                <a:ea typeface="Manrope"/>
                <a:cs typeface="Manrope"/>
              </a:defRPr>
            </a:pPr>
            <a:r>
              <a:rPr sz="2175" b="1">
                <a:solidFill>
                  <a:srgbClr val="151515"/>
                </a:solidFill>
                <a:latin typeface="Manrope"/>
                <a:ea typeface="Manrope"/>
                <a:cs typeface="Manrope"/>
              </a:rPr>
              <a:t>Новая станция</a:t>
            </a:r>
          </a:p>
        </p:txBody>
      </p:sp>
      <p:sp>
        <p:nvSpPr>
          <p:cNvPr id="13" name="Меняет очереди и загрузку соседн">
            <a:extLst xmlns:a="http://schemas.openxmlformats.org/drawingml/2006/main">
              <a:ext uri="{FF2B5EF4-FFF2-40B4-BE49-F238E27FC236}">
                <a16:creationId xmlns:a16="http://schemas.microsoft.com/office/drawing/2014/main" id="{B279A999-05CA-46E1-B3CA-BC82835CB549}"/>
              </a:ext>
            </a:extLst>
          </p:cNvPr>
          <p:cNvSpPr>
            <a:spLocks xmlns:a="http://schemas.openxmlformats.org/drawingml/2006/main" noGrp="1"/>
          </p:cNvSpPr>
          <p:nvPr/>
        </p:nvSpPr>
        <p:spPr>
          <a:xfrm xmlns:a="http://schemas.openxmlformats.org/drawingml/2006/main">
            <a:off x="3533775" y="450532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Меняет очереди и загрузку соседних</a:t>
            </a:r>
          </a:p>
        </p:txBody>
      </p:sp>
      <p:sp>
        <p:nvSpPr>
          <p:cNvPr id="14" name="Проверяем работу всей сети">
            <a:extLst xmlns:a="http://schemas.openxmlformats.org/drawingml/2006/main">
              <a:ext uri="{FF2B5EF4-FFF2-40B4-BE49-F238E27FC236}">
                <a16:creationId xmlns:a16="http://schemas.microsoft.com/office/drawing/2014/main" id="{34A8A3DD-CCBA-4EC6-B1F1-6B4E11A293F0}"/>
              </a:ext>
            </a:extLst>
          </p:cNvPr>
          <p:cNvSpPr>
            <a:spLocks xmlns:a="http://schemas.openxmlformats.org/drawingml/2006/main" noGrp="1"/>
          </p:cNvSpPr>
          <p:nvPr/>
        </p:nvSpPr>
        <p:spPr>
          <a:xfrm xmlns:a="http://schemas.openxmlformats.org/drawingml/2006/main">
            <a:off x="8258175" y="4505325"/>
            <a:ext cx="32194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IBM Plex Sans"/>
                <a:ea typeface="IBM Plex Sans"/>
                <a:cs typeface="IBM Plex Sans"/>
              </a:defRPr>
            </a:pPr>
            <a:r>
              <a:rPr sz="1875" b="1">
                <a:solidFill>
                  <a:srgbClr val="151515"/>
                </a:solidFill>
                <a:latin typeface="IBM Plex Sans"/>
                <a:ea typeface="IBM Plex Sans"/>
                <a:cs typeface="IBM Plex Sans"/>
              </a:rPr>
              <a:t>Проверяем работу всей сети</a:t>
            </a:r>
          </a:p>
        </p:txBody>
      </p:sp>
      <p:sp>
        <p:nvSpPr>
          <p:cNvPr id="15" name="Наше решение: совместный выбор п">
            <a:extLst xmlns:a="http://schemas.openxmlformats.org/drawingml/2006/main">
              <a:ext uri="{FF2B5EF4-FFF2-40B4-BE49-F238E27FC236}">
                <a16:creationId xmlns:a16="http://schemas.microsoft.com/office/drawing/2014/main" id="{3BB9B0DF-88EF-423B-922C-6D136AE5B7C9}"/>
              </a:ext>
            </a:extLst>
          </p:cNvPr>
          <p:cNvSpPr>
            <a:spLocks xmlns:a="http://schemas.openxmlformats.org/drawingml/2006/main" noGrp="1"/>
          </p:cNvSpPr>
          <p:nvPr/>
        </p:nvSpPr>
        <p:spPr>
          <a:xfrm xmlns:a="http://schemas.openxmlformats.org/drawingml/2006/main">
            <a:off x="685800" y="5686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1515"/>
                </a:solidFill>
                <a:latin typeface="IBM Plex Sans"/>
                <a:ea typeface="IBM Plex Sans"/>
                <a:cs typeface="IBM Plex Sans"/>
              </a:defRPr>
            </a:pPr>
            <a:r>
              <a:rPr sz="2325" b="1">
                <a:solidFill>
                  <a:srgbClr val="151515"/>
                </a:solidFill>
                <a:latin typeface="IBM Plex Sans"/>
                <a:ea typeface="IBM Plex Sans"/>
                <a:cs typeface="IBM Plex Sans"/>
              </a:rPr>
              <a:t>Наше решение: совместный выбор площадок, оборудования,</a:t>
            </a:r>
          </a:p>
          <a:p xmlns:a="http://schemas.openxmlformats.org/drawingml/2006/main">
            <a:pPr algn="l">
              <a:defRPr sz="2325" b="1">
                <a:solidFill>
                  <a:srgbClr val="151515"/>
                </a:solidFill>
                <a:latin typeface="IBM Plex Sans"/>
                <a:ea typeface="IBM Plex Sans"/>
                <a:cs typeface="IBM Plex Sans"/>
              </a:defRPr>
            </a:pPr>
            <a:r>
              <a:rPr sz="2325" b="1">
                <a:solidFill>
                  <a:srgbClr val="151515"/>
                </a:solidFill>
                <a:latin typeface="IBM Plex Sans"/>
                <a:ea typeface="IBM Plex Sans"/>
                <a:cs typeface="IBM Plex Sans"/>
              </a:rPr>
              <a:t>энергоснабжения и сроков строительства</a:t>
            </a:r>
          </a:p>
        </p:txBody>
      </p:sp>
    </p:spTree>
    <p:extLst>
      <p:ext uri="{BB962C8B-B14F-4D97-AF65-F5344CB8AC3E}">
        <p14:creationId xmlns:p14="http://schemas.microsoft.com/office/powerpoint/2010/main" val="14468004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Как появляется потребность в зар">
            <a:extLst xmlns:a="http://schemas.openxmlformats.org/drawingml/2006/main">
              <a:ext uri="{FF2B5EF4-FFF2-40B4-BE49-F238E27FC236}">
                <a16:creationId xmlns:a16="http://schemas.microsoft.com/office/drawing/2014/main" id="{D1715378-FA19-4DAE-A1AD-A4F979E3DA9E}"/>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anrope"/>
                <a:ea typeface="Manrope"/>
                <a:cs typeface="Manrope"/>
              </a:defRPr>
            </a:pPr>
            <a:r>
              <a:rPr sz="3300" b="1">
                <a:solidFill>
                  <a:srgbClr val="151515"/>
                </a:solidFill>
                <a:latin typeface="Manrope"/>
                <a:ea typeface="Manrope"/>
                <a:cs typeface="Manrope"/>
              </a:rPr>
              <a:t>Как появляется потребность в зарядке</a:t>
            </a:r>
          </a:p>
        </p:txBody>
      </p:sp>
      <p:sp>
        <p:nvSpPr>
          <p:cNvPr id="2" name="03">
            <a:extLst xmlns:a="http://schemas.openxmlformats.org/drawingml/2006/main">
              <a:ext uri="{FF2B5EF4-FFF2-40B4-BE49-F238E27FC236}">
                <a16:creationId xmlns:a16="http://schemas.microsoft.com/office/drawing/2014/main" id="{162B1B30-C183-44A4-A0EF-78B4BF128035}"/>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IBM Plex Sans"/>
                <a:ea typeface="IBM Plex Sans"/>
                <a:cs typeface="IBM Plex Sans"/>
              </a:defRPr>
            </a:pPr>
            <a:r>
              <a:rPr sz="1200" b="0">
                <a:solidFill>
                  <a:srgbClr val="606060"/>
                </a:solidFill>
                <a:latin typeface="IBM Plex Sans"/>
                <a:ea typeface="IBM Plex Sans"/>
                <a:cs typeface="IBM Plex Sans"/>
              </a:rPr>
              <a:t>03</a:t>
            </a:r>
          </a:p>
        </p:txBody>
      </p:sp>
      <p:sp>
        <p:nvSpPr>
          <p:cNvPr id="3" name="">
            <a:extLst xmlns:a="http://schemas.openxmlformats.org/drawingml/2006/main">
              <a:ext uri="{FF2B5EF4-FFF2-40B4-BE49-F238E27FC236}">
                <a16:creationId xmlns:a16="http://schemas.microsoft.com/office/drawing/2014/main" id="{A99091CB-0F1D-4198-8107-CA228F3845A4}"/>
              </a:ext>
            </a:extLst>
          </p:cNvPr>
          <p:cNvSpPr>
            <a:spLocks xmlns:a="http://schemas.openxmlformats.org/drawingml/2006/main" noGrp="1"/>
          </p:cNvSpPr>
          <p:nvPr/>
        </p:nvSpPr>
        <p:spPr>
          <a:xfrm xmlns:a="http://schemas.openxmlformats.org/drawingml/2006/main">
            <a:off x="685800" y="2057400"/>
            <a:ext cx="3286125"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4" name="Поездки и батарея">
            <a:extLst xmlns:a="http://schemas.openxmlformats.org/drawingml/2006/main">
              <a:ext uri="{FF2B5EF4-FFF2-40B4-BE49-F238E27FC236}">
                <a16:creationId xmlns:a16="http://schemas.microsoft.com/office/drawing/2014/main" id="{E6C751B0-062F-412D-B422-A4AE87F0058E}"/>
              </a:ext>
            </a:extLst>
          </p:cNvPr>
          <p:cNvSpPr>
            <a:spLocks xmlns:a="http://schemas.openxmlformats.org/drawingml/2006/main" noGrp="1"/>
          </p:cNvSpPr>
          <p:nvPr/>
        </p:nvSpPr>
        <p:spPr>
          <a:xfrm xmlns:a="http://schemas.openxmlformats.org/drawingml/2006/main">
            <a:off x="685800" y="2276475"/>
            <a:ext cx="3324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Manrope"/>
                <a:ea typeface="Manrope"/>
                <a:cs typeface="Manrope"/>
              </a:defRPr>
            </a:pPr>
            <a:r>
              <a:rPr sz="2100" b="1">
                <a:solidFill>
                  <a:srgbClr val="151515"/>
                </a:solidFill>
                <a:latin typeface="Manrope"/>
                <a:ea typeface="Manrope"/>
                <a:cs typeface="Manrope"/>
              </a:rPr>
              <a:t>Поездки и батарея</a:t>
            </a:r>
          </a:p>
        </p:txBody>
      </p:sp>
      <p:sp>
        <p:nvSpPr>
          <p:cNvPr id="5" name="Дистанция и расход&#10;Текущий заряд">
            <a:extLst xmlns:a="http://schemas.openxmlformats.org/drawingml/2006/main">
              <a:ext uri="{FF2B5EF4-FFF2-40B4-BE49-F238E27FC236}">
                <a16:creationId xmlns:a16="http://schemas.microsoft.com/office/drawing/2014/main" id="{0835A61C-319F-4A34-9424-60DD66CE53E1}"/>
              </a:ext>
            </a:extLst>
          </p:cNvPr>
          <p:cNvSpPr>
            <a:spLocks xmlns:a="http://schemas.openxmlformats.org/drawingml/2006/main" noGrp="1"/>
          </p:cNvSpPr>
          <p:nvPr/>
        </p:nvSpPr>
        <p:spPr>
          <a:xfrm xmlns:a="http://schemas.openxmlformats.org/drawingml/2006/main">
            <a:off x="685800" y="3000375"/>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Дистанция и расход</a:t>
            </a:r>
          </a:p>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Текущий заряд</a:t>
            </a:r>
          </a:p>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Запас на следующие поездки</a:t>
            </a:r>
          </a:p>
        </p:txBody>
      </p:sp>
      <p:sp>
        <p:nvSpPr>
          <p:cNvPr id="6" name="">
            <a:extLst xmlns:a="http://schemas.openxmlformats.org/drawingml/2006/main">
              <a:ext uri="{FF2B5EF4-FFF2-40B4-BE49-F238E27FC236}">
                <a16:creationId xmlns:a16="http://schemas.microsoft.com/office/drawing/2014/main" id="{7FA16E17-4E9C-4D2B-A901-5D4E1AB2BC33}"/>
              </a:ext>
            </a:extLst>
          </p:cNvPr>
          <p:cNvSpPr>
            <a:spLocks xmlns:a="http://schemas.openxmlformats.org/drawingml/2006/main" noGrp="1"/>
          </p:cNvSpPr>
          <p:nvPr/>
        </p:nvSpPr>
        <p:spPr>
          <a:xfrm xmlns:a="http://schemas.openxmlformats.org/drawingml/2006/main">
            <a:off x="4438650" y="2057400"/>
            <a:ext cx="3286125"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7" name="Дом и база">
            <a:extLst xmlns:a="http://schemas.openxmlformats.org/drawingml/2006/main">
              <a:ext uri="{FF2B5EF4-FFF2-40B4-BE49-F238E27FC236}">
                <a16:creationId xmlns:a16="http://schemas.microsoft.com/office/drawing/2014/main" id="{EC9E0FA7-D4DE-416C-ADA3-9D37837EC99F}"/>
              </a:ext>
            </a:extLst>
          </p:cNvPr>
          <p:cNvSpPr>
            <a:spLocks xmlns:a="http://schemas.openxmlformats.org/drawingml/2006/main" noGrp="1"/>
          </p:cNvSpPr>
          <p:nvPr/>
        </p:nvSpPr>
        <p:spPr>
          <a:xfrm xmlns:a="http://schemas.openxmlformats.org/drawingml/2006/main">
            <a:off x="4438650" y="2276475"/>
            <a:ext cx="3324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Manrope"/>
                <a:ea typeface="Manrope"/>
                <a:cs typeface="Manrope"/>
              </a:defRPr>
            </a:pPr>
            <a:r>
              <a:rPr sz="2100" b="1">
                <a:solidFill>
                  <a:srgbClr val="151515"/>
                </a:solidFill>
                <a:latin typeface="Manrope"/>
                <a:ea typeface="Manrope"/>
                <a:cs typeface="Manrope"/>
              </a:rPr>
              <a:t>Дом и база</a:t>
            </a:r>
          </a:p>
        </p:txBody>
      </p:sp>
      <p:sp>
        <p:nvSpPr>
          <p:cNvPr id="8" name="Есть ли своя зарядка&#10;Сколько эне">
            <a:extLst xmlns:a="http://schemas.openxmlformats.org/drawingml/2006/main">
              <a:ext uri="{FF2B5EF4-FFF2-40B4-BE49-F238E27FC236}">
                <a16:creationId xmlns:a16="http://schemas.microsoft.com/office/drawing/2014/main" id="{B45488BC-F0D1-4D80-820E-08132B21326F}"/>
              </a:ext>
            </a:extLst>
          </p:cNvPr>
          <p:cNvSpPr>
            <a:spLocks xmlns:a="http://schemas.openxmlformats.org/drawingml/2006/main" noGrp="1"/>
          </p:cNvSpPr>
          <p:nvPr/>
        </p:nvSpPr>
        <p:spPr>
          <a:xfrm xmlns:a="http://schemas.openxmlformats.org/drawingml/2006/main">
            <a:off x="4438650" y="3000375"/>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Есть ли своя зарядка</a:t>
            </a:r>
          </a:p>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Сколько энергии она даст</a:t>
            </a:r>
          </a:p>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Сколько времени останется</a:t>
            </a:r>
          </a:p>
        </p:txBody>
      </p:sp>
      <p:sp>
        <p:nvSpPr>
          <p:cNvPr id="9" name="">
            <a:extLst xmlns:a="http://schemas.openxmlformats.org/drawingml/2006/main">
              <a:ext uri="{FF2B5EF4-FFF2-40B4-BE49-F238E27FC236}">
                <a16:creationId xmlns:a16="http://schemas.microsoft.com/office/drawing/2014/main" id="{435AE671-26E8-4BE9-A363-32663FDD2381}"/>
              </a:ext>
            </a:extLst>
          </p:cNvPr>
          <p:cNvSpPr>
            <a:spLocks xmlns:a="http://schemas.openxmlformats.org/drawingml/2006/main" noGrp="1"/>
          </p:cNvSpPr>
          <p:nvPr/>
        </p:nvSpPr>
        <p:spPr>
          <a:xfrm xmlns:a="http://schemas.openxmlformats.org/drawingml/2006/main">
            <a:off x="8191500" y="2057400"/>
            <a:ext cx="3286125"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10" name="Публичная зарядка">
            <a:extLst xmlns:a="http://schemas.openxmlformats.org/drawingml/2006/main">
              <a:ext uri="{FF2B5EF4-FFF2-40B4-BE49-F238E27FC236}">
                <a16:creationId xmlns:a16="http://schemas.microsoft.com/office/drawing/2014/main" id="{A93B05BB-1035-4DC2-8035-CE0B7C665BF6}"/>
              </a:ext>
            </a:extLst>
          </p:cNvPr>
          <p:cNvSpPr>
            <a:spLocks xmlns:a="http://schemas.openxmlformats.org/drawingml/2006/main" noGrp="1"/>
          </p:cNvSpPr>
          <p:nvPr/>
        </p:nvSpPr>
        <p:spPr>
          <a:xfrm xmlns:a="http://schemas.openxmlformats.org/drawingml/2006/main">
            <a:off x="8191500" y="2276475"/>
            <a:ext cx="3324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Manrope"/>
                <a:ea typeface="Manrope"/>
                <a:cs typeface="Manrope"/>
              </a:defRPr>
            </a:pPr>
            <a:r>
              <a:rPr sz="2100" b="1">
                <a:solidFill>
                  <a:srgbClr val="151515"/>
                </a:solidFill>
                <a:latin typeface="Manrope"/>
                <a:ea typeface="Manrope"/>
                <a:cs typeface="Manrope"/>
              </a:rPr>
              <a:t>Публичная зарядка</a:t>
            </a:r>
          </a:p>
        </p:txBody>
      </p:sp>
      <p:sp>
        <p:nvSpPr>
          <p:cNvPr id="11" name="Где нужна энергия&#10;Сколько и к ка">
            <a:extLst xmlns:a="http://schemas.openxmlformats.org/drawingml/2006/main">
              <a:ext uri="{FF2B5EF4-FFF2-40B4-BE49-F238E27FC236}">
                <a16:creationId xmlns:a16="http://schemas.microsoft.com/office/drawing/2014/main" id="{7A408A9F-BF89-4B54-8CB3-1AF7F7F27C3B}"/>
              </a:ext>
            </a:extLst>
          </p:cNvPr>
          <p:cNvSpPr>
            <a:spLocks xmlns:a="http://schemas.openxmlformats.org/drawingml/2006/main" noGrp="1"/>
          </p:cNvSpPr>
          <p:nvPr/>
        </p:nvSpPr>
        <p:spPr>
          <a:xfrm xmlns:a="http://schemas.openxmlformats.org/drawingml/2006/main">
            <a:off x="8191500" y="3000375"/>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Где нужна энергия</a:t>
            </a:r>
          </a:p>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Сколько и к какому сроку</a:t>
            </a:r>
          </a:p>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Какую мощность примет авто</a:t>
            </a:r>
          </a:p>
        </p:txBody>
      </p:sp>
      <p:sp>
        <p:nvSpPr>
          <p:cNvPr id="12" name="">
            <a:extLst xmlns:a="http://schemas.openxmlformats.org/drawingml/2006/main">
              <a:ext uri="{FF2B5EF4-FFF2-40B4-BE49-F238E27FC236}">
                <a16:creationId xmlns:a16="http://schemas.microsoft.com/office/drawing/2014/main" id="{9F284434-7458-48B1-923B-DC6E3E7E2CCB}"/>
              </a:ext>
            </a:extLst>
          </p:cNvPr>
          <p:cNvSpPr>
            <a:spLocks xmlns:a="http://schemas.openxmlformats.org/drawingml/2006/main" noGrp="1"/>
          </p:cNvSpPr>
          <p:nvPr/>
        </p:nvSpPr>
        <p:spPr>
          <a:xfrm xmlns:a="http://schemas.openxmlformats.org/drawingml/2006/main">
            <a:off x="4038600" y="3305175"/>
            <a:ext cx="28575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4FA46D9-B10F-45F2-9BD8-D0408DF52AA0}"/>
              </a:ext>
            </a:extLst>
          </p:cNvPr>
          <p:cNvSpPr>
            <a:spLocks xmlns:a="http://schemas.openxmlformats.org/drawingml/2006/main" noGrp="1"/>
          </p:cNvSpPr>
          <p:nvPr/>
        </p:nvSpPr>
        <p:spPr>
          <a:xfrm xmlns:a="http://schemas.openxmlformats.org/drawingml/2006/main">
            <a:off x="7791450" y="3305175"/>
            <a:ext cx="28575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D90DDC5-BAC3-4884-BEA2-391D34AAA956}"/>
              </a:ext>
            </a:extLst>
          </p:cNvPr>
          <p:cNvSpPr>
            <a:spLocks xmlns:a="http://schemas.openxmlformats.org/drawingml/2006/main" noGrp="1"/>
          </p:cNvSpPr>
          <p:nvPr/>
        </p:nvSpPr>
        <p:spPr>
          <a:xfrm xmlns:a="http://schemas.openxmlformats.org/drawingml/2006/main">
            <a:off x="685800" y="4610100"/>
            <a:ext cx="10820400"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15" name="Частное авто">
            <a:extLst xmlns:a="http://schemas.openxmlformats.org/drawingml/2006/main">
              <a:ext uri="{FF2B5EF4-FFF2-40B4-BE49-F238E27FC236}">
                <a16:creationId xmlns:a16="http://schemas.microsoft.com/office/drawing/2014/main" id="{DAF7455B-683A-4406-9CE6-79A9E065A4F0}"/>
              </a:ext>
            </a:extLst>
          </p:cNvPr>
          <p:cNvSpPr>
            <a:spLocks xmlns:a="http://schemas.openxmlformats.org/drawingml/2006/main" noGrp="1"/>
          </p:cNvSpPr>
          <p:nvPr/>
        </p:nvSpPr>
        <p:spPr>
          <a:xfrm xmlns:a="http://schemas.openxmlformats.org/drawingml/2006/main">
            <a:off x="685800" y="4876800"/>
            <a:ext cx="3324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IBM Plex Sans"/>
                <a:ea typeface="IBM Plex Sans"/>
                <a:cs typeface="IBM Plex Sans"/>
              </a:defRPr>
            </a:pPr>
            <a:r>
              <a:rPr sz="2025" b="1">
                <a:solidFill>
                  <a:srgbClr val="151515"/>
                </a:solidFill>
                <a:latin typeface="IBM Plex Sans"/>
                <a:ea typeface="IBM Plex Sans"/>
                <a:cs typeface="IBM Plex Sans"/>
              </a:rPr>
              <a:t>Частное авто</a:t>
            </a:r>
          </a:p>
        </p:txBody>
      </p:sp>
      <p:sp>
        <p:nvSpPr>
          <p:cNvPr id="16" name="Домашняя зарядка и стоянки">
            <a:extLst xmlns:a="http://schemas.openxmlformats.org/drawingml/2006/main">
              <a:ext uri="{FF2B5EF4-FFF2-40B4-BE49-F238E27FC236}">
                <a16:creationId xmlns:a16="http://schemas.microsoft.com/office/drawing/2014/main" id="{F73001C7-B5AD-44F6-9818-6C42AEA178D8}"/>
              </a:ext>
            </a:extLst>
          </p:cNvPr>
          <p:cNvSpPr>
            <a:spLocks xmlns:a="http://schemas.openxmlformats.org/drawingml/2006/main" noGrp="1"/>
          </p:cNvSpPr>
          <p:nvPr/>
        </p:nvSpPr>
        <p:spPr>
          <a:xfrm xmlns:a="http://schemas.openxmlformats.org/drawingml/2006/main">
            <a:off x="685800" y="5372100"/>
            <a:ext cx="33242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IBM Plex Sans"/>
                <a:ea typeface="IBM Plex Sans"/>
                <a:cs typeface="IBM Plex Sans"/>
              </a:defRPr>
            </a:pPr>
            <a:r>
              <a:rPr sz="1725" b="0">
                <a:solidFill>
                  <a:srgbClr val="606060"/>
                </a:solidFill>
                <a:latin typeface="IBM Plex Sans"/>
                <a:ea typeface="IBM Plex Sans"/>
                <a:cs typeface="IBM Plex Sans"/>
              </a:rPr>
              <a:t>Домашняя зарядка и стоянки</a:t>
            </a:r>
          </a:p>
        </p:txBody>
      </p:sp>
      <p:sp>
        <p:nvSpPr>
          <p:cNvPr id="17" name="Такси">
            <a:extLst xmlns:a="http://schemas.openxmlformats.org/drawingml/2006/main">
              <a:ext uri="{FF2B5EF4-FFF2-40B4-BE49-F238E27FC236}">
                <a16:creationId xmlns:a16="http://schemas.microsoft.com/office/drawing/2014/main" id="{AF08796B-27D3-47BB-863A-3B08E42C24F4}"/>
              </a:ext>
            </a:extLst>
          </p:cNvPr>
          <p:cNvSpPr>
            <a:spLocks xmlns:a="http://schemas.openxmlformats.org/drawingml/2006/main" noGrp="1"/>
          </p:cNvSpPr>
          <p:nvPr/>
        </p:nvSpPr>
        <p:spPr>
          <a:xfrm xmlns:a="http://schemas.openxmlformats.org/drawingml/2006/main">
            <a:off x="4438650" y="4876800"/>
            <a:ext cx="3324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IBM Plex Sans"/>
                <a:ea typeface="IBM Plex Sans"/>
                <a:cs typeface="IBM Plex Sans"/>
              </a:defRPr>
            </a:pPr>
            <a:r>
              <a:rPr sz="2025" b="1">
                <a:solidFill>
                  <a:srgbClr val="151515"/>
                </a:solidFill>
                <a:latin typeface="IBM Plex Sans"/>
                <a:ea typeface="IBM Plex Sans"/>
                <a:cs typeface="IBM Plex Sans"/>
              </a:rPr>
              <a:t>Такси</a:t>
            </a:r>
          </a:p>
        </p:txBody>
      </p:sp>
      <p:sp>
        <p:nvSpPr>
          <p:cNvPr id="18" name="Пробег смены и время простоя">
            <a:extLst xmlns:a="http://schemas.openxmlformats.org/drawingml/2006/main">
              <a:ext uri="{FF2B5EF4-FFF2-40B4-BE49-F238E27FC236}">
                <a16:creationId xmlns:a16="http://schemas.microsoft.com/office/drawing/2014/main" id="{FEE81B95-EC7E-45E1-87CC-58142B75F4B4}"/>
              </a:ext>
            </a:extLst>
          </p:cNvPr>
          <p:cNvSpPr>
            <a:spLocks xmlns:a="http://schemas.openxmlformats.org/drawingml/2006/main" noGrp="1"/>
          </p:cNvSpPr>
          <p:nvPr/>
        </p:nvSpPr>
        <p:spPr>
          <a:xfrm xmlns:a="http://schemas.openxmlformats.org/drawingml/2006/main">
            <a:off x="4438650" y="5372100"/>
            <a:ext cx="33242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IBM Plex Sans"/>
                <a:ea typeface="IBM Plex Sans"/>
                <a:cs typeface="IBM Plex Sans"/>
              </a:defRPr>
            </a:pPr>
            <a:r>
              <a:rPr sz="1725" b="0">
                <a:solidFill>
                  <a:srgbClr val="606060"/>
                </a:solidFill>
                <a:latin typeface="IBM Plex Sans"/>
                <a:ea typeface="IBM Plex Sans"/>
                <a:cs typeface="IBM Plex Sans"/>
              </a:rPr>
              <a:t>Пробег смены и время простоя</a:t>
            </a:r>
          </a:p>
        </p:txBody>
      </p:sp>
      <p:sp>
        <p:nvSpPr>
          <p:cNvPr id="19" name="Транспортный парк">
            <a:extLst xmlns:a="http://schemas.openxmlformats.org/drawingml/2006/main">
              <a:ext uri="{FF2B5EF4-FFF2-40B4-BE49-F238E27FC236}">
                <a16:creationId xmlns:a16="http://schemas.microsoft.com/office/drawing/2014/main" id="{DB0AFAD4-442C-4735-885C-31139F04B724}"/>
              </a:ext>
            </a:extLst>
          </p:cNvPr>
          <p:cNvSpPr>
            <a:spLocks xmlns:a="http://schemas.openxmlformats.org/drawingml/2006/main" noGrp="1"/>
          </p:cNvSpPr>
          <p:nvPr/>
        </p:nvSpPr>
        <p:spPr>
          <a:xfrm xmlns:a="http://schemas.openxmlformats.org/drawingml/2006/main">
            <a:off x="8191500" y="4876800"/>
            <a:ext cx="3324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IBM Plex Sans"/>
                <a:ea typeface="IBM Plex Sans"/>
                <a:cs typeface="IBM Plex Sans"/>
              </a:defRPr>
            </a:pPr>
            <a:r>
              <a:rPr sz="2025" b="1">
                <a:solidFill>
                  <a:srgbClr val="151515"/>
                </a:solidFill>
                <a:latin typeface="IBM Plex Sans"/>
                <a:ea typeface="IBM Plex Sans"/>
                <a:cs typeface="IBM Plex Sans"/>
              </a:rPr>
              <a:t>Транспортный парк</a:t>
            </a:r>
          </a:p>
        </p:txBody>
      </p:sp>
      <p:sp>
        <p:nvSpPr>
          <p:cNvPr id="20" name="Рейсы и окна между выездами&#10;Отде">
            <a:extLst xmlns:a="http://schemas.openxmlformats.org/drawingml/2006/main">
              <a:ext uri="{FF2B5EF4-FFF2-40B4-BE49-F238E27FC236}">
                <a16:creationId xmlns:a16="http://schemas.microsoft.com/office/drawing/2014/main" id="{4B061206-AAE6-4DE4-8A00-B1F86C797C40}"/>
              </a:ext>
            </a:extLst>
          </p:cNvPr>
          <p:cNvSpPr>
            <a:spLocks xmlns:a="http://schemas.openxmlformats.org/drawingml/2006/main" noGrp="1"/>
          </p:cNvSpPr>
          <p:nvPr/>
        </p:nvSpPr>
        <p:spPr>
          <a:xfrm xmlns:a="http://schemas.openxmlformats.org/drawingml/2006/main">
            <a:off x="8191500" y="5372100"/>
            <a:ext cx="33242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IBM Plex Sans"/>
                <a:ea typeface="IBM Plex Sans"/>
                <a:cs typeface="IBM Plex Sans"/>
              </a:defRPr>
            </a:pPr>
            <a:r>
              <a:rPr sz="1725" b="0">
                <a:solidFill>
                  <a:srgbClr val="606060"/>
                </a:solidFill>
                <a:latin typeface="IBM Plex Sans"/>
                <a:ea typeface="IBM Plex Sans"/>
                <a:cs typeface="IBM Plex Sans"/>
              </a:rPr>
              <a:t>Рейсы и окна между выездами</a:t>
            </a:r>
          </a:p>
          <a:p xmlns:a="http://schemas.openxmlformats.org/drawingml/2006/main">
            <a:pPr algn="l">
              <a:defRPr sz="1725" b="0">
                <a:solidFill>
                  <a:srgbClr val="606060"/>
                </a:solidFill>
                <a:latin typeface="IBM Plex Sans"/>
                <a:ea typeface="IBM Plex Sans"/>
                <a:cs typeface="IBM Plex Sans"/>
              </a:defRPr>
            </a:pPr>
            <a:r>
              <a:rPr sz="1725" b="0">
                <a:solidFill>
                  <a:srgbClr val="606060"/>
                </a:solidFill>
                <a:latin typeface="IBM Plex Sans"/>
                <a:ea typeface="IBM Plex Sans"/>
                <a:cs typeface="IBM Plex Sans"/>
              </a:rPr>
              <a:t>Отдельный режим расчёта</a:t>
            </a:r>
          </a:p>
        </p:txBody>
      </p:sp>
      <p:sp>
        <p:nvSpPr>
          <p:cNvPr id="21" name="Источники и предположения сохран">
            <a:extLst xmlns:a="http://schemas.openxmlformats.org/drawingml/2006/main">
              <a:ext uri="{FF2B5EF4-FFF2-40B4-BE49-F238E27FC236}">
                <a16:creationId xmlns:a16="http://schemas.microsoft.com/office/drawing/2014/main" id="{FD82AFFB-A975-4D80-AB66-27C549BCB6DD}"/>
              </a:ext>
            </a:extLst>
          </p:cNvPr>
          <p:cNvSpPr>
            <a:spLocks xmlns:a="http://schemas.openxmlformats.org/drawingml/2006/main" noGrp="1"/>
          </p:cNvSpPr>
          <p:nvPr/>
        </p:nvSpPr>
        <p:spPr>
          <a:xfrm xmlns:a="http://schemas.openxmlformats.org/drawingml/2006/main">
            <a:off x="685800" y="6238875"/>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06060"/>
                </a:solidFill>
                <a:latin typeface="IBM Plex Sans"/>
                <a:ea typeface="IBM Plex Sans"/>
                <a:cs typeface="IBM Plex Sans"/>
              </a:defRPr>
            </a:pPr>
            <a:r>
              <a:rPr sz="1350" b="0">
                <a:solidFill>
                  <a:srgbClr val="606060"/>
                </a:solidFill>
                <a:latin typeface="IBM Plex Sans"/>
                <a:ea typeface="IBM Plex Sans"/>
                <a:cs typeface="IBM Plex Sans"/>
              </a:rPr>
              <a:t>Источники и предположения сохраняются; пользователь может заменить исходные данные</a:t>
            </a:r>
          </a:p>
        </p:txBody>
      </p:sp>
    </p:spTree>
    <p:extLst>
      <p:ext uri="{BB962C8B-B14F-4D97-AF65-F5344CB8AC3E}">
        <p14:creationId xmlns:p14="http://schemas.microsoft.com/office/powerpoint/2010/main" val="19746543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Как выбираются площадка и оборуд">
            <a:extLst xmlns:a="http://schemas.openxmlformats.org/drawingml/2006/main">
              <a:ext uri="{FF2B5EF4-FFF2-40B4-BE49-F238E27FC236}">
                <a16:creationId xmlns:a16="http://schemas.microsoft.com/office/drawing/2014/main" id="{D08BE0FD-95E5-482B-A9F5-8F571B1558C9}"/>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anrope"/>
                <a:ea typeface="Manrope"/>
                <a:cs typeface="Manrope"/>
              </a:defRPr>
            </a:pPr>
            <a:r>
              <a:rPr sz="3300" b="1">
                <a:solidFill>
                  <a:srgbClr val="151515"/>
                </a:solidFill>
                <a:latin typeface="Manrope"/>
                <a:ea typeface="Manrope"/>
                <a:cs typeface="Manrope"/>
              </a:rPr>
              <a:t>Как выбираются площадка и оборудование</a:t>
            </a:r>
          </a:p>
        </p:txBody>
      </p:sp>
      <p:sp>
        <p:nvSpPr>
          <p:cNvPr id="2" name="04">
            <a:extLst xmlns:a="http://schemas.openxmlformats.org/drawingml/2006/main">
              <a:ext uri="{FF2B5EF4-FFF2-40B4-BE49-F238E27FC236}">
                <a16:creationId xmlns:a16="http://schemas.microsoft.com/office/drawing/2014/main" id="{91B3F52B-B91A-40C6-AEEC-2D6716BD553C}"/>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IBM Plex Sans"/>
                <a:ea typeface="IBM Plex Sans"/>
                <a:cs typeface="IBM Plex Sans"/>
              </a:defRPr>
            </a:pPr>
            <a:r>
              <a:rPr sz="1200" b="0">
                <a:solidFill>
                  <a:srgbClr val="606060"/>
                </a:solidFill>
                <a:latin typeface="IBM Plex Sans"/>
                <a:ea typeface="IBM Plex Sans"/>
                <a:cs typeface="IBM Plex Sans"/>
              </a:rPr>
              <a:t>04</a:t>
            </a:r>
          </a:p>
        </p:txBody>
      </p:sp>
      <p:sp>
        <p:nvSpPr>
          <p:cNvPr id="3" name="">
            <a:extLst xmlns:a="http://schemas.openxmlformats.org/drawingml/2006/main">
              <a:ext uri="{FF2B5EF4-FFF2-40B4-BE49-F238E27FC236}">
                <a16:creationId xmlns:a16="http://schemas.microsoft.com/office/drawing/2014/main" id="{4A874E50-5F68-4ACC-AA3B-322580AB4DBF}"/>
              </a:ext>
            </a:extLst>
          </p:cNvPr>
          <p:cNvSpPr>
            <a:spLocks xmlns:a="http://schemas.openxmlformats.org/drawingml/2006/main" noGrp="1"/>
          </p:cNvSpPr>
          <p:nvPr/>
        </p:nvSpPr>
        <p:spPr>
          <a:xfrm xmlns:a="http://schemas.openxmlformats.org/drawingml/2006/main">
            <a:off x="685800" y="1885950"/>
            <a:ext cx="6257925"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4" name="Доехать">
            <a:extLst xmlns:a="http://schemas.openxmlformats.org/drawingml/2006/main">
              <a:ext uri="{FF2B5EF4-FFF2-40B4-BE49-F238E27FC236}">
                <a16:creationId xmlns:a16="http://schemas.microsoft.com/office/drawing/2014/main" id="{006165AB-AF11-4E27-A008-D0D210C2BAB9}"/>
              </a:ext>
            </a:extLst>
          </p:cNvPr>
          <p:cNvSpPr>
            <a:spLocks xmlns:a="http://schemas.openxmlformats.org/drawingml/2006/main" noGrp="1"/>
          </p:cNvSpPr>
          <p:nvPr/>
        </p:nvSpPr>
        <p:spPr>
          <a:xfrm xmlns:a="http://schemas.openxmlformats.org/drawingml/2006/main">
            <a:off x="685800" y="2047875"/>
            <a:ext cx="23907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515"/>
                </a:solidFill>
                <a:latin typeface="IBM Plex Sans"/>
                <a:ea typeface="IBM Plex Sans"/>
                <a:cs typeface="IBM Plex Sans"/>
              </a:defRPr>
            </a:pPr>
            <a:r>
              <a:rPr sz="1950" b="1">
                <a:solidFill>
                  <a:srgbClr val="151515"/>
                </a:solidFill>
                <a:latin typeface="IBM Plex Sans"/>
                <a:ea typeface="IBM Plex Sans"/>
                <a:cs typeface="IBM Plex Sans"/>
              </a:rPr>
              <a:t>Доехать</a:t>
            </a:r>
          </a:p>
        </p:txBody>
      </p:sp>
      <p:sp>
        <p:nvSpPr>
          <p:cNvPr id="5" name="Дорожное время и допустимый объе">
            <a:extLst xmlns:a="http://schemas.openxmlformats.org/drawingml/2006/main">
              <a:ext uri="{FF2B5EF4-FFF2-40B4-BE49-F238E27FC236}">
                <a16:creationId xmlns:a16="http://schemas.microsoft.com/office/drawing/2014/main" id="{5F10F206-7030-4F5B-937D-BC227A8E26E7}"/>
              </a:ext>
            </a:extLst>
          </p:cNvPr>
          <p:cNvSpPr>
            <a:spLocks xmlns:a="http://schemas.openxmlformats.org/drawingml/2006/main" noGrp="1"/>
          </p:cNvSpPr>
          <p:nvPr/>
        </p:nvSpPr>
        <p:spPr>
          <a:xfrm xmlns:a="http://schemas.openxmlformats.org/drawingml/2006/main">
            <a:off x="3143250" y="2047875"/>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IBM Plex Sans"/>
                <a:ea typeface="IBM Plex Sans"/>
                <a:cs typeface="IBM Plex Sans"/>
              </a:defRPr>
            </a:pPr>
            <a:r>
              <a:rPr sz="1800" b="0">
                <a:solidFill>
                  <a:srgbClr val="606060"/>
                </a:solidFill>
                <a:latin typeface="IBM Plex Sans"/>
                <a:ea typeface="IBM Plex Sans"/>
                <a:cs typeface="IBM Plex Sans"/>
              </a:rPr>
              <a:t>Дорожное время и допустимый объезд</a:t>
            </a:r>
          </a:p>
        </p:txBody>
      </p:sp>
      <p:sp>
        <p:nvSpPr>
          <p:cNvPr id="6" name="">
            <a:extLst xmlns:a="http://schemas.openxmlformats.org/drawingml/2006/main">
              <a:ext uri="{FF2B5EF4-FFF2-40B4-BE49-F238E27FC236}">
                <a16:creationId xmlns:a16="http://schemas.microsoft.com/office/drawing/2014/main" id="{1E646DB3-E1D2-4D0B-BB44-2FBED06D6656}"/>
              </a:ext>
            </a:extLst>
          </p:cNvPr>
          <p:cNvSpPr>
            <a:spLocks xmlns:a="http://schemas.openxmlformats.org/drawingml/2006/main" noGrp="1"/>
          </p:cNvSpPr>
          <p:nvPr/>
        </p:nvSpPr>
        <p:spPr>
          <a:xfrm xmlns:a="http://schemas.openxmlformats.org/drawingml/2006/main">
            <a:off x="685800" y="2790825"/>
            <a:ext cx="6257925"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7" name="Успеть зарядиться">
            <a:extLst xmlns:a="http://schemas.openxmlformats.org/drawingml/2006/main">
              <a:ext uri="{FF2B5EF4-FFF2-40B4-BE49-F238E27FC236}">
                <a16:creationId xmlns:a16="http://schemas.microsoft.com/office/drawing/2014/main" id="{D1A17A72-49C7-42A3-BE58-7CA7A2915EAD}"/>
              </a:ext>
            </a:extLst>
          </p:cNvPr>
          <p:cNvSpPr>
            <a:spLocks xmlns:a="http://schemas.openxmlformats.org/drawingml/2006/main" noGrp="1"/>
          </p:cNvSpPr>
          <p:nvPr/>
        </p:nvSpPr>
        <p:spPr>
          <a:xfrm xmlns:a="http://schemas.openxmlformats.org/drawingml/2006/main">
            <a:off x="685800" y="2952750"/>
            <a:ext cx="23907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515"/>
                </a:solidFill>
                <a:latin typeface="IBM Plex Sans"/>
                <a:ea typeface="IBM Plex Sans"/>
                <a:cs typeface="IBM Plex Sans"/>
              </a:defRPr>
            </a:pPr>
            <a:r>
              <a:rPr sz="1950" b="1">
                <a:solidFill>
                  <a:srgbClr val="151515"/>
                </a:solidFill>
                <a:latin typeface="IBM Plex Sans"/>
                <a:ea typeface="IBM Plex Sans"/>
                <a:cs typeface="IBM Plex Sans"/>
              </a:rPr>
              <a:t>Успеть зарядиться</a:t>
            </a:r>
          </a:p>
        </p:txBody>
      </p:sp>
      <p:sp>
        <p:nvSpPr>
          <p:cNvPr id="8" name="Энергия, стоянка и возможности а">
            <a:extLst xmlns:a="http://schemas.openxmlformats.org/drawingml/2006/main">
              <a:ext uri="{FF2B5EF4-FFF2-40B4-BE49-F238E27FC236}">
                <a16:creationId xmlns:a16="http://schemas.microsoft.com/office/drawing/2014/main" id="{33A6F66D-D875-4441-A3A4-B24E4CCE783B}"/>
              </a:ext>
            </a:extLst>
          </p:cNvPr>
          <p:cNvSpPr>
            <a:spLocks xmlns:a="http://schemas.openxmlformats.org/drawingml/2006/main" noGrp="1"/>
          </p:cNvSpPr>
          <p:nvPr/>
        </p:nvSpPr>
        <p:spPr>
          <a:xfrm xmlns:a="http://schemas.openxmlformats.org/drawingml/2006/main">
            <a:off x="3143250" y="2952750"/>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IBM Plex Sans"/>
                <a:ea typeface="IBM Plex Sans"/>
                <a:cs typeface="IBM Plex Sans"/>
              </a:defRPr>
            </a:pPr>
            <a:r>
              <a:rPr sz="1800" b="0">
                <a:solidFill>
                  <a:srgbClr val="606060"/>
                </a:solidFill>
                <a:latin typeface="IBM Plex Sans"/>
                <a:ea typeface="IBM Plex Sans"/>
                <a:cs typeface="IBM Plex Sans"/>
              </a:rPr>
              <a:t>Энергия, стоянка и возможности автомобиля</a:t>
            </a:r>
          </a:p>
        </p:txBody>
      </p:sp>
      <p:sp>
        <p:nvSpPr>
          <p:cNvPr id="9" name="">
            <a:extLst xmlns:a="http://schemas.openxmlformats.org/drawingml/2006/main">
              <a:ext uri="{FF2B5EF4-FFF2-40B4-BE49-F238E27FC236}">
                <a16:creationId xmlns:a16="http://schemas.microsoft.com/office/drawing/2014/main" id="{DA3B173A-9783-4096-9DE2-2522EE0011EA}"/>
              </a:ext>
            </a:extLst>
          </p:cNvPr>
          <p:cNvSpPr>
            <a:spLocks xmlns:a="http://schemas.openxmlformats.org/drawingml/2006/main" noGrp="1"/>
          </p:cNvSpPr>
          <p:nvPr/>
        </p:nvSpPr>
        <p:spPr>
          <a:xfrm xmlns:a="http://schemas.openxmlformats.org/drawingml/2006/main">
            <a:off x="685800" y="3695700"/>
            <a:ext cx="6257925"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10" name="Получить мощность">
            <a:extLst xmlns:a="http://schemas.openxmlformats.org/drawingml/2006/main">
              <a:ext uri="{FF2B5EF4-FFF2-40B4-BE49-F238E27FC236}">
                <a16:creationId xmlns:a16="http://schemas.microsoft.com/office/drawing/2014/main" id="{25BD13C4-F81B-4FC2-A340-23A2DDD51464}"/>
              </a:ext>
            </a:extLst>
          </p:cNvPr>
          <p:cNvSpPr>
            <a:spLocks xmlns:a="http://schemas.openxmlformats.org/drawingml/2006/main" noGrp="1"/>
          </p:cNvSpPr>
          <p:nvPr/>
        </p:nvSpPr>
        <p:spPr>
          <a:xfrm xmlns:a="http://schemas.openxmlformats.org/drawingml/2006/main">
            <a:off x="685800" y="3857625"/>
            <a:ext cx="23907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515"/>
                </a:solidFill>
                <a:latin typeface="IBM Plex Sans"/>
                <a:ea typeface="IBM Plex Sans"/>
                <a:cs typeface="IBM Plex Sans"/>
              </a:defRPr>
            </a:pPr>
            <a:r>
              <a:rPr sz="1950" b="1">
                <a:solidFill>
                  <a:srgbClr val="151515"/>
                </a:solidFill>
                <a:latin typeface="IBM Plex Sans"/>
                <a:ea typeface="IBM Plex Sans"/>
                <a:cs typeface="IBM Plex Sans"/>
              </a:rPr>
              <a:t>Получить мощность</a:t>
            </a:r>
          </a:p>
        </p:txBody>
      </p:sp>
      <p:sp>
        <p:nvSpPr>
          <p:cNvPr id="11" name="Подключение площадки и общий узе">
            <a:extLst xmlns:a="http://schemas.openxmlformats.org/drawingml/2006/main">
              <a:ext uri="{FF2B5EF4-FFF2-40B4-BE49-F238E27FC236}">
                <a16:creationId xmlns:a16="http://schemas.microsoft.com/office/drawing/2014/main" id="{86BB4BBC-1730-40E6-BB28-64AB68288695}"/>
              </a:ext>
            </a:extLst>
          </p:cNvPr>
          <p:cNvSpPr>
            <a:spLocks xmlns:a="http://schemas.openxmlformats.org/drawingml/2006/main" noGrp="1"/>
          </p:cNvSpPr>
          <p:nvPr/>
        </p:nvSpPr>
        <p:spPr>
          <a:xfrm xmlns:a="http://schemas.openxmlformats.org/drawingml/2006/main">
            <a:off x="3143250" y="3857625"/>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IBM Plex Sans"/>
                <a:ea typeface="IBM Plex Sans"/>
                <a:cs typeface="IBM Plex Sans"/>
              </a:defRPr>
            </a:pPr>
            <a:r>
              <a:rPr sz="1800" b="0">
                <a:solidFill>
                  <a:srgbClr val="606060"/>
                </a:solidFill>
                <a:latin typeface="IBM Plex Sans"/>
                <a:ea typeface="IBM Plex Sans"/>
                <a:cs typeface="IBM Plex Sans"/>
              </a:rPr>
              <a:t>Подключение площадки и общий узел</a:t>
            </a:r>
          </a:p>
        </p:txBody>
      </p:sp>
      <p:sp>
        <p:nvSpPr>
          <p:cNvPr id="12" name="">
            <a:extLst xmlns:a="http://schemas.openxmlformats.org/drawingml/2006/main">
              <a:ext uri="{FF2B5EF4-FFF2-40B4-BE49-F238E27FC236}">
                <a16:creationId xmlns:a16="http://schemas.microsoft.com/office/drawing/2014/main" id="{53B0149C-46F0-4645-AC4C-ADE1C66A6553}"/>
              </a:ext>
            </a:extLst>
          </p:cNvPr>
          <p:cNvSpPr>
            <a:spLocks xmlns:a="http://schemas.openxmlformats.org/drawingml/2006/main" noGrp="1"/>
          </p:cNvSpPr>
          <p:nvPr/>
        </p:nvSpPr>
        <p:spPr>
          <a:xfrm xmlns:a="http://schemas.openxmlformats.org/drawingml/2006/main">
            <a:off x="685800" y="4600575"/>
            <a:ext cx="6257925"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13" name="Вписаться в план">
            <a:extLst xmlns:a="http://schemas.openxmlformats.org/drawingml/2006/main">
              <a:ext uri="{FF2B5EF4-FFF2-40B4-BE49-F238E27FC236}">
                <a16:creationId xmlns:a16="http://schemas.microsoft.com/office/drawing/2014/main" id="{9C2644BC-5495-4672-AF2D-CA285932D4C7}"/>
              </a:ext>
            </a:extLst>
          </p:cNvPr>
          <p:cNvSpPr>
            <a:spLocks xmlns:a="http://schemas.openxmlformats.org/drawingml/2006/main" noGrp="1"/>
          </p:cNvSpPr>
          <p:nvPr/>
        </p:nvSpPr>
        <p:spPr>
          <a:xfrm xmlns:a="http://schemas.openxmlformats.org/drawingml/2006/main">
            <a:off x="685800" y="4762500"/>
            <a:ext cx="23907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515"/>
                </a:solidFill>
                <a:latin typeface="IBM Plex Sans"/>
                <a:ea typeface="IBM Plex Sans"/>
                <a:cs typeface="IBM Plex Sans"/>
              </a:defRPr>
            </a:pPr>
            <a:r>
              <a:rPr sz="1950" b="1">
                <a:solidFill>
                  <a:srgbClr val="151515"/>
                </a:solidFill>
                <a:latin typeface="IBM Plex Sans"/>
                <a:ea typeface="IBM Plex Sans"/>
                <a:cs typeface="IBM Plex Sans"/>
              </a:rPr>
              <a:t>Вписаться в план</a:t>
            </a:r>
          </a:p>
        </p:txBody>
      </p:sp>
      <p:sp>
        <p:nvSpPr>
          <p:cNvPr id="14" name="Существующие активы и доступный ">
            <a:extLst xmlns:a="http://schemas.openxmlformats.org/drawingml/2006/main">
              <a:ext uri="{FF2B5EF4-FFF2-40B4-BE49-F238E27FC236}">
                <a16:creationId xmlns:a16="http://schemas.microsoft.com/office/drawing/2014/main" id="{B36F21FA-A7FF-4207-8F0C-94CE68FC0878}"/>
              </a:ext>
            </a:extLst>
          </p:cNvPr>
          <p:cNvSpPr>
            <a:spLocks xmlns:a="http://schemas.openxmlformats.org/drawingml/2006/main" noGrp="1"/>
          </p:cNvSpPr>
          <p:nvPr/>
        </p:nvSpPr>
        <p:spPr>
          <a:xfrm xmlns:a="http://schemas.openxmlformats.org/drawingml/2006/main">
            <a:off x="3143250" y="4762500"/>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IBM Plex Sans"/>
                <a:ea typeface="IBM Plex Sans"/>
                <a:cs typeface="IBM Plex Sans"/>
              </a:defRPr>
            </a:pPr>
            <a:r>
              <a:rPr sz="1800" b="0">
                <a:solidFill>
                  <a:srgbClr val="606060"/>
                </a:solidFill>
                <a:latin typeface="IBM Plex Sans"/>
                <a:ea typeface="IBM Plex Sans"/>
                <a:cs typeface="IBM Plex Sans"/>
              </a:rPr>
              <a:t>Существующие активы и доступный бюджет</a:t>
            </a:r>
          </a:p>
        </p:txBody>
      </p:sp>
      <p:sp>
        <p:nvSpPr>
          <p:cNvPr id="15" name="Сравниваем варианты&#10;для всей сет">
            <a:extLst xmlns:a="http://schemas.openxmlformats.org/drawingml/2006/main">
              <a:ext uri="{FF2B5EF4-FFF2-40B4-BE49-F238E27FC236}">
                <a16:creationId xmlns:a16="http://schemas.microsoft.com/office/drawing/2014/main" id="{F64C2B5D-D920-4E95-81FC-1F92DCD506F4}"/>
              </a:ext>
            </a:extLst>
          </p:cNvPr>
          <p:cNvSpPr>
            <a:spLocks xmlns:a="http://schemas.openxmlformats.org/drawingml/2006/main" noGrp="1"/>
          </p:cNvSpPr>
          <p:nvPr/>
        </p:nvSpPr>
        <p:spPr>
          <a:xfrm xmlns:a="http://schemas.openxmlformats.org/drawingml/2006/main">
            <a:off x="7648575" y="1971675"/>
            <a:ext cx="38481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51515"/>
                </a:solidFill>
                <a:latin typeface="Manrope"/>
                <a:ea typeface="Manrope"/>
                <a:cs typeface="Manrope"/>
              </a:defRPr>
            </a:pPr>
            <a:r>
              <a:rPr sz="2475" b="1">
                <a:solidFill>
                  <a:srgbClr val="151515"/>
                </a:solidFill>
                <a:latin typeface="Manrope"/>
                <a:ea typeface="Manrope"/>
                <a:cs typeface="Manrope"/>
              </a:rPr>
              <a:t>Сравниваем варианты</a:t>
            </a:r>
          </a:p>
          <a:p xmlns:a="http://schemas.openxmlformats.org/drawingml/2006/main">
            <a:pPr algn="l">
              <a:defRPr sz="2475" b="1">
                <a:solidFill>
                  <a:srgbClr val="151515"/>
                </a:solidFill>
                <a:latin typeface="Manrope"/>
                <a:ea typeface="Manrope"/>
                <a:cs typeface="Manrope"/>
              </a:defRPr>
            </a:pPr>
            <a:r>
              <a:rPr sz="2475" b="1">
                <a:solidFill>
                  <a:srgbClr val="151515"/>
                </a:solidFill>
                <a:latin typeface="Manrope"/>
                <a:ea typeface="Manrope"/>
                <a:cs typeface="Manrope"/>
              </a:rPr>
              <a:t>для всей сети:</a:t>
            </a:r>
          </a:p>
          <a:p xmlns:a="http://schemas.openxmlformats.org/drawingml/2006/main">
            <a:pPr algn="l">
              <a:defRPr sz="2475" b="1">
                <a:solidFill>
                  <a:srgbClr val="151515"/>
                </a:solidFill>
                <a:latin typeface="Manrope"/>
                <a:ea typeface="Manrope"/>
                <a:cs typeface="Manrope"/>
              </a:defRPr>
            </a:pPr>
            <a:r>
              <a:rPr sz="2475" b="1">
                <a:solidFill>
                  <a:srgbClr val="151515"/>
                </a:solidFill>
                <a:latin typeface="Manrope"/>
                <a:ea typeface="Manrope"/>
                <a:cs typeface="Manrope"/>
              </a:rPr>
              <a:t>обслуживание и затраты</a:t>
            </a:r>
          </a:p>
        </p:txBody>
      </p:sp>
      <p:sp>
        <p:nvSpPr>
          <p:cNvPr id="16" name="Город: меньше необслуженной&#10;потр">
            <a:extLst xmlns:a="http://schemas.openxmlformats.org/drawingml/2006/main">
              <a:ext uri="{FF2B5EF4-FFF2-40B4-BE49-F238E27FC236}">
                <a16:creationId xmlns:a16="http://schemas.microsoft.com/office/drawing/2014/main" id="{057E8E9B-D46C-4FD9-A1BD-D419284B6C45}"/>
              </a:ext>
            </a:extLst>
          </p:cNvPr>
          <p:cNvSpPr>
            <a:spLocks xmlns:a="http://schemas.openxmlformats.org/drawingml/2006/main" noGrp="1"/>
          </p:cNvSpPr>
          <p:nvPr/>
        </p:nvSpPr>
        <p:spPr>
          <a:xfrm xmlns:a="http://schemas.openxmlformats.org/drawingml/2006/main">
            <a:off x="7648575" y="3667125"/>
            <a:ext cx="384810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Город: меньше необслуженной</a:t>
            </a:r>
          </a:p>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потребности в пределах бюджета.</a:t>
            </a:r>
          </a:p>
          <a:p xmlns:a="http://schemas.openxmlformats.org/drawingml/2006/main">
            <a:r>
              <a:t/>
            </a:r>
          </a:p>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Оператор: финансовый результат</a:t>
            </a:r>
          </a:p>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при заданных ценах</a:t>
            </a:r>
          </a:p>
        </p:txBody>
      </p:sp>
      <p:sp>
        <p:nvSpPr>
          <p:cNvPr id="17" name="Пример далее: на западной площад">
            <a:extLst xmlns:a="http://schemas.openxmlformats.org/drawingml/2006/main">
              <a:ext uri="{FF2B5EF4-FFF2-40B4-BE49-F238E27FC236}">
                <a16:creationId xmlns:a16="http://schemas.microsoft.com/office/drawing/2014/main" id="{515E499D-A6B9-4C4D-81DA-F06BD05B706E}"/>
              </a:ext>
            </a:extLst>
          </p:cNvPr>
          <p:cNvSpPr>
            <a:spLocks xmlns:a="http://schemas.openxmlformats.org/drawingml/2006/main" noGrp="1"/>
          </p:cNvSpPr>
          <p:nvPr/>
        </p:nvSpPr>
        <p:spPr>
          <a:xfrm xmlns:a="http://schemas.openxmlformats.org/drawingml/2006/main">
            <a:off x="685800" y="5819775"/>
            <a:ext cx="107918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IBM Plex Sans"/>
                <a:ea typeface="IBM Plex Sans"/>
                <a:cs typeface="IBM Plex Sans"/>
              </a:defRPr>
            </a:pPr>
            <a:r>
              <a:rPr sz="2100" b="1">
                <a:solidFill>
                  <a:srgbClr val="151515"/>
                </a:solidFill>
                <a:latin typeface="IBM Plex Sans"/>
                <a:ea typeface="IBM Plex Sans"/>
                <a:cs typeface="IBM Plex Sans"/>
              </a:rPr>
              <a:t>Пример далее: на западной площадке сравниваем</a:t>
            </a:r>
          </a:p>
          <a:p xmlns:a="http://schemas.openxmlformats.org/drawingml/2006/main">
            <a:pPr algn="l">
              <a:defRPr sz="2100" b="1">
                <a:solidFill>
                  <a:srgbClr val="151515"/>
                </a:solidFill>
                <a:latin typeface="IBM Plex Sans"/>
                <a:ea typeface="IBM Plex Sans"/>
                <a:cs typeface="IBM Plex Sans"/>
              </a:defRPr>
            </a:pPr>
            <a:r>
              <a:rPr sz="2100" b="1">
                <a:solidFill>
                  <a:srgbClr val="151515"/>
                </a:solidFill>
                <a:latin typeface="IBM Plex Sans"/>
                <a:ea typeface="IBM Plex Sans"/>
                <a:cs typeface="IBM Plex Sans"/>
              </a:rPr>
              <a:t>2 × 22 кВт и 2 × 60 кВт</a:t>
            </a:r>
          </a:p>
        </p:txBody>
      </p:sp>
    </p:spTree>
    <p:extLst>
      <p:ext uri="{BB962C8B-B14F-4D97-AF65-F5344CB8AC3E}">
        <p14:creationId xmlns:p14="http://schemas.microsoft.com/office/powerpoint/2010/main" val="19420217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Как план согласуется с энергосна">
            <a:extLst xmlns:a="http://schemas.openxmlformats.org/drawingml/2006/main">
              <a:ext uri="{FF2B5EF4-FFF2-40B4-BE49-F238E27FC236}">
                <a16:creationId xmlns:a16="http://schemas.microsoft.com/office/drawing/2014/main" id="{F4445D01-2520-4AE6-AEC1-E8FB7FC4ABAE}"/>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anrope"/>
                <a:ea typeface="Manrope"/>
                <a:cs typeface="Manrope"/>
              </a:defRPr>
            </a:pPr>
            <a:r>
              <a:rPr sz="3300" b="1">
                <a:solidFill>
                  <a:srgbClr val="151515"/>
                </a:solidFill>
                <a:latin typeface="Manrope"/>
                <a:ea typeface="Manrope"/>
                <a:cs typeface="Manrope"/>
              </a:rPr>
              <a:t>Как план согласуется с энергоснабжением</a:t>
            </a:r>
          </a:p>
        </p:txBody>
      </p:sp>
      <p:sp>
        <p:nvSpPr>
          <p:cNvPr id="2" name="05">
            <a:extLst xmlns:a="http://schemas.openxmlformats.org/drawingml/2006/main">
              <a:ext uri="{FF2B5EF4-FFF2-40B4-BE49-F238E27FC236}">
                <a16:creationId xmlns:a16="http://schemas.microsoft.com/office/drawing/2014/main" id="{381CAED1-AB45-4C4C-9A06-E378BCC7AC2B}"/>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IBM Plex Sans"/>
                <a:ea typeface="IBM Plex Sans"/>
                <a:cs typeface="IBM Plex Sans"/>
              </a:defRPr>
            </a:pPr>
            <a:r>
              <a:rPr sz="1200" b="0">
                <a:solidFill>
                  <a:srgbClr val="606060"/>
                </a:solidFill>
                <a:latin typeface="IBM Plex Sans"/>
                <a:ea typeface="IBM Plex Sans"/>
                <a:cs typeface="IBM Plex Sans"/>
              </a:rPr>
              <a:t>05</a:t>
            </a:r>
          </a:p>
        </p:txBody>
      </p:sp>
      <p:sp>
        <p:nvSpPr>
          <p:cNvPr id="3" name="Посты станции">
            <a:extLst xmlns:a="http://schemas.openxmlformats.org/drawingml/2006/main">
              <a:ext uri="{FF2B5EF4-FFF2-40B4-BE49-F238E27FC236}">
                <a16:creationId xmlns:a16="http://schemas.microsoft.com/office/drawing/2014/main" id="{E8560770-CB84-488F-BED3-27DD52FADB33}"/>
              </a:ext>
            </a:extLst>
          </p:cNvPr>
          <p:cNvSpPr>
            <a:spLocks xmlns:a="http://schemas.openxmlformats.org/drawingml/2006/main" noGrp="1"/>
          </p:cNvSpPr>
          <p:nvPr/>
        </p:nvSpPr>
        <p:spPr>
          <a:xfrm xmlns:a="http://schemas.openxmlformats.org/drawingml/2006/main">
            <a:off x="685800" y="1895475"/>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anrope"/>
                <a:ea typeface="Manrope"/>
                <a:cs typeface="Manrope"/>
              </a:defRPr>
            </a:pPr>
            <a:r>
              <a:rPr sz="2250" b="1">
                <a:solidFill>
                  <a:srgbClr val="151515"/>
                </a:solidFill>
                <a:latin typeface="Manrope"/>
                <a:ea typeface="Manrope"/>
                <a:cs typeface="Manrope"/>
              </a:rPr>
              <a:t>Посты станции</a:t>
            </a:r>
          </a:p>
        </p:txBody>
      </p:sp>
      <p:sp>
        <p:nvSpPr>
          <p:cNvPr id="4" name="">
            <a:extLst xmlns:a="http://schemas.openxmlformats.org/drawingml/2006/main">
              <a:ext uri="{FF2B5EF4-FFF2-40B4-BE49-F238E27FC236}">
                <a16:creationId xmlns:a16="http://schemas.microsoft.com/office/drawing/2014/main" id="{DAB3DCB2-5B8D-46BC-8CA9-6BFEE1734DFF}"/>
              </a:ext>
            </a:extLst>
          </p:cNvPr>
          <p:cNvSpPr>
            <a:spLocks xmlns:a="http://schemas.openxmlformats.org/drawingml/2006/main" noGrp="1"/>
          </p:cNvSpPr>
          <p:nvPr/>
        </p:nvSpPr>
        <p:spPr>
          <a:xfrm xmlns:a="http://schemas.openxmlformats.org/drawingml/2006/main">
            <a:off x="3857625" y="2057400"/>
            <a:ext cx="45720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5" name="Подключение">
            <a:extLst xmlns:a="http://schemas.openxmlformats.org/drawingml/2006/main">
              <a:ext uri="{FF2B5EF4-FFF2-40B4-BE49-F238E27FC236}">
                <a16:creationId xmlns:a16="http://schemas.microsoft.com/office/drawing/2014/main" id="{7E546AAD-9A82-4648-A8D9-0B11ECFA7F39}"/>
              </a:ext>
            </a:extLst>
          </p:cNvPr>
          <p:cNvSpPr>
            <a:spLocks xmlns:a="http://schemas.openxmlformats.org/drawingml/2006/main" noGrp="1"/>
          </p:cNvSpPr>
          <p:nvPr/>
        </p:nvSpPr>
        <p:spPr>
          <a:xfrm xmlns:a="http://schemas.openxmlformats.org/drawingml/2006/main">
            <a:off x="4629150" y="1895475"/>
            <a:ext cx="3019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anrope"/>
                <a:ea typeface="Manrope"/>
                <a:cs typeface="Manrope"/>
              </a:defRPr>
            </a:pPr>
            <a:r>
              <a:rPr sz="2250" b="1">
                <a:solidFill>
                  <a:srgbClr val="151515"/>
                </a:solidFill>
                <a:latin typeface="Manrope"/>
                <a:ea typeface="Manrope"/>
                <a:cs typeface="Manrope"/>
              </a:rPr>
              <a:t>Подключение</a:t>
            </a:r>
          </a:p>
        </p:txBody>
      </p:sp>
      <p:sp>
        <p:nvSpPr>
          <p:cNvPr id="6" name="">
            <a:extLst xmlns:a="http://schemas.openxmlformats.org/drawingml/2006/main">
              <a:ext uri="{FF2B5EF4-FFF2-40B4-BE49-F238E27FC236}">
                <a16:creationId xmlns:a16="http://schemas.microsoft.com/office/drawing/2014/main" id="{2A774E97-9647-4D35-9233-866C6C4DDBEE}"/>
              </a:ext>
            </a:extLst>
          </p:cNvPr>
          <p:cNvSpPr>
            <a:spLocks xmlns:a="http://schemas.openxmlformats.org/drawingml/2006/main" noGrp="1"/>
          </p:cNvSpPr>
          <p:nvPr/>
        </p:nvSpPr>
        <p:spPr>
          <a:xfrm xmlns:a="http://schemas.openxmlformats.org/drawingml/2006/main">
            <a:off x="7696200" y="2057400"/>
            <a:ext cx="45720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7" name="Общий узел сети">
            <a:extLst xmlns:a="http://schemas.openxmlformats.org/drawingml/2006/main">
              <a:ext uri="{FF2B5EF4-FFF2-40B4-BE49-F238E27FC236}">
                <a16:creationId xmlns:a16="http://schemas.microsoft.com/office/drawing/2014/main" id="{E6EF5683-7403-4AFF-8066-DD377C8625D8}"/>
              </a:ext>
            </a:extLst>
          </p:cNvPr>
          <p:cNvSpPr>
            <a:spLocks xmlns:a="http://schemas.openxmlformats.org/drawingml/2006/main" noGrp="1"/>
          </p:cNvSpPr>
          <p:nvPr/>
        </p:nvSpPr>
        <p:spPr>
          <a:xfrm xmlns:a="http://schemas.openxmlformats.org/drawingml/2006/main">
            <a:off x="8477250" y="1895475"/>
            <a:ext cx="308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anrope"/>
                <a:ea typeface="Manrope"/>
                <a:cs typeface="Manrope"/>
              </a:defRPr>
            </a:pPr>
            <a:r>
              <a:rPr sz="2250" b="1">
                <a:solidFill>
                  <a:srgbClr val="151515"/>
                </a:solidFill>
                <a:latin typeface="Manrope"/>
                <a:ea typeface="Manrope"/>
                <a:cs typeface="Manrope"/>
              </a:rPr>
              <a:t>Общий узел сети</a:t>
            </a:r>
          </a:p>
        </p:txBody>
      </p:sp>
      <p:sp>
        <p:nvSpPr>
          <p:cNvPr id="8" name="Оборудование может выдать">
            <a:extLst xmlns:a="http://schemas.openxmlformats.org/drawingml/2006/main">
              <a:ext uri="{FF2B5EF4-FFF2-40B4-BE49-F238E27FC236}">
                <a16:creationId xmlns:a16="http://schemas.microsoft.com/office/drawing/2014/main" id="{CCE485CE-3702-42BA-AC5A-840195EA9545}"/>
              </a:ext>
            </a:extLst>
          </p:cNvPr>
          <p:cNvSpPr>
            <a:spLocks xmlns:a="http://schemas.openxmlformats.org/drawingml/2006/main" noGrp="1"/>
          </p:cNvSpPr>
          <p:nvPr/>
        </p:nvSpPr>
        <p:spPr>
          <a:xfrm xmlns:a="http://schemas.openxmlformats.org/drawingml/2006/main">
            <a:off x="685800" y="24193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IBM Plex Sans"/>
                <a:ea typeface="IBM Plex Sans"/>
                <a:cs typeface="IBM Plex Sans"/>
              </a:defRPr>
            </a:pPr>
            <a:r>
              <a:rPr sz="1725" b="0">
                <a:solidFill>
                  <a:srgbClr val="606060"/>
                </a:solidFill>
                <a:latin typeface="IBM Plex Sans"/>
                <a:ea typeface="IBM Plex Sans"/>
                <a:cs typeface="IBM Plex Sans"/>
              </a:rPr>
              <a:t>Оборудование может выдать</a:t>
            </a:r>
          </a:p>
        </p:txBody>
      </p:sp>
      <p:sp>
        <p:nvSpPr>
          <p:cNvPr id="9" name="Площадка может получить">
            <a:extLst xmlns:a="http://schemas.openxmlformats.org/drawingml/2006/main">
              <a:ext uri="{FF2B5EF4-FFF2-40B4-BE49-F238E27FC236}">
                <a16:creationId xmlns:a16="http://schemas.microsoft.com/office/drawing/2014/main" id="{B7842FAF-4A6B-46A9-911D-1646217B8FBC}"/>
              </a:ext>
            </a:extLst>
          </p:cNvPr>
          <p:cNvSpPr>
            <a:spLocks xmlns:a="http://schemas.openxmlformats.org/drawingml/2006/main" noGrp="1"/>
          </p:cNvSpPr>
          <p:nvPr/>
        </p:nvSpPr>
        <p:spPr>
          <a:xfrm xmlns:a="http://schemas.openxmlformats.org/drawingml/2006/main">
            <a:off x="4629150" y="2419350"/>
            <a:ext cx="30194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IBM Plex Sans"/>
                <a:ea typeface="IBM Plex Sans"/>
                <a:cs typeface="IBM Plex Sans"/>
              </a:defRPr>
            </a:pPr>
            <a:r>
              <a:rPr sz="1725" b="0">
                <a:solidFill>
                  <a:srgbClr val="606060"/>
                </a:solidFill>
                <a:latin typeface="IBM Plex Sans"/>
                <a:ea typeface="IBM Plex Sans"/>
                <a:cs typeface="IBM Plex Sans"/>
              </a:rPr>
              <a:t>Площадка может получить</a:t>
            </a:r>
          </a:p>
        </p:txBody>
      </p:sp>
      <p:sp>
        <p:nvSpPr>
          <p:cNvPr id="10" name="Все станции могут получить вмест">
            <a:extLst xmlns:a="http://schemas.openxmlformats.org/drawingml/2006/main">
              <a:ext uri="{FF2B5EF4-FFF2-40B4-BE49-F238E27FC236}">
                <a16:creationId xmlns:a16="http://schemas.microsoft.com/office/drawing/2014/main" id="{B2F94060-D309-4EB4-9354-B59BDFB9FB89}"/>
              </a:ext>
            </a:extLst>
          </p:cNvPr>
          <p:cNvSpPr>
            <a:spLocks xmlns:a="http://schemas.openxmlformats.org/drawingml/2006/main" noGrp="1"/>
          </p:cNvSpPr>
          <p:nvPr/>
        </p:nvSpPr>
        <p:spPr>
          <a:xfrm xmlns:a="http://schemas.openxmlformats.org/drawingml/2006/main">
            <a:off x="8477250" y="2419350"/>
            <a:ext cx="308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IBM Plex Sans"/>
                <a:ea typeface="IBM Plex Sans"/>
                <a:cs typeface="IBM Plex Sans"/>
              </a:defRPr>
            </a:pPr>
            <a:r>
              <a:rPr sz="1725" b="0">
                <a:solidFill>
                  <a:srgbClr val="606060"/>
                </a:solidFill>
                <a:latin typeface="IBM Plex Sans"/>
                <a:ea typeface="IBM Plex Sans"/>
                <a:cs typeface="IBM Plex Sans"/>
              </a:rPr>
              <a:t>Все станции могут получить вместе</a:t>
            </a:r>
          </a:p>
        </p:txBody>
      </p:sp>
      <p:sp>
        <p:nvSpPr>
          <p:cNvPr id="11" name="">
            <a:extLst xmlns:a="http://schemas.openxmlformats.org/drawingml/2006/main">
              <a:ext uri="{FF2B5EF4-FFF2-40B4-BE49-F238E27FC236}">
                <a16:creationId xmlns:a16="http://schemas.microsoft.com/office/drawing/2014/main" id="{9E692427-330A-4F0E-8AEE-777748E49F7B}"/>
              </a:ext>
            </a:extLst>
          </p:cNvPr>
          <p:cNvSpPr>
            <a:spLocks xmlns:a="http://schemas.openxmlformats.org/drawingml/2006/main" noGrp="1"/>
          </p:cNvSpPr>
          <p:nvPr/>
        </p:nvSpPr>
        <p:spPr>
          <a:xfrm xmlns:a="http://schemas.openxmlformats.org/drawingml/2006/main">
            <a:off x="685800" y="3343275"/>
            <a:ext cx="1082040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12" name="Усиление">
            <a:extLst xmlns:a="http://schemas.openxmlformats.org/drawingml/2006/main">
              <a:ext uri="{FF2B5EF4-FFF2-40B4-BE49-F238E27FC236}">
                <a16:creationId xmlns:a16="http://schemas.microsoft.com/office/drawing/2014/main" id="{C6F6DC02-7722-4794-95E0-66E2D55EB0D4}"/>
              </a:ext>
            </a:extLst>
          </p:cNvPr>
          <p:cNvSpPr>
            <a:spLocks xmlns:a="http://schemas.openxmlformats.org/drawingml/2006/main" noGrp="1"/>
          </p:cNvSpPr>
          <p:nvPr/>
        </p:nvSpPr>
        <p:spPr>
          <a:xfrm xmlns:a="http://schemas.openxmlformats.org/drawingml/2006/main">
            <a:off x="685800" y="3609975"/>
            <a:ext cx="276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IBM Plex Sans"/>
                <a:ea typeface="IBM Plex Sans"/>
                <a:cs typeface="IBM Plex Sans"/>
              </a:defRPr>
            </a:pPr>
            <a:r>
              <a:rPr sz="1875" b="1">
                <a:solidFill>
                  <a:srgbClr val="151515"/>
                </a:solidFill>
                <a:latin typeface="IBM Plex Sans"/>
                <a:ea typeface="IBM Plex Sans"/>
                <a:cs typeface="IBM Plex Sans"/>
              </a:rPr>
              <a:t>Усиление</a:t>
            </a:r>
          </a:p>
        </p:txBody>
      </p:sp>
      <p:sp>
        <p:nvSpPr>
          <p:cNvPr id="13" name="Дополнительная мощность доступна">
            <a:extLst xmlns:a="http://schemas.openxmlformats.org/drawingml/2006/main">
              <a:ext uri="{FF2B5EF4-FFF2-40B4-BE49-F238E27FC236}">
                <a16:creationId xmlns:a16="http://schemas.microsoft.com/office/drawing/2014/main" id="{98F3DDD3-A65D-4266-98E4-818046C7FCBF}"/>
              </a:ext>
            </a:extLst>
          </p:cNvPr>
          <p:cNvSpPr>
            <a:spLocks xmlns:a="http://schemas.openxmlformats.org/drawingml/2006/main" noGrp="1"/>
          </p:cNvSpPr>
          <p:nvPr/>
        </p:nvSpPr>
        <p:spPr>
          <a:xfrm xmlns:a="http://schemas.openxmlformats.org/drawingml/2006/main">
            <a:off x="3686175" y="3609975"/>
            <a:ext cx="781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IBM Plex Sans"/>
                <a:ea typeface="IBM Plex Sans"/>
                <a:cs typeface="IBM Plex Sans"/>
              </a:defRPr>
            </a:pPr>
            <a:r>
              <a:rPr sz="1800" b="0">
                <a:solidFill>
                  <a:srgbClr val="606060"/>
                </a:solidFill>
                <a:latin typeface="IBM Plex Sans"/>
                <a:ea typeface="IBM Plex Sans"/>
                <a:cs typeface="IBM Plex Sans"/>
              </a:rPr>
              <a:t>Дополнительная мощность доступна только после ввода</a:t>
            </a:r>
          </a:p>
        </p:txBody>
      </p:sp>
      <p:sp>
        <p:nvSpPr>
          <p:cNvPr id="14" name="Накопитель">
            <a:extLst xmlns:a="http://schemas.openxmlformats.org/drawingml/2006/main">
              <a:ext uri="{FF2B5EF4-FFF2-40B4-BE49-F238E27FC236}">
                <a16:creationId xmlns:a16="http://schemas.microsoft.com/office/drawing/2014/main" id="{0EB15518-BB65-4AD4-B925-8C3A586CCE4D}"/>
              </a:ext>
            </a:extLst>
          </p:cNvPr>
          <p:cNvSpPr>
            <a:spLocks xmlns:a="http://schemas.openxmlformats.org/drawingml/2006/main" noGrp="1"/>
          </p:cNvSpPr>
          <p:nvPr/>
        </p:nvSpPr>
        <p:spPr>
          <a:xfrm xmlns:a="http://schemas.openxmlformats.org/drawingml/2006/main">
            <a:off x="685800" y="4219575"/>
            <a:ext cx="276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IBM Plex Sans"/>
                <a:ea typeface="IBM Plex Sans"/>
                <a:cs typeface="IBM Plex Sans"/>
              </a:defRPr>
            </a:pPr>
            <a:r>
              <a:rPr sz="1875" b="1">
                <a:solidFill>
                  <a:srgbClr val="151515"/>
                </a:solidFill>
                <a:latin typeface="IBM Plex Sans"/>
                <a:ea typeface="IBM Plex Sans"/>
                <a:cs typeface="IBM Plex Sans"/>
              </a:rPr>
              <a:t>Накопитель</a:t>
            </a:r>
          </a:p>
        </p:txBody>
      </p:sp>
      <p:sp>
        <p:nvSpPr>
          <p:cNvPr id="15" name="Сохраняет энергию заранее и отда">
            <a:extLst xmlns:a="http://schemas.openxmlformats.org/drawingml/2006/main">
              <a:ext uri="{FF2B5EF4-FFF2-40B4-BE49-F238E27FC236}">
                <a16:creationId xmlns:a16="http://schemas.microsoft.com/office/drawing/2014/main" id="{FB414070-4F59-4F65-815F-982BB3C0E453}"/>
              </a:ext>
            </a:extLst>
          </p:cNvPr>
          <p:cNvSpPr>
            <a:spLocks xmlns:a="http://schemas.openxmlformats.org/drawingml/2006/main" noGrp="1"/>
          </p:cNvSpPr>
          <p:nvPr/>
        </p:nvSpPr>
        <p:spPr>
          <a:xfrm xmlns:a="http://schemas.openxmlformats.org/drawingml/2006/main">
            <a:off x="3686175" y="4219575"/>
            <a:ext cx="781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IBM Plex Sans"/>
                <a:ea typeface="IBM Plex Sans"/>
                <a:cs typeface="IBM Plex Sans"/>
              </a:defRPr>
            </a:pPr>
            <a:r>
              <a:rPr sz="1800" b="0">
                <a:solidFill>
                  <a:srgbClr val="606060"/>
                </a:solidFill>
                <a:latin typeface="IBM Plex Sans"/>
                <a:ea typeface="IBM Plex Sans"/>
                <a:cs typeface="IBM Plex Sans"/>
              </a:rPr>
              <a:t>Сохраняет энергию заранее и отдаёт её в часы дефицита</a:t>
            </a:r>
          </a:p>
        </p:txBody>
      </p:sp>
      <p:sp>
        <p:nvSpPr>
          <p:cNvPr id="16" name="Генерация">
            <a:extLst xmlns:a="http://schemas.openxmlformats.org/drawingml/2006/main">
              <a:ext uri="{FF2B5EF4-FFF2-40B4-BE49-F238E27FC236}">
                <a16:creationId xmlns:a16="http://schemas.microsoft.com/office/drawing/2014/main" id="{70EB7568-1F95-45F1-9070-3AEEC31A3487}"/>
              </a:ext>
            </a:extLst>
          </p:cNvPr>
          <p:cNvSpPr>
            <a:spLocks xmlns:a="http://schemas.openxmlformats.org/drawingml/2006/main" noGrp="1"/>
          </p:cNvSpPr>
          <p:nvPr/>
        </p:nvSpPr>
        <p:spPr>
          <a:xfrm xmlns:a="http://schemas.openxmlformats.org/drawingml/2006/main">
            <a:off x="685800" y="4829175"/>
            <a:ext cx="276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IBM Plex Sans"/>
                <a:ea typeface="IBM Plex Sans"/>
                <a:cs typeface="IBM Plex Sans"/>
              </a:defRPr>
            </a:pPr>
            <a:r>
              <a:rPr sz="1875" b="1">
                <a:solidFill>
                  <a:srgbClr val="151515"/>
                </a:solidFill>
                <a:latin typeface="IBM Plex Sans"/>
                <a:ea typeface="IBM Plex Sans"/>
                <a:cs typeface="IBM Plex Sans"/>
              </a:rPr>
              <a:t>Генерация</a:t>
            </a:r>
          </a:p>
        </p:txBody>
      </p:sp>
      <p:sp>
        <p:nvSpPr>
          <p:cNvPr id="17" name="Добавляет энергию в те часы, ког">
            <a:extLst xmlns:a="http://schemas.openxmlformats.org/drawingml/2006/main">
              <a:ext uri="{FF2B5EF4-FFF2-40B4-BE49-F238E27FC236}">
                <a16:creationId xmlns:a16="http://schemas.microsoft.com/office/drawing/2014/main" id="{DF400D6C-BC55-4214-8491-B52268DE1790}"/>
              </a:ext>
            </a:extLst>
          </p:cNvPr>
          <p:cNvSpPr>
            <a:spLocks xmlns:a="http://schemas.openxmlformats.org/drawingml/2006/main" noGrp="1"/>
          </p:cNvSpPr>
          <p:nvPr/>
        </p:nvSpPr>
        <p:spPr>
          <a:xfrm xmlns:a="http://schemas.openxmlformats.org/drawingml/2006/main">
            <a:off x="3686175" y="4829175"/>
            <a:ext cx="781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IBM Plex Sans"/>
                <a:ea typeface="IBM Plex Sans"/>
                <a:cs typeface="IBM Plex Sans"/>
              </a:defRPr>
            </a:pPr>
            <a:r>
              <a:rPr sz="1800" b="0">
                <a:solidFill>
                  <a:srgbClr val="606060"/>
                </a:solidFill>
                <a:latin typeface="IBM Plex Sans"/>
                <a:ea typeface="IBM Plex Sans"/>
                <a:cs typeface="IBM Plex Sans"/>
              </a:rPr>
              <a:t>Добавляет энергию в те часы, когда есть выработка</a:t>
            </a:r>
          </a:p>
        </p:txBody>
      </p:sp>
      <p:sp>
        <p:nvSpPr>
          <p:cNvPr id="18" name="Другой вариант">
            <a:extLst xmlns:a="http://schemas.openxmlformats.org/drawingml/2006/main">
              <a:ext uri="{FF2B5EF4-FFF2-40B4-BE49-F238E27FC236}">
                <a16:creationId xmlns:a16="http://schemas.microsoft.com/office/drawing/2014/main" id="{F40842EA-1E3C-4895-AFC4-89EE14DCF228}"/>
              </a:ext>
            </a:extLst>
          </p:cNvPr>
          <p:cNvSpPr>
            <a:spLocks xmlns:a="http://schemas.openxmlformats.org/drawingml/2006/main" noGrp="1"/>
          </p:cNvSpPr>
          <p:nvPr/>
        </p:nvSpPr>
        <p:spPr>
          <a:xfrm xmlns:a="http://schemas.openxmlformats.org/drawingml/2006/main">
            <a:off x="685800" y="5438775"/>
            <a:ext cx="276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IBM Plex Sans"/>
                <a:ea typeface="IBM Plex Sans"/>
                <a:cs typeface="IBM Plex Sans"/>
              </a:defRPr>
            </a:pPr>
            <a:r>
              <a:rPr sz="1875" b="1">
                <a:solidFill>
                  <a:srgbClr val="151515"/>
                </a:solidFill>
                <a:latin typeface="IBM Plex Sans"/>
                <a:ea typeface="IBM Plex Sans"/>
                <a:cs typeface="IBM Plex Sans"/>
              </a:rPr>
              <a:t>Другой вариант</a:t>
            </a:r>
          </a:p>
        </p:txBody>
      </p:sp>
      <p:sp>
        <p:nvSpPr>
          <p:cNvPr id="19" name="Меняем площадку или оснащение, е">
            <a:extLst xmlns:a="http://schemas.openxmlformats.org/drawingml/2006/main">
              <a:ext uri="{FF2B5EF4-FFF2-40B4-BE49-F238E27FC236}">
                <a16:creationId xmlns:a16="http://schemas.microsoft.com/office/drawing/2014/main" id="{BD78EE07-CDF2-4FA9-8D25-92C4518F3186}"/>
              </a:ext>
            </a:extLst>
          </p:cNvPr>
          <p:cNvSpPr>
            <a:spLocks xmlns:a="http://schemas.openxmlformats.org/drawingml/2006/main" noGrp="1"/>
          </p:cNvSpPr>
          <p:nvPr/>
        </p:nvSpPr>
        <p:spPr>
          <a:xfrm xmlns:a="http://schemas.openxmlformats.org/drawingml/2006/main">
            <a:off x="3686175" y="5438775"/>
            <a:ext cx="781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IBM Plex Sans"/>
                <a:ea typeface="IBM Plex Sans"/>
                <a:cs typeface="IBM Plex Sans"/>
              </a:defRPr>
            </a:pPr>
            <a:r>
              <a:rPr sz="1800" b="0">
                <a:solidFill>
                  <a:srgbClr val="606060"/>
                </a:solidFill>
                <a:latin typeface="IBM Plex Sans"/>
                <a:ea typeface="IBM Plex Sans"/>
                <a:cs typeface="IBM Plex Sans"/>
              </a:rPr>
              <a:t>Меняем площадку или оснащение, если так выгоднее</a:t>
            </a:r>
          </a:p>
        </p:txBody>
      </p:sp>
      <p:sp>
        <p:nvSpPr>
          <p:cNvPr id="20" name="Зарядку можно распределять внутр">
            <a:extLst xmlns:a="http://schemas.openxmlformats.org/drawingml/2006/main">
              <a:ext uri="{FF2B5EF4-FFF2-40B4-BE49-F238E27FC236}">
                <a16:creationId xmlns:a16="http://schemas.microsoft.com/office/drawing/2014/main" id="{CCFA04DA-A48F-4DC7-A8F0-0744EABAF790}"/>
              </a:ext>
            </a:extLst>
          </p:cNvPr>
          <p:cNvSpPr>
            <a:spLocks xmlns:a="http://schemas.openxmlformats.org/drawingml/2006/main" noGrp="1"/>
          </p:cNvSpPr>
          <p:nvPr/>
        </p:nvSpPr>
        <p:spPr>
          <a:xfrm xmlns:a="http://schemas.openxmlformats.org/drawingml/2006/main">
            <a:off x="685800" y="62484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06060"/>
                </a:solidFill>
                <a:latin typeface="IBM Plex Sans"/>
                <a:ea typeface="IBM Plex Sans"/>
                <a:cs typeface="IBM Plex Sans"/>
              </a:defRPr>
            </a:pPr>
            <a:r>
              <a:rPr sz="1425" b="0">
                <a:solidFill>
                  <a:srgbClr val="606060"/>
                </a:solidFill>
                <a:latin typeface="IBM Plex Sans"/>
                <a:ea typeface="IBM Plex Sans"/>
                <a:cs typeface="IBM Plex Sans"/>
              </a:rPr>
              <a:t>Зарядку можно распределять внутри её окна; срок отъезда сохраняется</a:t>
            </a:r>
          </a:p>
        </p:txBody>
      </p:sp>
    </p:spTree>
    <p:extLst>
      <p:ext uri="{BB962C8B-B14F-4D97-AF65-F5344CB8AC3E}">
        <p14:creationId xmlns:p14="http://schemas.microsoft.com/office/powerpoint/2010/main" val="14122786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Как формируется план строительст">
            <a:extLst xmlns:a="http://schemas.openxmlformats.org/drawingml/2006/main">
              <a:ext uri="{FF2B5EF4-FFF2-40B4-BE49-F238E27FC236}">
                <a16:creationId xmlns:a16="http://schemas.microsoft.com/office/drawing/2014/main" id="{822DCBCB-1DC7-4F2C-93AC-5FD7C6B8952D}"/>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anrope"/>
                <a:ea typeface="Manrope"/>
                <a:cs typeface="Manrope"/>
              </a:defRPr>
            </a:pPr>
            <a:r>
              <a:rPr sz="3300" b="1">
                <a:solidFill>
                  <a:srgbClr val="151515"/>
                </a:solidFill>
                <a:latin typeface="Manrope"/>
                <a:ea typeface="Manrope"/>
                <a:cs typeface="Manrope"/>
              </a:rPr>
              <a:t>Как формируется план строительства</a:t>
            </a:r>
          </a:p>
        </p:txBody>
      </p:sp>
      <p:sp>
        <p:nvSpPr>
          <p:cNvPr id="2" name="06">
            <a:extLst xmlns:a="http://schemas.openxmlformats.org/drawingml/2006/main">
              <a:ext uri="{FF2B5EF4-FFF2-40B4-BE49-F238E27FC236}">
                <a16:creationId xmlns:a16="http://schemas.microsoft.com/office/drawing/2014/main" id="{4561B7AD-B4F2-476E-9ED4-DD925A876A9C}"/>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IBM Plex Sans"/>
                <a:ea typeface="IBM Plex Sans"/>
                <a:cs typeface="IBM Plex Sans"/>
              </a:defRPr>
            </a:pPr>
            <a:r>
              <a:rPr sz="1200" b="0">
                <a:solidFill>
                  <a:srgbClr val="606060"/>
                </a:solidFill>
                <a:latin typeface="IBM Plex Sans"/>
                <a:ea typeface="IBM Plex Sans"/>
                <a:cs typeface="IBM Plex Sans"/>
              </a:rPr>
              <a:t>06</a:t>
            </a:r>
          </a:p>
        </p:txBody>
      </p:sp>
      <p:graphicFrame>
        <p:nvGraphicFramePr>
          <p:cNvPr id="11" name=""/>
          <p:cNvGraphicFramePr/>
          <p:nvPr/>
        </p:nvGraphicFramePr>
        <p:xfrm>
          <a:off xmlns:a="http://schemas.openxmlformats.org/drawingml/2006/main" x="685800" y="1933575"/>
          <a:ext xmlns:a="http://schemas.openxmlformats.org/drawingml/2006/main" cx="10820400" cy="2390775"/>
        </p:xfrm>
        <a:graphic xmlns:a="http://schemas.openxmlformats.org/drawingml/2006/main">
          <a:graphicData uri="http://schemas.openxmlformats.org/drawingml/2006/table">
            <a:tbl>
              <a:tblPr/>
              <a:tblGrid>
                <a:gridCol w="2314575"/>
                <a:gridCol w="5934075"/>
                <a:gridCol w="2571750"/>
              </a:tblGrid>
              <a:tr h="597694">
                <a:tc>
                  <a:txBody>
                    <a:bodyPr/>
                    <a:lstStyle/>
                    <a:p>
                      <a:r>
                        <a:rPr sz="1725" b="1">
                          <a:solidFill>
                            <a:srgbClr val="FFFFFF"/>
                          </a:solidFill>
                          <a:latin typeface="IBM Plex Sans"/>
                          <a:ea typeface="IBM Plex Sans"/>
                          <a:cs typeface="IBM Plex Sans"/>
                        </a:rPr>
                        <a:t>Площадка</a:t>
                      </a:r>
                    </a:p>
                  </a:txBody>
                  <a:tcPr marL="152400" marR="133350" marT="95250" marB="76200" anchor="ctr">
                    <a:solidFill>
                      <a:srgbClr val="151515"/>
                    </a:solidFill>
                  </a:tcPr>
                </a:tc>
                <a:tc>
                  <a:txBody>
                    <a:bodyPr/>
                    <a:lstStyle/>
                    <a:p>
                      <a:r>
                        <a:rPr sz="1725" b="1">
                          <a:solidFill>
                            <a:srgbClr val="FFFFFF"/>
                          </a:solidFill>
                          <a:latin typeface="IBM Plex Sans"/>
                          <a:ea typeface="IBM Plex Sans"/>
                          <a:cs typeface="IBM Plex Sans"/>
                        </a:rPr>
                        <a:t>Выбранное оснащение</a:t>
                      </a:r>
                    </a:p>
                  </a:txBody>
                  <a:tcPr marL="152400" marR="133350" marT="95250" marB="76200" anchor="ctr">
                    <a:solidFill>
                      <a:srgbClr val="151515"/>
                    </a:solidFill>
                  </a:tcPr>
                </a:tc>
                <a:tc>
                  <a:txBody>
                    <a:bodyPr/>
                    <a:lstStyle/>
                    <a:p>
                      <a:r>
                        <a:rPr sz="1725" b="1">
                          <a:solidFill>
                            <a:srgbClr val="FFFFFF"/>
                          </a:solidFill>
                          <a:latin typeface="IBM Plex Sans"/>
                          <a:ea typeface="IBM Plex Sans"/>
                          <a:cs typeface="IBM Plex Sans"/>
                        </a:rPr>
                        <a:t>Срок</a:t>
                      </a:r>
                    </a:p>
                  </a:txBody>
                  <a:tcPr marL="152400" marR="133350" marT="95250" marB="76200" anchor="ctr">
                    <a:solidFill>
                      <a:srgbClr val="151515"/>
                    </a:solidFill>
                  </a:tcPr>
                </a:tc>
              </a:tr>
              <a:tr h="597694">
                <a:tc>
                  <a:txBody>
                    <a:bodyPr/>
                    <a:lstStyle/>
                    <a:p>
                      <a:r>
                        <a:rPr sz="1800">
                          <a:solidFill>
                            <a:srgbClr val="151515"/>
                          </a:solidFill>
                          <a:latin typeface="IBM Plex Sans"/>
                          <a:ea typeface="IBM Plex Sans"/>
                          <a:cs typeface="IBM Plex Sans"/>
                        </a:rPr>
                        <a:t>Запад</a:t>
                      </a:r>
                    </a:p>
                  </a:txBody>
                  <a:tcPr marL="152400" marR="133350" marT="95250" marB="76200" anchor="ctr">
                    <a:solidFill>
                      <a:srgbClr val="F4F4F4"/>
                    </a:solidFill>
                  </a:tcPr>
                </a:tc>
                <a:tc>
                  <a:txBody>
                    <a:bodyPr/>
                    <a:lstStyle/>
                    <a:p>
                      <a:r>
                        <a:rPr sz="1800">
                          <a:solidFill>
                            <a:srgbClr val="151515"/>
                          </a:solidFill>
                          <a:latin typeface="IBM Plex Sans"/>
                          <a:ea typeface="IBM Plex Sans"/>
                          <a:cs typeface="IBM Plex Sans"/>
                        </a:rPr>
                        <a:t>2 поста по 60 кВт</a:t>
                      </a:r>
                    </a:p>
                  </a:txBody>
                  <a:tcPr marL="152400" marR="133350" marT="95250" marB="76200" anchor="ctr">
                    <a:solidFill>
                      <a:srgbClr val="F4F4F4"/>
                    </a:solidFill>
                  </a:tcPr>
                </a:tc>
                <a:tc>
                  <a:txBody>
                    <a:bodyPr/>
                    <a:lstStyle/>
                    <a:p>
                      <a:r>
                        <a:rPr sz="1800">
                          <a:solidFill>
                            <a:srgbClr val="151515"/>
                          </a:solidFill>
                          <a:latin typeface="IBM Plex Sans"/>
                          <a:ea typeface="IBM Plex Sans"/>
                          <a:cs typeface="IBM Plex Sans"/>
                        </a:rPr>
                        <a:t>2027</a:t>
                      </a:r>
                    </a:p>
                  </a:txBody>
                  <a:tcPr marL="152400" marR="133350" marT="95250" marB="76200" anchor="ctr">
                    <a:solidFill>
                      <a:srgbClr val="F4F4F4"/>
                    </a:solidFill>
                  </a:tcPr>
                </a:tc>
              </a:tr>
              <a:tr h="597694">
                <a:tc>
                  <a:txBody>
                    <a:bodyPr/>
                    <a:lstStyle/>
                    <a:p>
                      <a:r>
                        <a:rPr sz="1800">
                          <a:solidFill>
                            <a:srgbClr val="151515"/>
                          </a:solidFill>
                          <a:latin typeface="IBM Plex Sans"/>
                          <a:ea typeface="IBM Plex Sans"/>
                          <a:cs typeface="IBM Plex Sans"/>
                        </a:rPr>
                        <a:t>Центр</a:t>
                      </a:r>
                    </a:p>
                  </a:txBody>
                  <a:tcPr marL="152400" marR="133350" marT="95250" marB="76200" anchor="ctr">
                    <a:solidFill>
                      <a:srgbClr val="FFFFFF"/>
                    </a:solidFill>
                  </a:tcPr>
                </a:tc>
                <a:tc>
                  <a:txBody>
                    <a:bodyPr/>
                    <a:lstStyle/>
                    <a:p>
                      <a:r>
                        <a:rPr sz="1800">
                          <a:solidFill>
                            <a:srgbClr val="151515"/>
                          </a:solidFill>
                          <a:latin typeface="IBM Plex Sans"/>
                          <a:ea typeface="IBM Plex Sans"/>
                          <a:cs typeface="IBM Plex Sans"/>
                        </a:rPr>
                        <a:t>Сохранить 2 поста по 22 кВт</a:t>
                      </a:r>
                    </a:p>
                  </a:txBody>
                  <a:tcPr marL="152400" marR="133350" marT="95250" marB="76200" anchor="ctr">
                    <a:solidFill>
                      <a:srgbClr val="FFFFFF"/>
                    </a:solidFill>
                  </a:tcPr>
                </a:tc>
                <a:tc>
                  <a:txBody>
                    <a:bodyPr/>
                    <a:lstStyle/>
                    <a:p>
                      <a:r>
                        <a:rPr sz="1800">
                          <a:solidFill>
                            <a:srgbClr val="151515"/>
                          </a:solidFill>
                          <a:latin typeface="IBM Plex Sans"/>
                          <a:ea typeface="IBM Plex Sans"/>
                          <a:cs typeface="IBM Plex Sans"/>
                        </a:rPr>
                        <a:t>Уже работает</a:t>
                      </a:r>
                    </a:p>
                  </a:txBody>
                  <a:tcPr marL="152400" marR="133350" marT="95250" marB="76200" anchor="ctr">
                    <a:solidFill>
                      <a:srgbClr val="FFFFFF"/>
                    </a:solidFill>
                  </a:tcPr>
                </a:tc>
              </a:tr>
              <a:tr h="597694">
                <a:tc>
                  <a:txBody>
                    <a:bodyPr/>
                    <a:lstStyle/>
                    <a:p>
                      <a:r>
                        <a:rPr sz="1800">
                          <a:solidFill>
                            <a:srgbClr val="151515"/>
                          </a:solidFill>
                          <a:latin typeface="IBM Plex Sans"/>
                          <a:ea typeface="IBM Plex Sans"/>
                          <a:cs typeface="IBM Plex Sans"/>
                        </a:rPr>
                        <a:t>Восток</a:t>
                      </a:r>
                    </a:p>
                  </a:txBody>
                  <a:tcPr marL="152400" marR="133350" marT="95250" marB="76200" anchor="ctr">
                    <a:solidFill>
                      <a:srgbClr val="F4F4F4"/>
                    </a:solidFill>
                  </a:tcPr>
                </a:tc>
                <a:tc>
                  <a:txBody>
                    <a:bodyPr/>
                    <a:lstStyle/>
                    <a:p>
                      <a:r>
                        <a:rPr sz="1800">
                          <a:solidFill>
                            <a:srgbClr val="151515"/>
                          </a:solidFill>
                          <a:latin typeface="IBM Plex Sans"/>
                          <a:ea typeface="IBM Plex Sans"/>
                          <a:cs typeface="IBM Plex Sans"/>
                        </a:rPr>
                        <a:t>2 поста по 60 кВт</a:t>
                      </a:r>
                    </a:p>
                  </a:txBody>
                  <a:tcPr marL="152400" marR="133350" marT="95250" marB="76200" anchor="ctr">
                    <a:solidFill>
                      <a:srgbClr val="F4F4F4"/>
                    </a:solidFill>
                  </a:tcPr>
                </a:tc>
                <a:tc>
                  <a:txBody>
                    <a:bodyPr/>
                    <a:lstStyle/>
                    <a:p>
                      <a:r>
                        <a:rPr sz="1800">
                          <a:solidFill>
                            <a:srgbClr val="151515"/>
                          </a:solidFill>
                          <a:latin typeface="IBM Plex Sans"/>
                          <a:ea typeface="IBM Plex Sans"/>
                          <a:cs typeface="IBM Plex Sans"/>
                        </a:rPr>
                        <a:t>2027</a:t>
                      </a:r>
                    </a:p>
                  </a:txBody>
                  <a:tcPr marL="152400" marR="133350" marT="95250" marB="76200" anchor="ctr">
                    <a:solidFill>
                      <a:srgbClr val="F4F4F4"/>
                    </a:solidFill>
                  </a:tcPr>
                </a:tc>
              </a:tr>
            </a:tbl>
          </a:graphicData>
        </a:graphic>
      </p:graphicFrame>
      <p:sp>
        <p:nvSpPr>
          <p:cNvPr id="4" name="5,20 млн ₽">
            <a:extLst xmlns:a="http://schemas.openxmlformats.org/drawingml/2006/main">
              <a:ext uri="{FF2B5EF4-FFF2-40B4-BE49-F238E27FC236}">
                <a16:creationId xmlns:a16="http://schemas.microsoft.com/office/drawing/2014/main" id="{3C9AD365-3306-46CA-AEF5-71962FB8DB1E}"/>
              </a:ext>
            </a:extLst>
          </p:cNvPr>
          <p:cNvSpPr>
            <a:spLocks xmlns:a="http://schemas.openxmlformats.org/drawingml/2006/main" noGrp="1"/>
          </p:cNvSpPr>
          <p:nvPr/>
        </p:nvSpPr>
        <p:spPr>
          <a:xfrm xmlns:a="http://schemas.openxmlformats.org/drawingml/2006/main">
            <a:off x="685800" y="4600575"/>
            <a:ext cx="47339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51515"/>
                </a:solidFill>
                <a:latin typeface="Manrope"/>
                <a:ea typeface="Manrope"/>
                <a:cs typeface="Manrope"/>
              </a:defRPr>
            </a:pPr>
            <a:r>
              <a:rPr sz="3825" b="1">
                <a:solidFill>
                  <a:srgbClr val="151515"/>
                </a:solidFill>
                <a:latin typeface="Manrope"/>
                <a:ea typeface="Manrope"/>
                <a:cs typeface="Manrope"/>
              </a:rPr>
              <a:t>5,20 млн ₽</a:t>
            </a:r>
          </a:p>
        </p:txBody>
      </p:sp>
      <p:sp>
        <p:nvSpPr>
          <p:cNvPr id="5" name="Новые вложения по плану&#10;Общий пр">
            <a:extLst xmlns:a="http://schemas.openxmlformats.org/drawingml/2006/main">
              <a:ext uri="{FF2B5EF4-FFF2-40B4-BE49-F238E27FC236}">
                <a16:creationId xmlns:a16="http://schemas.microsoft.com/office/drawing/2014/main" id="{C52032CD-ECEC-48A7-8986-EEAC6B4DF553}"/>
              </a:ext>
            </a:extLst>
          </p:cNvPr>
          <p:cNvSpPr>
            <a:spLocks xmlns:a="http://schemas.openxmlformats.org/drawingml/2006/main" noGrp="1"/>
          </p:cNvSpPr>
          <p:nvPr/>
        </p:nvSpPr>
        <p:spPr>
          <a:xfrm xmlns:a="http://schemas.openxmlformats.org/drawingml/2006/main">
            <a:off x="685800" y="5429250"/>
            <a:ext cx="47339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IBM Plex Sans"/>
                <a:ea typeface="IBM Plex Sans"/>
                <a:cs typeface="IBM Plex Sans"/>
              </a:defRPr>
            </a:pPr>
            <a:r>
              <a:rPr sz="1800" b="0">
                <a:solidFill>
                  <a:srgbClr val="606060"/>
                </a:solidFill>
                <a:latin typeface="IBM Plex Sans"/>
                <a:ea typeface="IBM Plex Sans"/>
                <a:cs typeface="IBM Plex Sans"/>
              </a:rPr>
              <a:t>Новые вложения по плану</a:t>
            </a:r>
          </a:p>
          <a:p xmlns:a="http://schemas.openxmlformats.org/drawingml/2006/main">
            <a:pPr algn="l">
              <a:defRPr sz="1800" b="0">
                <a:solidFill>
                  <a:srgbClr val="606060"/>
                </a:solidFill>
                <a:latin typeface="IBM Plex Sans"/>
                <a:ea typeface="IBM Plex Sans"/>
                <a:cs typeface="IBM Plex Sans"/>
              </a:defRPr>
            </a:pPr>
            <a:r>
              <a:rPr sz="1800" b="0">
                <a:solidFill>
                  <a:srgbClr val="606060"/>
                </a:solidFill>
                <a:latin typeface="IBM Plex Sans"/>
                <a:ea typeface="IBM Plex Sans"/>
                <a:cs typeface="IBM Plex Sans"/>
              </a:rPr>
              <a:t>Общий предел — 10 млн ₽</a:t>
            </a:r>
          </a:p>
        </p:txBody>
      </p:sp>
      <p:sp>
        <p:nvSpPr>
          <p:cNvPr id="6" name="Что проверяется по годам">
            <a:extLst xmlns:a="http://schemas.openxmlformats.org/drawingml/2006/main">
              <a:ext uri="{FF2B5EF4-FFF2-40B4-BE49-F238E27FC236}">
                <a16:creationId xmlns:a16="http://schemas.microsoft.com/office/drawing/2014/main" id="{AA655FF6-A37B-49F7-A447-2A4B7EBA9044}"/>
              </a:ext>
            </a:extLst>
          </p:cNvPr>
          <p:cNvSpPr>
            <a:spLocks xmlns:a="http://schemas.openxmlformats.org/drawingml/2006/main" noGrp="1"/>
          </p:cNvSpPr>
          <p:nvPr/>
        </p:nvSpPr>
        <p:spPr>
          <a:xfrm xmlns:a="http://schemas.openxmlformats.org/drawingml/2006/main">
            <a:off x="6372225" y="4695825"/>
            <a:ext cx="5133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IBM Plex Sans"/>
                <a:ea typeface="IBM Plex Sans"/>
                <a:cs typeface="IBM Plex Sans"/>
              </a:defRPr>
            </a:pPr>
            <a:r>
              <a:rPr sz="2100" b="1">
                <a:solidFill>
                  <a:srgbClr val="151515"/>
                </a:solidFill>
                <a:latin typeface="IBM Plex Sans"/>
                <a:ea typeface="IBM Plex Sans"/>
                <a:cs typeface="IBM Plex Sans"/>
              </a:rPr>
              <a:t>Что проверяется по годам</a:t>
            </a:r>
          </a:p>
        </p:txBody>
      </p:sp>
      <p:sp>
        <p:nvSpPr>
          <p:cNvPr id="7" name="Бюджет и сроки ввода&#10;Доступная м">
            <a:extLst xmlns:a="http://schemas.openxmlformats.org/drawingml/2006/main">
              <a:ext uri="{FF2B5EF4-FFF2-40B4-BE49-F238E27FC236}">
                <a16:creationId xmlns:a16="http://schemas.microsoft.com/office/drawing/2014/main" id="{63600DE0-B852-4ADE-A62B-3946488B3912}"/>
              </a:ext>
            </a:extLst>
          </p:cNvPr>
          <p:cNvSpPr>
            <a:spLocks xmlns:a="http://schemas.openxmlformats.org/drawingml/2006/main" noGrp="1"/>
          </p:cNvSpPr>
          <p:nvPr/>
        </p:nvSpPr>
        <p:spPr>
          <a:xfrm xmlns:a="http://schemas.openxmlformats.org/drawingml/2006/main">
            <a:off x="6372225" y="5229225"/>
            <a:ext cx="51339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Бюджет и сроки ввода</a:t>
            </a:r>
          </a:p>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Доступная мощность после усилений</a:t>
            </a:r>
          </a:p>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Обслуживание при росте спроса</a:t>
            </a:r>
          </a:p>
        </p:txBody>
      </p:sp>
      <p:sp>
        <p:nvSpPr>
          <p:cNvPr id="8" name="Пример расчёта на 2027–2028 годы">
            <a:extLst xmlns:a="http://schemas.openxmlformats.org/drawingml/2006/main">
              <a:ext uri="{FF2B5EF4-FFF2-40B4-BE49-F238E27FC236}">
                <a16:creationId xmlns:a16="http://schemas.microsoft.com/office/drawing/2014/main" id="{3ABA50AB-4F43-4377-A69A-EE9901D20FA0}"/>
              </a:ext>
            </a:extLst>
          </p:cNvPr>
          <p:cNvSpPr>
            <a:spLocks xmlns:a="http://schemas.openxmlformats.org/drawingml/2006/main" noGrp="1"/>
          </p:cNvSpPr>
          <p:nvPr/>
        </p:nvSpPr>
        <p:spPr>
          <a:xfrm xmlns:a="http://schemas.openxmlformats.org/drawingml/2006/main">
            <a:off x="685800" y="64198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06060"/>
                </a:solidFill>
                <a:latin typeface="IBM Plex Sans"/>
                <a:ea typeface="IBM Plex Sans"/>
                <a:cs typeface="IBM Plex Sans"/>
              </a:defRPr>
            </a:pPr>
            <a:r>
              <a:rPr sz="1275" b="0">
                <a:solidFill>
                  <a:srgbClr val="606060"/>
                </a:solidFill>
                <a:latin typeface="IBM Plex Sans"/>
                <a:ea typeface="IBM Plex Sans"/>
                <a:cs typeface="IBM Plex Sans"/>
              </a:rPr>
              <a:t>Пример расчёта на 2027–2028 годы; стоимость и условия подключения заданы сценарно</a:t>
            </a:r>
          </a:p>
        </p:txBody>
      </p:sp>
    </p:spTree>
    <p:extLst>
      <p:ext uri="{BB962C8B-B14F-4D97-AF65-F5344CB8AC3E}">
        <p14:creationId xmlns:p14="http://schemas.microsoft.com/office/powerpoint/2010/main" val="2035485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Как проверяется работа отдельной">
            <a:extLst xmlns:a="http://schemas.openxmlformats.org/drawingml/2006/main">
              <a:ext uri="{FF2B5EF4-FFF2-40B4-BE49-F238E27FC236}">
                <a16:creationId xmlns:a16="http://schemas.microsoft.com/office/drawing/2014/main" id="{C4A4D8D8-81DE-46B6-9061-B4E04DF3B088}"/>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anrope"/>
                <a:ea typeface="Manrope"/>
                <a:cs typeface="Manrope"/>
              </a:defRPr>
            </a:pPr>
            <a:r>
              <a:rPr sz="3300" b="1">
                <a:solidFill>
                  <a:srgbClr val="151515"/>
                </a:solidFill>
                <a:latin typeface="Manrope"/>
                <a:ea typeface="Manrope"/>
                <a:cs typeface="Manrope"/>
              </a:rPr>
              <a:t>Как проверяется работа отдельной станции</a:t>
            </a:r>
          </a:p>
        </p:txBody>
      </p:sp>
      <p:sp>
        <p:nvSpPr>
          <p:cNvPr id="2" name="07">
            <a:extLst xmlns:a="http://schemas.openxmlformats.org/drawingml/2006/main">
              <a:ext uri="{FF2B5EF4-FFF2-40B4-BE49-F238E27FC236}">
                <a16:creationId xmlns:a16="http://schemas.microsoft.com/office/drawing/2014/main" id="{9FE2A1FB-60C3-4F40-9789-C7ABCFC72473}"/>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IBM Plex Sans"/>
                <a:ea typeface="IBM Plex Sans"/>
                <a:cs typeface="IBM Plex Sans"/>
              </a:defRPr>
            </a:pPr>
            <a:r>
              <a:rPr sz="1200" b="0">
                <a:solidFill>
                  <a:srgbClr val="606060"/>
                </a:solidFill>
                <a:latin typeface="IBM Plex Sans"/>
                <a:ea typeface="IBM Plex Sans"/>
                <a:cs typeface="IBM Plex Sans"/>
              </a:rPr>
              <a:t>07</a:t>
            </a:r>
          </a:p>
        </p:txBody>
      </p:sp>
      <p:sp>
        <p:nvSpPr>
          <p:cNvPr id="3" name="">
            <a:extLst xmlns:a="http://schemas.openxmlformats.org/drawingml/2006/main">
              <a:ext uri="{FF2B5EF4-FFF2-40B4-BE49-F238E27FC236}">
                <a16:creationId xmlns:a16="http://schemas.microsoft.com/office/drawing/2014/main" id="{C73716B1-FE9B-434D-A16A-5471D715D998}"/>
              </a:ext>
            </a:extLst>
          </p:cNvPr>
          <p:cNvSpPr>
            <a:spLocks xmlns:a="http://schemas.openxmlformats.org/drawingml/2006/main" noGrp="1"/>
          </p:cNvSpPr>
          <p:nvPr/>
        </p:nvSpPr>
        <p:spPr>
          <a:xfrm xmlns:a="http://schemas.openxmlformats.org/drawingml/2006/main">
            <a:off x="685800" y="2181225"/>
            <a:ext cx="24193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4" name="Прибытие">
            <a:extLst xmlns:a="http://schemas.openxmlformats.org/drawingml/2006/main">
              <a:ext uri="{FF2B5EF4-FFF2-40B4-BE49-F238E27FC236}">
                <a16:creationId xmlns:a16="http://schemas.microsoft.com/office/drawing/2014/main" id="{7832C2FD-194F-42AC-A27C-A8FD9B5F578D}"/>
              </a:ext>
            </a:extLst>
          </p:cNvPr>
          <p:cNvSpPr>
            <a:spLocks xmlns:a="http://schemas.openxmlformats.org/drawingml/2006/main" noGrp="1"/>
          </p:cNvSpPr>
          <p:nvPr/>
        </p:nvSpPr>
        <p:spPr>
          <a:xfrm xmlns:a="http://schemas.openxmlformats.org/drawingml/2006/main">
            <a:off x="685800" y="2438400"/>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Manrope"/>
                <a:ea typeface="Manrope"/>
                <a:cs typeface="Manrope"/>
              </a:defRPr>
            </a:pPr>
            <a:r>
              <a:rPr sz="2025" b="1">
                <a:solidFill>
                  <a:srgbClr val="151515"/>
                </a:solidFill>
                <a:latin typeface="Manrope"/>
                <a:ea typeface="Manrope"/>
                <a:cs typeface="Manrope"/>
              </a:rPr>
              <a:t>Прибытие</a:t>
            </a:r>
          </a:p>
        </p:txBody>
      </p:sp>
      <p:sp>
        <p:nvSpPr>
          <p:cNvPr id="5" name="Когда приехал&#10;Сколько нужно энер">
            <a:extLst xmlns:a="http://schemas.openxmlformats.org/drawingml/2006/main">
              <a:ext uri="{FF2B5EF4-FFF2-40B4-BE49-F238E27FC236}">
                <a16:creationId xmlns:a16="http://schemas.microsoft.com/office/drawing/2014/main" id="{E5196BC0-5142-4760-B9F7-314D57AEEEBB}"/>
              </a:ext>
            </a:extLst>
          </p:cNvPr>
          <p:cNvSpPr>
            <a:spLocks xmlns:a="http://schemas.openxmlformats.org/drawingml/2006/main" noGrp="1"/>
          </p:cNvSpPr>
          <p:nvPr/>
        </p:nvSpPr>
        <p:spPr>
          <a:xfrm xmlns:a="http://schemas.openxmlformats.org/drawingml/2006/main">
            <a:off x="685800" y="3067050"/>
            <a:ext cx="24860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IBM Plex Sans"/>
                <a:ea typeface="IBM Plex Sans"/>
                <a:cs typeface="IBM Plex Sans"/>
              </a:defRPr>
            </a:pPr>
            <a:r>
              <a:rPr sz="1725" b="0">
                <a:solidFill>
                  <a:srgbClr val="606060"/>
                </a:solidFill>
                <a:latin typeface="IBM Plex Sans"/>
                <a:ea typeface="IBM Plex Sans"/>
                <a:cs typeface="IBM Plex Sans"/>
              </a:rPr>
              <a:t>Когда приехал</a:t>
            </a:r>
          </a:p>
          <a:p xmlns:a="http://schemas.openxmlformats.org/drawingml/2006/main">
            <a:pPr algn="l">
              <a:defRPr sz="1725" b="0">
                <a:solidFill>
                  <a:srgbClr val="606060"/>
                </a:solidFill>
                <a:latin typeface="IBM Plex Sans"/>
                <a:ea typeface="IBM Plex Sans"/>
                <a:cs typeface="IBM Plex Sans"/>
              </a:defRPr>
            </a:pPr>
            <a:r>
              <a:rPr sz="1725" b="0">
                <a:solidFill>
                  <a:srgbClr val="606060"/>
                </a:solidFill>
                <a:latin typeface="IBM Plex Sans"/>
                <a:ea typeface="IBM Plex Sans"/>
                <a:cs typeface="IBM Plex Sans"/>
              </a:rPr>
              <a:t>Сколько нужно энергии</a:t>
            </a:r>
          </a:p>
        </p:txBody>
      </p:sp>
      <p:sp>
        <p:nvSpPr>
          <p:cNvPr id="6" name="">
            <a:extLst xmlns:a="http://schemas.openxmlformats.org/drawingml/2006/main">
              <a:ext uri="{FF2B5EF4-FFF2-40B4-BE49-F238E27FC236}">
                <a16:creationId xmlns:a16="http://schemas.microsoft.com/office/drawing/2014/main" id="{87ECD1A2-1007-4636-97BD-1F9B708A1F89}"/>
              </a:ext>
            </a:extLst>
          </p:cNvPr>
          <p:cNvSpPr>
            <a:spLocks xmlns:a="http://schemas.openxmlformats.org/drawingml/2006/main" noGrp="1"/>
          </p:cNvSpPr>
          <p:nvPr/>
        </p:nvSpPr>
        <p:spPr>
          <a:xfrm xmlns:a="http://schemas.openxmlformats.org/drawingml/2006/main">
            <a:off x="3209925" y="3324225"/>
            <a:ext cx="19050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2AD46B3-3082-4FC2-803C-D416A68E1A54}"/>
              </a:ext>
            </a:extLst>
          </p:cNvPr>
          <p:cNvSpPr>
            <a:spLocks xmlns:a="http://schemas.openxmlformats.org/drawingml/2006/main" noGrp="1"/>
          </p:cNvSpPr>
          <p:nvPr/>
        </p:nvSpPr>
        <p:spPr>
          <a:xfrm xmlns:a="http://schemas.openxmlformats.org/drawingml/2006/main">
            <a:off x="3486150" y="2181225"/>
            <a:ext cx="24193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8" name="Пост и очередь">
            <a:extLst xmlns:a="http://schemas.openxmlformats.org/drawingml/2006/main">
              <a:ext uri="{FF2B5EF4-FFF2-40B4-BE49-F238E27FC236}">
                <a16:creationId xmlns:a16="http://schemas.microsoft.com/office/drawing/2014/main" id="{E8BA9A52-D2B7-44F6-8131-0C0AF219F319}"/>
              </a:ext>
            </a:extLst>
          </p:cNvPr>
          <p:cNvSpPr>
            <a:spLocks xmlns:a="http://schemas.openxmlformats.org/drawingml/2006/main" noGrp="1"/>
          </p:cNvSpPr>
          <p:nvPr/>
        </p:nvSpPr>
        <p:spPr>
          <a:xfrm xmlns:a="http://schemas.openxmlformats.org/drawingml/2006/main">
            <a:off x="3486150" y="2438400"/>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Manrope"/>
                <a:ea typeface="Manrope"/>
                <a:cs typeface="Manrope"/>
              </a:defRPr>
            </a:pPr>
            <a:r>
              <a:rPr sz="2025" b="1">
                <a:solidFill>
                  <a:srgbClr val="151515"/>
                </a:solidFill>
                <a:latin typeface="Manrope"/>
                <a:ea typeface="Manrope"/>
                <a:cs typeface="Manrope"/>
              </a:rPr>
              <a:t>Пост и очередь</a:t>
            </a:r>
          </a:p>
        </p:txBody>
      </p:sp>
      <p:sp>
        <p:nvSpPr>
          <p:cNvPr id="9" name="Есть ли свободный пост&#10;Сколько м">
            <a:extLst xmlns:a="http://schemas.openxmlformats.org/drawingml/2006/main">
              <a:ext uri="{FF2B5EF4-FFF2-40B4-BE49-F238E27FC236}">
                <a16:creationId xmlns:a16="http://schemas.microsoft.com/office/drawing/2014/main" id="{56253703-0982-4A8B-8C3D-ACD491432DE0}"/>
              </a:ext>
            </a:extLst>
          </p:cNvPr>
          <p:cNvSpPr>
            <a:spLocks xmlns:a="http://schemas.openxmlformats.org/drawingml/2006/main" noGrp="1"/>
          </p:cNvSpPr>
          <p:nvPr/>
        </p:nvSpPr>
        <p:spPr>
          <a:xfrm xmlns:a="http://schemas.openxmlformats.org/drawingml/2006/main">
            <a:off x="3486150" y="3067050"/>
            <a:ext cx="24860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IBM Plex Sans"/>
                <a:ea typeface="IBM Plex Sans"/>
                <a:cs typeface="IBM Plex Sans"/>
              </a:defRPr>
            </a:pPr>
            <a:r>
              <a:rPr sz="1725" b="0">
                <a:solidFill>
                  <a:srgbClr val="606060"/>
                </a:solidFill>
                <a:latin typeface="IBM Plex Sans"/>
                <a:ea typeface="IBM Plex Sans"/>
                <a:cs typeface="IBM Plex Sans"/>
              </a:rPr>
              <a:t>Есть ли свободный пост</a:t>
            </a:r>
          </a:p>
          <a:p xmlns:a="http://schemas.openxmlformats.org/drawingml/2006/main">
            <a:pPr algn="l">
              <a:defRPr sz="1725" b="0">
                <a:solidFill>
                  <a:srgbClr val="606060"/>
                </a:solidFill>
                <a:latin typeface="IBM Plex Sans"/>
                <a:ea typeface="IBM Plex Sans"/>
                <a:cs typeface="IBM Plex Sans"/>
              </a:defRPr>
            </a:pPr>
            <a:r>
              <a:rPr sz="1725" b="0">
                <a:solidFill>
                  <a:srgbClr val="606060"/>
                </a:solidFill>
                <a:latin typeface="IBM Plex Sans"/>
                <a:ea typeface="IBM Plex Sans"/>
                <a:cs typeface="IBM Plex Sans"/>
              </a:rPr>
              <a:t>Сколько можно ждать</a:t>
            </a:r>
          </a:p>
        </p:txBody>
      </p:sp>
      <p:sp>
        <p:nvSpPr>
          <p:cNvPr id="10" name="">
            <a:extLst xmlns:a="http://schemas.openxmlformats.org/drawingml/2006/main">
              <a:ext uri="{FF2B5EF4-FFF2-40B4-BE49-F238E27FC236}">
                <a16:creationId xmlns:a16="http://schemas.microsoft.com/office/drawing/2014/main" id="{2179694F-381F-4AFD-AB13-DF6021D35678}"/>
              </a:ext>
            </a:extLst>
          </p:cNvPr>
          <p:cNvSpPr>
            <a:spLocks xmlns:a="http://schemas.openxmlformats.org/drawingml/2006/main" noGrp="1"/>
          </p:cNvSpPr>
          <p:nvPr/>
        </p:nvSpPr>
        <p:spPr>
          <a:xfrm xmlns:a="http://schemas.openxmlformats.org/drawingml/2006/main">
            <a:off x="6010275" y="3324225"/>
            <a:ext cx="19050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91CC448-8404-4241-878F-F05CBBE1C133}"/>
              </a:ext>
            </a:extLst>
          </p:cNvPr>
          <p:cNvSpPr>
            <a:spLocks xmlns:a="http://schemas.openxmlformats.org/drawingml/2006/main" noGrp="1"/>
          </p:cNvSpPr>
          <p:nvPr/>
        </p:nvSpPr>
        <p:spPr>
          <a:xfrm xmlns:a="http://schemas.openxmlformats.org/drawingml/2006/main">
            <a:off x="6286500" y="2181225"/>
            <a:ext cx="24193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12" name="Зарядка">
            <a:extLst xmlns:a="http://schemas.openxmlformats.org/drawingml/2006/main">
              <a:ext uri="{FF2B5EF4-FFF2-40B4-BE49-F238E27FC236}">
                <a16:creationId xmlns:a16="http://schemas.microsoft.com/office/drawing/2014/main" id="{EE4C06A2-3A02-46E2-A945-A7FBD3871068}"/>
              </a:ext>
            </a:extLst>
          </p:cNvPr>
          <p:cNvSpPr>
            <a:spLocks xmlns:a="http://schemas.openxmlformats.org/drawingml/2006/main" noGrp="1"/>
          </p:cNvSpPr>
          <p:nvPr/>
        </p:nvSpPr>
        <p:spPr>
          <a:xfrm xmlns:a="http://schemas.openxmlformats.org/drawingml/2006/main">
            <a:off x="6286500" y="2438400"/>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Manrope"/>
                <a:ea typeface="Manrope"/>
                <a:cs typeface="Manrope"/>
              </a:defRPr>
            </a:pPr>
            <a:r>
              <a:rPr sz="2025" b="1">
                <a:solidFill>
                  <a:srgbClr val="151515"/>
                </a:solidFill>
                <a:latin typeface="Manrope"/>
                <a:ea typeface="Manrope"/>
                <a:cs typeface="Manrope"/>
              </a:rPr>
              <a:t>Зарядка</a:t>
            </a:r>
          </a:p>
        </p:txBody>
      </p:sp>
      <p:sp>
        <p:nvSpPr>
          <p:cNvPr id="13" name="Какая мощность доступна&#10;Как меня">
            <a:extLst xmlns:a="http://schemas.openxmlformats.org/drawingml/2006/main">
              <a:ext uri="{FF2B5EF4-FFF2-40B4-BE49-F238E27FC236}">
                <a16:creationId xmlns:a16="http://schemas.microsoft.com/office/drawing/2014/main" id="{7E4BEE88-E19B-45DC-A764-00000B0848B0}"/>
              </a:ext>
            </a:extLst>
          </p:cNvPr>
          <p:cNvSpPr>
            <a:spLocks xmlns:a="http://schemas.openxmlformats.org/drawingml/2006/main" noGrp="1"/>
          </p:cNvSpPr>
          <p:nvPr/>
        </p:nvSpPr>
        <p:spPr>
          <a:xfrm xmlns:a="http://schemas.openxmlformats.org/drawingml/2006/main">
            <a:off x="6286500" y="3067050"/>
            <a:ext cx="24860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IBM Plex Sans"/>
                <a:ea typeface="IBM Plex Sans"/>
                <a:cs typeface="IBM Plex Sans"/>
              </a:defRPr>
            </a:pPr>
            <a:r>
              <a:rPr sz="1725" b="0">
                <a:solidFill>
                  <a:srgbClr val="606060"/>
                </a:solidFill>
                <a:latin typeface="IBM Plex Sans"/>
                <a:ea typeface="IBM Plex Sans"/>
                <a:cs typeface="IBM Plex Sans"/>
              </a:rPr>
              <a:t>Какая мощность доступна</a:t>
            </a:r>
          </a:p>
          <a:p xmlns:a="http://schemas.openxmlformats.org/drawingml/2006/main">
            <a:pPr algn="l">
              <a:defRPr sz="1725" b="0">
                <a:solidFill>
                  <a:srgbClr val="606060"/>
                </a:solidFill>
                <a:latin typeface="IBM Plex Sans"/>
                <a:ea typeface="IBM Plex Sans"/>
                <a:cs typeface="IBM Plex Sans"/>
              </a:defRPr>
            </a:pPr>
            <a:r>
              <a:rPr sz="1725" b="0">
                <a:solidFill>
                  <a:srgbClr val="606060"/>
                </a:solidFill>
                <a:latin typeface="IBM Plex Sans"/>
                <a:ea typeface="IBM Plex Sans"/>
                <a:cs typeface="IBM Plex Sans"/>
              </a:rPr>
              <a:t>Как меняется заряд батареи</a:t>
            </a:r>
          </a:p>
        </p:txBody>
      </p:sp>
      <p:sp>
        <p:nvSpPr>
          <p:cNvPr id="14" name="">
            <a:extLst xmlns:a="http://schemas.openxmlformats.org/drawingml/2006/main">
              <a:ext uri="{FF2B5EF4-FFF2-40B4-BE49-F238E27FC236}">
                <a16:creationId xmlns:a16="http://schemas.microsoft.com/office/drawing/2014/main" id="{F2AE197B-E7AF-49CA-85C4-5137C42E8498}"/>
              </a:ext>
            </a:extLst>
          </p:cNvPr>
          <p:cNvSpPr>
            <a:spLocks xmlns:a="http://schemas.openxmlformats.org/drawingml/2006/main" noGrp="1"/>
          </p:cNvSpPr>
          <p:nvPr/>
        </p:nvSpPr>
        <p:spPr>
          <a:xfrm xmlns:a="http://schemas.openxmlformats.org/drawingml/2006/main">
            <a:off x="8810625" y="3324225"/>
            <a:ext cx="19050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BCA5813-108B-4269-9C53-8BF7E9B2652C}"/>
              </a:ext>
            </a:extLst>
          </p:cNvPr>
          <p:cNvSpPr>
            <a:spLocks xmlns:a="http://schemas.openxmlformats.org/drawingml/2006/main" noGrp="1"/>
          </p:cNvSpPr>
          <p:nvPr/>
        </p:nvSpPr>
        <p:spPr>
          <a:xfrm xmlns:a="http://schemas.openxmlformats.org/drawingml/2006/main">
            <a:off x="9086850" y="2181225"/>
            <a:ext cx="24193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16" name="Отъезд">
            <a:extLst xmlns:a="http://schemas.openxmlformats.org/drawingml/2006/main">
              <a:ext uri="{FF2B5EF4-FFF2-40B4-BE49-F238E27FC236}">
                <a16:creationId xmlns:a16="http://schemas.microsoft.com/office/drawing/2014/main" id="{3CA4E635-3996-44D1-AAC5-4FDB491FD26F}"/>
              </a:ext>
            </a:extLst>
          </p:cNvPr>
          <p:cNvSpPr>
            <a:spLocks xmlns:a="http://schemas.openxmlformats.org/drawingml/2006/main" noGrp="1"/>
          </p:cNvSpPr>
          <p:nvPr/>
        </p:nvSpPr>
        <p:spPr>
          <a:xfrm xmlns:a="http://schemas.openxmlformats.org/drawingml/2006/main">
            <a:off x="9086850" y="2438400"/>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Manrope"/>
                <a:ea typeface="Manrope"/>
                <a:cs typeface="Manrope"/>
              </a:defRPr>
            </a:pPr>
            <a:r>
              <a:rPr sz="2025" b="1">
                <a:solidFill>
                  <a:srgbClr val="151515"/>
                </a:solidFill>
                <a:latin typeface="Manrope"/>
                <a:ea typeface="Manrope"/>
                <a:cs typeface="Manrope"/>
              </a:rPr>
              <a:t>Отъезд</a:t>
            </a:r>
          </a:p>
        </p:txBody>
      </p:sp>
      <p:sp>
        <p:nvSpPr>
          <p:cNvPr id="17" name="Сколько выдано&#10;Что осталось необ">
            <a:extLst xmlns:a="http://schemas.openxmlformats.org/drawingml/2006/main">
              <a:ext uri="{FF2B5EF4-FFF2-40B4-BE49-F238E27FC236}">
                <a16:creationId xmlns:a16="http://schemas.microsoft.com/office/drawing/2014/main" id="{C0689671-E372-4C43-97BD-4996515B1570}"/>
              </a:ext>
            </a:extLst>
          </p:cNvPr>
          <p:cNvSpPr>
            <a:spLocks xmlns:a="http://schemas.openxmlformats.org/drawingml/2006/main" noGrp="1"/>
          </p:cNvSpPr>
          <p:nvPr/>
        </p:nvSpPr>
        <p:spPr>
          <a:xfrm xmlns:a="http://schemas.openxmlformats.org/drawingml/2006/main">
            <a:off x="9086850" y="3067050"/>
            <a:ext cx="24860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IBM Plex Sans"/>
                <a:ea typeface="IBM Plex Sans"/>
                <a:cs typeface="IBM Plex Sans"/>
              </a:defRPr>
            </a:pPr>
            <a:r>
              <a:rPr sz="1725" b="0">
                <a:solidFill>
                  <a:srgbClr val="606060"/>
                </a:solidFill>
                <a:latin typeface="IBM Plex Sans"/>
                <a:ea typeface="IBM Plex Sans"/>
                <a:cs typeface="IBM Plex Sans"/>
              </a:rPr>
              <a:t>Сколько выдано</a:t>
            </a:r>
          </a:p>
          <a:p xmlns:a="http://schemas.openxmlformats.org/drawingml/2006/main">
            <a:pPr algn="l">
              <a:defRPr sz="1725" b="0">
                <a:solidFill>
                  <a:srgbClr val="606060"/>
                </a:solidFill>
                <a:latin typeface="IBM Plex Sans"/>
                <a:ea typeface="IBM Plex Sans"/>
                <a:cs typeface="IBM Plex Sans"/>
              </a:defRPr>
            </a:pPr>
            <a:r>
              <a:rPr sz="1725" b="0">
                <a:solidFill>
                  <a:srgbClr val="606060"/>
                </a:solidFill>
                <a:latin typeface="IBM Plex Sans"/>
                <a:ea typeface="IBM Plex Sans"/>
                <a:cs typeface="IBM Plex Sans"/>
              </a:rPr>
              <a:t>Что осталось необслуженным</a:t>
            </a:r>
          </a:p>
        </p:txBody>
      </p:sp>
      <p:sp>
        <p:nvSpPr>
          <p:cNvPr id="18" name="">
            <a:extLst xmlns:a="http://schemas.openxmlformats.org/drawingml/2006/main">
              <a:ext uri="{FF2B5EF4-FFF2-40B4-BE49-F238E27FC236}">
                <a16:creationId xmlns:a16="http://schemas.microsoft.com/office/drawing/2014/main" id="{AEA3D0E8-25C5-4E29-AF09-8F8993A3C372}"/>
              </a:ext>
            </a:extLst>
          </p:cNvPr>
          <p:cNvSpPr>
            <a:spLocks xmlns:a="http://schemas.openxmlformats.org/drawingml/2006/main" noGrp="1"/>
          </p:cNvSpPr>
          <p:nvPr/>
        </p:nvSpPr>
        <p:spPr>
          <a:xfrm xmlns:a="http://schemas.openxmlformats.org/drawingml/2006/main">
            <a:off x="685800" y="4486275"/>
            <a:ext cx="10820400"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19" name="Ограничение мощности">
            <a:extLst xmlns:a="http://schemas.openxmlformats.org/drawingml/2006/main">
              <a:ext uri="{FF2B5EF4-FFF2-40B4-BE49-F238E27FC236}">
                <a16:creationId xmlns:a16="http://schemas.microsoft.com/office/drawing/2014/main" id="{BD151D9C-9138-47F6-BF0B-C1F39D022851}"/>
              </a:ext>
            </a:extLst>
          </p:cNvPr>
          <p:cNvSpPr>
            <a:spLocks xmlns:a="http://schemas.openxmlformats.org/drawingml/2006/main" noGrp="1"/>
          </p:cNvSpPr>
          <p:nvPr/>
        </p:nvSpPr>
        <p:spPr>
          <a:xfrm xmlns:a="http://schemas.openxmlformats.org/drawingml/2006/main">
            <a:off x="685800" y="4762500"/>
            <a:ext cx="5010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1515"/>
                </a:solidFill>
                <a:latin typeface="Manrope"/>
                <a:ea typeface="Manrope"/>
                <a:cs typeface="Manrope"/>
              </a:defRPr>
            </a:pPr>
            <a:r>
              <a:rPr sz="2175" b="1">
                <a:solidFill>
                  <a:srgbClr val="151515"/>
                </a:solidFill>
                <a:latin typeface="Manrope"/>
                <a:ea typeface="Manrope"/>
                <a:cs typeface="Manrope"/>
              </a:rPr>
              <a:t>Ограничение мощности</a:t>
            </a:r>
          </a:p>
        </p:txBody>
      </p:sp>
      <p:sp>
        <p:nvSpPr>
          <p:cNvPr id="20" name="Свободный пост не гарантирует по">
            <a:extLst xmlns:a="http://schemas.openxmlformats.org/drawingml/2006/main">
              <a:ext uri="{FF2B5EF4-FFF2-40B4-BE49-F238E27FC236}">
                <a16:creationId xmlns:a16="http://schemas.microsoft.com/office/drawing/2014/main" id="{3501F089-FEAA-4F94-9B01-DEB601130886}"/>
              </a:ext>
            </a:extLst>
          </p:cNvPr>
          <p:cNvSpPr>
            <a:spLocks xmlns:a="http://schemas.openxmlformats.org/drawingml/2006/main" noGrp="1"/>
          </p:cNvSpPr>
          <p:nvPr/>
        </p:nvSpPr>
        <p:spPr>
          <a:xfrm xmlns:a="http://schemas.openxmlformats.org/drawingml/2006/main">
            <a:off x="685800" y="5334000"/>
            <a:ext cx="50101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Свободный пост не гарантирует полную</a:t>
            </a:r>
          </a:p>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скорость: подключение может быть занято</a:t>
            </a:r>
          </a:p>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другими машинами и станциями</a:t>
            </a:r>
          </a:p>
        </p:txBody>
      </p:sp>
      <p:sp>
        <p:nvSpPr>
          <p:cNvPr id="21" name="Результат обслуживания">
            <a:extLst xmlns:a="http://schemas.openxmlformats.org/drawingml/2006/main">
              <a:ext uri="{FF2B5EF4-FFF2-40B4-BE49-F238E27FC236}">
                <a16:creationId xmlns:a16="http://schemas.microsoft.com/office/drawing/2014/main" id="{B8B2F81C-D925-4F0F-8A3E-42297CBD5F0F}"/>
              </a:ext>
            </a:extLst>
          </p:cNvPr>
          <p:cNvSpPr>
            <a:spLocks xmlns:a="http://schemas.openxmlformats.org/drawingml/2006/main" noGrp="1"/>
          </p:cNvSpPr>
          <p:nvPr/>
        </p:nvSpPr>
        <p:spPr>
          <a:xfrm xmlns:a="http://schemas.openxmlformats.org/drawingml/2006/main">
            <a:off x="6534150" y="4762500"/>
            <a:ext cx="4972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1515"/>
                </a:solidFill>
                <a:latin typeface="Manrope"/>
                <a:ea typeface="Manrope"/>
                <a:cs typeface="Manrope"/>
              </a:defRPr>
            </a:pPr>
            <a:r>
              <a:rPr sz="2175" b="1">
                <a:solidFill>
                  <a:srgbClr val="151515"/>
                </a:solidFill>
                <a:latin typeface="Manrope"/>
                <a:ea typeface="Manrope"/>
                <a:cs typeface="Manrope"/>
              </a:rPr>
              <a:t>Результат обслуживания</a:t>
            </a:r>
          </a:p>
        </p:txBody>
      </p:sp>
      <p:sp>
        <p:nvSpPr>
          <p:cNvPr id="22" name="Учитываем ожидание, полученную э">
            <a:extLst xmlns:a="http://schemas.openxmlformats.org/drawingml/2006/main">
              <a:ext uri="{FF2B5EF4-FFF2-40B4-BE49-F238E27FC236}">
                <a16:creationId xmlns:a16="http://schemas.microsoft.com/office/drawing/2014/main" id="{9F8A21E0-7C64-4307-94FD-605973457CFB}"/>
              </a:ext>
            </a:extLst>
          </p:cNvPr>
          <p:cNvSpPr>
            <a:spLocks xmlns:a="http://schemas.openxmlformats.org/drawingml/2006/main" noGrp="1"/>
          </p:cNvSpPr>
          <p:nvPr/>
        </p:nvSpPr>
        <p:spPr>
          <a:xfrm xmlns:a="http://schemas.openxmlformats.org/drawingml/2006/main">
            <a:off x="6534150" y="5334000"/>
            <a:ext cx="49720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Учитываем ожидание, полученную энергию</a:t>
            </a:r>
          </a:p>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и отъезд. Невыполненная потребность</a:t>
            </a:r>
          </a:p>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остаётся видимой в результате</a:t>
            </a:r>
          </a:p>
        </p:txBody>
      </p:sp>
    </p:spTree>
    <p:extLst>
      <p:ext uri="{BB962C8B-B14F-4D97-AF65-F5344CB8AC3E}">
        <p14:creationId xmlns:p14="http://schemas.microsoft.com/office/powerpoint/2010/main" val="19434949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Как новая станция меняет соседню">
            <a:extLst xmlns:a="http://schemas.openxmlformats.org/drawingml/2006/main">
              <a:ext uri="{FF2B5EF4-FFF2-40B4-BE49-F238E27FC236}">
                <a16:creationId xmlns:a16="http://schemas.microsoft.com/office/drawing/2014/main" id="{A319C928-DB3D-4B1B-BA7E-1805C490B39C}"/>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anrope"/>
                <a:ea typeface="Manrope"/>
                <a:cs typeface="Manrope"/>
              </a:defRPr>
            </a:pPr>
            <a:r>
              <a:rPr sz="3300" b="1">
                <a:solidFill>
                  <a:srgbClr val="151515"/>
                </a:solidFill>
                <a:latin typeface="Manrope"/>
                <a:ea typeface="Manrope"/>
                <a:cs typeface="Manrope"/>
              </a:rPr>
              <a:t>Как новая станция меняет соседнюю сеть</a:t>
            </a:r>
          </a:p>
        </p:txBody>
      </p:sp>
      <p:sp>
        <p:nvSpPr>
          <p:cNvPr id="2" name="08">
            <a:extLst xmlns:a="http://schemas.openxmlformats.org/drawingml/2006/main">
              <a:ext uri="{FF2B5EF4-FFF2-40B4-BE49-F238E27FC236}">
                <a16:creationId xmlns:a16="http://schemas.microsoft.com/office/drawing/2014/main" id="{EA1148B9-029B-44A0-B662-76C47C816EB2}"/>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IBM Plex Sans"/>
                <a:ea typeface="IBM Plex Sans"/>
                <a:cs typeface="IBM Plex Sans"/>
              </a:defRPr>
            </a:pPr>
            <a:r>
              <a:rPr sz="1200" b="0">
                <a:solidFill>
                  <a:srgbClr val="606060"/>
                </a:solidFill>
                <a:latin typeface="IBM Plex Sans"/>
                <a:ea typeface="IBM Plex Sans"/>
                <a:cs typeface="IBM Plex Sans"/>
              </a:rPr>
              <a:t>08</a:t>
            </a:r>
          </a:p>
        </p:txBody>
      </p:sp>
      <p:sp>
        <p:nvSpPr>
          <p:cNvPr id="3" name="Выданная энергия по площадкам, к">
            <a:extLst xmlns:a="http://schemas.openxmlformats.org/drawingml/2006/main">
              <a:ext uri="{FF2B5EF4-FFF2-40B4-BE49-F238E27FC236}">
                <a16:creationId xmlns:a16="http://schemas.microsoft.com/office/drawing/2014/main" id="{3D82252C-309D-4429-A0D3-C80206A05E41}"/>
              </a:ext>
            </a:extLst>
          </p:cNvPr>
          <p:cNvSpPr>
            <a:spLocks xmlns:a="http://schemas.openxmlformats.org/drawingml/2006/main" noGrp="1"/>
          </p:cNvSpPr>
          <p:nvPr/>
        </p:nvSpPr>
        <p:spPr>
          <a:xfrm xmlns:a="http://schemas.openxmlformats.org/drawingml/2006/main">
            <a:off x="685800" y="1676400"/>
            <a:ext cx="7200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Выданная энергия по площадкам, кВт·ч за сутки</a:t>
            </a:r>
          </a:p>
        </p:txBody>
      </p:sp>
      <p:graphicFrame>
        <p:nvGraphicFramePr>
          <p:cNvPr id="16" name="Chart"/>
          <p:cNvGraphicFramePr/>
          <p:nvPr/>
        </p:nvGraphicFramePr>
        <p:xfrm>
          <a:off xmlns:a="http://schemas.openxmlformats.org/drawingml/2006/main" x="685800" y="2200275"/>
          <a:ext xmlns:a="http://schemas.openxmlformats.org/drawingml/2006/main" cx="6772275" cy="3228975"/>
        </p:xfrm>
        <a:graphic xmlns:a="http://schemas.openxmlformats.org/drawingml/2006/main">
          <a:graphicData uri="http://schemas.openxmlformats.org/drawingml/2006/chart">
            <c:chart xmlns:r="http://schemas.openxmlformats.org/officeDocument/2006/relationships" xmlns:c="http://schemas.openxmlformats.org/drawingml/2006/chart" r:id="R5fc5233960d741fd"/>
          </a:graphicData>
        </a:graphic>
      </p:graphicFrame>
      <p:sp>
        <p:nvSpPr>
          <p:cNvPr id="5" name="">
            <a:extLst xmlns:a="http://schemas.openxmlformats.org/drawingml/2006/main">
              <a:ext uri="{FF2B5EF4-FFF2-40B4-BE49-F238E27FC236}">
                <a16:creationId xmlns:a16="http://schemas.microsoft.com/office/drawing/2014/main" id="{F5D52E0E-0E0A-4C4D-8BC0-0B5C1F09E4B9}"/>
              </a:ext>
            </a:extLst>
          </p:cNvPr>
          <p:cNvSpPr>
            <a:spLocks xmlns:a="http://schemas.openxmlformats.org/drawingml/2006/main" noGrp="1"/>
          </p:cNvSpPr>
          <p:nvPr/>
        </p:nvSpPr>
        <p:spPr>
          <a:xfrm xmlns:a="http://schemas.openxmlformats.org/drawingml/2006/main">
            <a:off x="1724025" y="5619750"/>
            <a:ext cx="114300" cy="114300"/>
          </a:xfrm>
          <a:prstGeom xmlns:a="http://schemas.openxmlformats.org/drawingml/2006/main" prst="rect">
            <a:avLst/>
          </a:prstGeom>
          <a:solidFill xmlns:a="http://schemas.openxmlformats.org/drawingml/2006/main">
            <a:srgbClr val="A0A0A0"/>
          </a:solidFill>
          <a:ln xmlns:a="http://schemas.openxmlformats.org/drawingml/2006/main" w="0">
            <a:noFill/>
          </a:ln>
        </p:spPr>
      </p:sp>
      <p:sp>
        <p:nvSpPr>
          <p:cNvPr id="6" name="По плотности спроса">
            <a:extLst xmlns:a="http://schemas.openxmlformats.org/drawingml/2006/main">
              <a:ext uri="{FF2B5EF4-FFF2-40B4-BE49-F238E27FC236}">
                <a16:creationId xmlns:a16="http://schemas.microsoft.com/office/drawing/2014/main" id="{E8603AD5-22DD-41E0-B784-510F919D2F28}"/>
              </a:ext>
            </a:extLst>
          </p:cNvPr>
          <p:cNvSpPr>
            <a:spLocks xmlns:a="http://schemas.openxmlformats.org/drawingml/2006/main" noGrp="1"/>
          </p:cNvSpPr>
          <p:nvPr/>
        </p:nvSpPr>
        <p:spPr>
          <a:xfrm xmlns:a="http://schemas.openxmlformats.org/drawingml/2006/main">
            <a:off x="1952625" y="5543550"/>
            <a:ext cx="2438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06060"/>
                </a:solidFill>
                <a:latin typeface="IBM Plex Sans"/>
                <a:ea typeface="IBM Plex Sans"/>
                <a:cs typeface="IBM Plex Sans"/>
              </a:defRPr>
            </a:pPr>
            <a:r>
              <a:rPr sz="1500" b="0">
                <a:solidFill>
                  <a:srgbClr val="606060"/>
                </a:solidFill>
                <a:latin typeface="IBM Plex Sans"/>
                <a:ea typeface="IBM Plex Sans"/>
                <a:cs typeface="IBM Plex Sans"/>
              </a:rPr>
              <a:t>По плотности спроса</a:t>
            </a:r>
          </a:p>
        </p:txBody>
      </p:sp>
      <p:sp>
        <p:nvSpPr>
          <p:cNvPr id="7" name="">
            <a:extLst xmlns:a="http://schemas.openxmlformats.org/drawingml/2006/main">
              <a:ext uri="{FF2B5EF4-FFF2-40B4-BE49-F238E27FC236}">
                <a16:creationId xmlns:a16="http://schemas.microsoft.com/office/drawing/2014/main" id="{F9DF8436-4C82-4F4C-AF5C-41BCA3921290}"/>
              </a:ext>
            </a:extLst>
          </p:cNvPr>
          <p:cNvSpPr>
            <a:spLocks xmlns:a="http://schemas.openxmlformats.org/drawingml/2006/main" noGrp="1"/>
          </p:cNvSpPr>
          <p:nvPr/>
        </p:nvSpPr>
        <p:spPr>
          <a:xfrm xmlns:a="http://schemas.openxmlformats.org/drawingml/2006/main">
            <a:off x="4552950" y="5619750"/>
            <a:ext cx="114300" cy="114300"/>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8" name="Энергоконтур">
            <a:extLst xmlns:a="http://schemas.openxmlformats.org/drawingml/2006/main">
              <a:ext uri="{FF2B5EF4-FFF2-40B4-BE49-F238E27FC236}">
                <a16:creationId xmlns:a16="http://schemas.microsoft.com/office/drawing/2014/main" id="{54D42F01-C705-43F5-B8CF-FAE33B61D5A6}"/>
              </a:ext>
            </a:extLst>
          </p:cNvPr>
          <p:cNvSpPr>
            <a:spLocks xmlns:a="http://schemas.openxmlformats.org/drawingml/2006/main" noGrp="1"/>
          </p:cNvSpPr>
          <p:nvPr/>
        </p:nvSpPr>
        <p:spPr>
          <a:xfrm xmlns:a="http://schemas.openxmlformats.org/drawingml/2006/main">
            <a:off x="4781550" y="5543550"/>
            <a:ext cx="2114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06060"/>
                </a:solidFill>
                <a:latin typeface="IBM Plex Sans"/>
                <a:ea typeface="IBM Plex Sans"/>
                <a:cs typeface="IBM Plex Sans"/>
              </a:defRPr>
            </a:pPr>
            <a:r>
              <a:rPr sz="1500" b="0">
                <a:solidFill>
                  <a:srgbClr val="606060"/>
                </a:solidFill>
                <a:latin typeface="IBM Plex Sans"/>
                <a:ea typeface="IBM Plex Sans"/>
                <a:cs typeface="IBM Plex Sans"/>
              </a:rPr>
              <a:t>Энергоконтур</a:t>
            </a:r>
          </a:p>
        </p:txBody>
      </p:sp>
      <p:sp>
        <p:nvSpPr>
          <p:cNvPr id="9" name="Более мощная западная&#10;станция пр">
            <a:extLst xmlns:a="http://schemas.openxmlformats.org/drawingml/2006/main">
              <a:ext uri="{FF2B5EF4-FFF2-40B4-BE49-F238E27FC236}">
                <a16:creationId xmlns:a16="http://schemas.microsoft.com/office/drawing/2014/main" id="{A123EECD-4E08-482F-8A33-6047756D9AE2}"/>
              </a:ext>
            </a:extLst>
          </p:cNvPr>
          <p:cNvSpPr>
            <a:spLocks xmlns:a="http://schemas.openxmlformats.org/drawingml/2006/main" noGrp="1"/>
          </p:cNvSpPr>
          <p:nvPr/>
        </p:nvSpPr>
        <p:spPr>
          <a:xfrm xmlns:a="http://schemas.openxmlformats.org/drawingml/2006/main">
            <a:off x="8058150" y="2133600"/>
            <a:ext cx="34575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anrope"/>
                <a:ea typeface="Manrope"/>
                <a:cs typeface="Manrope"/>
              </a:defRPr>
            </a:pPr>
            <a:r>
              <a:rPr sz="2250" b="1">
                <a:solidFill>
                  <a:srgbClr val="151515"/>
                </a:solidFill>
                <a:latin typeface="Manrope"/>
                <a:ea typeface="Manrope"/>
                <a:cs typeface="Manrope"/>
              </a:rPr>
              <a:t>Более мощная западная</a:t>
            </a:r>
          </a:p>
          <a:p xmlns:a="http://schemas.openxmlformats.org/drawingml/2006/main">
            <a:pPr algn="l">
              <a:defRPr sz="2250" b="1">
                <a:solidFill>
                  <a:srgbClr val="151515"/>
                </a:solidFill>
                <a:latin typeface="Manrope"/>
                <a:ea typeface="Manrope"/>
                <a:cs typeface="Manrope"/>
              </a:defRPr>
            </a:pPr>
            <a:r>
              <a:rPr sz="2250" b="1">
                <a:solidFill>
                  <a:srgbClr val="151515"/>
                </a:solidFill>
                <a:latin typeface="Manrope"/>
                <a:ea typeface="Manrope"/>
                <a:cs typeface="Manrope"/>
              </a:rPr>
              <a:t>станция принимает</a:t>
            </a:r>
          </a:p>
          <a:p xmlns:a="http://schemas.openxmlformats.org/drawingml/2006/main">
            <a:pPr algn="l">
              <a:defRPr sz="2250" b="1">
                <a:solidFill>
                  <a:srgbClr val="151515"/>
                </a:solidFill>
                <a:latin typeface="Manrope"/>
                <a:ea typeface="Manrope"/>
                <a:cs typeface="Manrope"/>
              </a:defRPr>
            </a:pPr>
            <a:r>
              <a:rPr sz="2250" b="1">
                <a:solidFill>
                  <a:srgbClr val="151515"/>
                </a:solidFill>
                <a:latin typeface="Manrope"/>
                <a:ea typeface="Manrope"/>
                <a:cs typeface="Manrope"/>
              </a:rPr>
              <a:t>дополнительную нагрузку</a:t>
            </a:r>
          </a:p>
        </p:txBody>
      </p:sp>
      <p:sp>
        <p:nvSpPr>
          <p:cNvPr id="10" name="Выбор соседней станции:&#10;дорога, ">
            <a:extLst xmlns:a="http://schemas.openxmlformats.org/drawingml/2006/main">
              <a:ext uri="{FF2B5EF4-FFF2-40B4-BE49-F238E27FC236}">
                <a16:creationId xmlns:a16="http://schemas.microsoft.com/office/drawing/2014/main" id="{77AD31ED-C509-4FBA-AE19-1363366242CA}"/>
              </a:ext>
            </a:extLst>
          </p:cNvPr>
          <p:cNvSpPr>
            <a:spLocks xmlns:a="http://schemas.openxmlformats.org/drawingml/2006/main" noGrp="1"/>
          </p:cNvSpPr>
          <p:nvPr/>
        </p:nvSpPr>
        <p:spPr>
          <a:xfrm xmlns:a="http://schemas.openxmlformats.org/drawingml/2006/main">
            <a:off x="8058150" y="3733800"/>
            <a:ext cx="3457575"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Выбор соседней станции:</a:t>
            </a:r>
          </a:p>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дорога, очередь и время</a:t>
            </a:r>
          </a:p>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до отъезда. При отказе</a:t>
            </a:r>
          </a:p>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проверяем возможность</a:t>
            </a:r>
          </a:p>
          <a:p xmlns:a="http://schemas.openxmlformats.org/drawingml/2006/main">
            <a:pPr algn="l">
              <a:defRPr sz="1875" b="0">
                <a:solidFill>
                  <a:srgbClr val="606060"/>
                </a:solidFill>
                <a:latin typeface="IBM Plex Sans"/>
                <a:ea typeface="IBM Plex Sans"/>
                <a:cs typeface="IBM Plex Sans"/>
              </a:defRPr>
            </a:pPr>
            <a:r>
              <a:rPr sz="1875" b="0">
                <a:solidFill>
                  <a:srgbClr val="606060"/>
                </a:solidFill>
                <a:latin typeface="IBM Plex Sans"/>
                <a:ea typeface="IBM Plex Sans"/>
                <a:cs typeface="IBM Plex Sans"/>
              </a:rPr>
              <a:t>переезда</a:t>
            </a:r>
          </a:p>
        </p:txBody>
      </p:sp>
      <p:sp>
        <p:nvSpPr>
          <p:cNvPr id="11" name="Площадки одинаковы; сравниваются">
            <a:extLst xmlns:a="http://schemas.openxmlformats.org/drawingml/2006/main">
              <a:ext uri="{FF2B5EF4-FFF2-40B4-BE49-F238E27FC236}">
                <a16:creationId xmlns:a16="http://schemas.microsoft.com/office/drawing/2014/main" id="{1C8933E8-1FD0-47D4-99F8-7FA46DB1F2C8}"/>
              </a:ext>
            </a:extLst>
          </p:cNvPr>
          <p:cNvSpPr>
            <a:spLocks xmlns:a="http://schemas.openxmlformats.org/drawingml/2006/main" noGrp="1"/>
          </p:cNvSpPr>
          <p:nvPr/>
        </p:nvSpPr>
        <p:spPr>
          <a:xfrm xmlns:a="http://schemas.openxmlformats.org/drawingml/2006/main">
            <a:off x="685800" y="611505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515"/>
                </a:solidFill>
                <a:latin typeface="IBM Plex Sans"/>
                <a:ea typeface="IBM Plex Sans"/>
                <a:cs typeface="IBM Plex Sans"/>
              </a:defRPr>
            </a:pPr>
            <a:r>
              <a:rPr sz="1725" b="1">
                <a:solidFill>
                  <a:srgbClr val="151515"/>
                </a:solidFill>
                <a:latin typeface="IBM Plex Sans"/>
                <a:ea typeface="IBM Plex Sans"/>
                <a:cs typeface="IBM Plex Sans"/>
              </a:rPr>
              <a:t>Площадки одинаковы; сравниваются разные комплекты оборудования</a:t>
            </a:r>
          </a:p>
        </p:txBody>
      </p:sp>
      <p:sp>
        <p:nvSpPr>
          <p:cNvPr id="12" name="Сценарный расчёт при одинаковых ">
            <a:extLst xmlns:a="http://schemas.openxmlformats.org/drawingml/2006/main">
              <a:ext uri="{FF2B5EF4-FFF2-40B4-BE49-F238E27FC236}">
                <a16:creationId xmlns:a16="http://schemas.microsoft.com/office/drawing/2014/main" id="{FCCE4AE8-E82E-4685-A52E-5A9CB6256D7B}"/>
              </a:ext>
            </a:extLst>
          </p:cNvPr>
          <p:cNvSpPr>
            <a:spLocks xmlns:a="http://schemas.openxmlformats.org/drawingml/2006/main" noGrp="1"/>
          </p:cNvSpPr>
          <p:nvPr/>
        </p:nvSpPr>
        <p:spPr>
          <a:xfrm xmlns:a="http://schemas.openxmlformats.org/drawingml/2006/main">
            <a:off x="685800" y="6505575"/>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06060"/>
                </a:solidFill>
                <a:latin typeface="IBM Plex Sans"/>
                <a:ea typeface="IBM Plex Sans"/>
                <a:cs typeface="IBM Plex Sans"/>
              </a:defRPr>
            </a:pPr>
            <a:r>
              <a:rPr sz="1200" b="0">
                <a:solidFill>
                  <a:srgbClr val="606060"/>
                </a:solidFill>
                <a:latin typeface="IBM Plex Sans"/>
                <a:ea typeface="IBM Plex Sans"/>
                <a:cs typeface="IBM Plex Sans"/>
              </a:rPr>
              <a:t>Сценарный расчёт при одинаковых внешних прибытиях; потребность и сетевые условия предположены</a:t>
            </a:r>
          </a:p>
        </p:txBody>
      </p:sp>
    </p:spTree>
    <p:extLst>
      <p:ext uri="{BB962C8B-B14F-4D97-AF65-F5344CB8AC3E}">
        <p14:creationId xmlns:p14="http://schemas.microsoft.com/office/powerpoint/2010/main" val="163360466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Как выбрать качество обслуживани">
            <a:extLst xmlns:a="http://schemas.openxmlformats.org/drawingml/2006/main">
              <a:ext uri="{FF2B5EF4-FFF2-40B4-BE49-F238E27FC236}">
                <a16:creationId xmlns:a16="http://schemas.microsoft.com/office/drawing/2014/main" id="{6B35EFDB-1C18-40FB-BD1D-403FE638B95C}"/>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anrope"/>
                <a:ea typeface="Manrope"/>
                <a:cs typeface="Manrope"/>
              </a:defRPr>
            </a:pPr>
            <a:r>
              <a:rPr sz="3300" b="1">
                <a:solidFill>
                  <a:srgbClr val="151515"/>
                </a:solidFill>
                <a:latin typeface="Manrope"/>
                <a:ea typeface="Manrope"/>
                <a:cs typeface="Manrope"/>
              </a:rPr>
              <a:t>Как выбрать качество обслуживания и цену</a:t>
            </a:r>
          </a:p>
        </p:txBody>
      </p:sp>
      <p:sp>
        <p:nvSpPr>
          <p:cNvPr id="2" name="09">
            <a:extLst xmlns:a="http://schemas.openxmlformats.org/drawingml/2006/main">
              <a:ext uri="{FF2B5EF4-FFF2-40B4-BE49-F238E27FC236}">
                <a16:creationId xmlns:a16="http://schemas.microsoft.com/office/drawing/2014/main" id="{AB661BD3-E3EC-4412-86E2-DD80A649F698}"/>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IBM Plex Sans"/>
                <a:ea typeface="IBM Plex Sans"/>
                <a:cs typeface="IBM Plex Sans"/>
              </a:defRPr>
            </a:pPr>
            <a:r>
              <a:rPr sz="1200" b="0">
                <a:solidFill>
                  <a:srgbClr val="606060"/>
                </a:solidFill>
                <a:latin typeface="IBM Plex Sans"/>
                <a:ea typeface="IBM Plex Sans"/>
                <a:cs typeface="IBM Plex Sans"/>
              </a:rPr>
              <a:t>09</a:t>
            </a:r>
          </a:p>
        </p:txBody>
      </p:sp>
      <p:sp>
        <p:nvSpPr>
          <p:cNvPr id="3" name="Варианты сравниваются на одних и">
            <a:extLst xmlns:a="http://schemas.openxmlformats.org/drawingml/2006/main">
              <a:ext uri="{FF2B5EF4-FFF2-40B4-BE49-F238E27FC236}">
                <a16:creationId xmlns:a16="http://schemas.microsoft.com/office/drawing/2014/main" id="{9AAA734E-DC62-44C1-904F-12EDF0FEC253}"/>
              </a:ext>
            </a:extLst>
          </p:cNvPr>
          <p:cNvSpPr>
            <a:spLocks xmlns:a="http://schemas.openxmlformats.org/drawingml/2006/main" noGrp="1"/>
          </p:cNvSpPr>
          <p:nvPr/>
        </p:nvSpPr>
        <p:spPr>
          <a:xfrm xmlns:a="http://schemas.openxmlformats.org/drawingml/2006/main">
            <a:off x="685800" y="1647825"/>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606060"/>
                </a:solidFill>
                <a:latin typeface="IBM Plex Sans"/>
                <a:ea typeface="IBM Plex Sans"/>
                <a:cs typeface="IBM Plex Sans"/>
              </a:defRPr>
            </a:pPr>
            <a:r>
              <a:rPr sz="2025" b="0">
                <a:solidFill>
                  <a:srgbClr val="606060"/>
                </a:solidFill>
                <a:latin typeface="IBM Plex Sans"/>
                <a:ea typeface="IBM Plex Sans"/>
                <a:cs typeface="IBM Plex Sans"/>
              </a:rPr>
              <a:t>Варианты сравниваются на одних исходных данных и в одном бюджете</a:t>
            </a:r>
          </a:p>
        </p:txBody>
      </p:sp>
      <p:graphicFrame>
        <p:nvGraphicFramePr>
          <p:cNvPr id="10" name=""/>
          <p:cNvGraphicFramePr/>
          <p:nvPr/>
        </p:nvGraphicFramePr>
        <p:xfrm>
          <a:off xmlns:a="http://schemas.openxmlformats.org/drawingml/2006/main" x="685800" y="2495550"/>
          <a:ext xmlns:a="http://schemas.openxmlformats.org/drawingml/2006/main" cx="10820400" cy="2457450"/>
        </p:xfrm>
        <a:graphic xmlns:a="http://schemas.openxmlformats.org/drawingml/2006/main">
          <a:graphicData uri="http://schemas.openxmlformats.org/drawingml/2006/table">
            <a:tbl>
              <a:tblPr/>
              <a:tblGrid>
                <a:gridCol w="4953000"/>
                <a:gridCol w="2933700"/>
                <a:gridCol w="2933700"/>
              </a:tblGrid>
              <a:tr h="614363">
                <a:tc>
                  <a:txBody>
                    <a:bodyPr/>
                    <a:lstStyle/>
                    <a:p>
                      <a:r>
                        <a:rPr sz="1725" b="1">
                          <a:solidFill>
                            <a:srgbClr val="FFFFFF"/>
                          </a:solidFill>
                          <a:latin typeface="IBM Plex Sans"/>
                          <a:ea typeface="IBM Plex Sans"/>
                          <a:cs typeface="IBM Plex Sans"/>
                        </a:rPr>
                        <a:t>Показатель</a:t>
                      </a:r>
                    </a:p>
                  </a:txBody>
                  <a:tcPr marL="152400" marR="133350" marT="95250" marB="76200" anchor="ctr">
                    <a:solidFill>
                      <a:srgbClr val="151515"/>
                    </a:solidFill>
                  </a:tcPr>
                </a:tc>
                <a:tc>
                  <a:txBody>
                    <a:bodyPr/>
                    <a:lstStyle/>
                    <a:p>
                      <a:r>
                        <a:rPr sz="1725" b="1">
                          <a:solidFill>
                            <a:srgbClr val="FFFFFF"/>
                          </a:solidFill>
                          <a:latin typeface="IBM Plex Sans"/>
                          <a:ea typeface="IBM Plex Sans"/>
                          <a:cs typeface="IBM Plex Sans"/>
                        </a:rPr>
                        <a:t>По плотности спроса</a:t>
                      </a:r>
                    </a:p>
                  </a:txBody>
                  <a:tcPr marL="152400" marR="133350" marT="95250" marB="76200" anchor="ctr">
                    <a:solidFill>
                      <a:srgbClr val="151515"/>
                    </a:solidFill>
                  </a:tcPr>
                </a:tc>
                <a:tc>
                  <a:txBody>
                    <a:bodyPr/>
                    <a:lstStyle/>
                    <a:p>
                      <a:r>
                        <a:rPr sz="1725" b="1">
                          <a:solidFill>
                            <a:srgbClr val="FFFFFF"/>
                          </a:solidFill>
                          <a:latin typeface="IBM Plex Sans"/>
                          <a:ea typeface="IBM Plex Sans"/>
                          <a:cs typeface="IBM Plex Sans"/>
                        </a:rPr>
                        <a:t>Энергоконтур</a:t>
                      </a:r>
                    </a:p>
                  </a:txBody>
                  <a:tcPr marL="152400" marR="133350" marT="95250" marB="76200" anchor="ctr">
                    <a:solidFill>
                      <a:srgbClr val="151515"/>
                    </a:solidFill>
                  </a:tcPr>
                </a:tc>
              </a:tr>
              <a:tr h="614363">
                <a:tc>
                  <a:txBody>
                    <a:bodyPr/>
                    <a:lstStyle/>
                    <a:p>
                      <a:r>
                        <a:rPr sz="1800">
                          <a:solidFill>
                            <a:srgbClr val="151515"/>
                          </a:solidFill>
                          <a:latin typeface="IBM Plex Sans"/>
                          <a:ea typeface="IBM Plex Sans"/>
                          <a:cs typeface="IBM Plex Sans"/>
                        </a:rPr>
                        <a:t>Доля выданной энергии</a:t>
                      </a:r>
                    </a:p>
                  </a:txBody>
                  <a:tcPr marL="152400" marR="133350" marT="95250" marB="76200" anchor="ctr">
                    <a:solidFill>
                      <a:srgbClr val="F4F4F4"/>
                    </a:solidFill>
                  </a:tcPr>
                </a:tc>
                <a:tc>
                  <a:txBody>
                    <a:bodyPr/>
                    <a:lstStyle/>
                    <a:p>
                      <a:r>
                        <a:rPr sz="1800">
                          <a:solidFill>
                            <a:srgbClr val="151515"/>
                          </a:solidFill>
                          <a:latin typeface="IBM Plex Sans"/>
                          <a:ea typeface="IBM Plex Sans"/>
                          <a:cs typeface="IBM Plex Sans"/>
                        </a:rPr>
                        <a:t>93,29%</a:t>
                      </a:r>
                    </a:p>
                  </a:txBody>
                  <a:tcPr marL="152400" marR="133350" marT="95250" marB="76200" anchor="ctr">
                    <a:solidFill>
                      <a:srgbClr val="F4F4F4"/>
                    </a:solidFill>
                  </a:tcPr>
                </a:tc>
                <a:tc>
                  <a:txBody>
                    <a:bodyPr/>
                    <a:lstStyle/>
                    <a:p>
                      <a:r>
                        <a:rPr sz="1800">
                          <a:solidFill>
                            <a:srgbClr val="151515"/>
                          </a:solidFill>
                          <a:latin typeface="IBM Plex Sans"/>
                          <a:ea typeface="IBM Plex Sans"/>
                          <a:cs typeface="IBM Plex Sans"/>
                        </a:rPr>
                        <a:t>98,57%</a:t>
                      </a:r>
                    </a:p>
                  </a:txBody>
                  <a:tcPr marL="152400" marR="133350" marT="95250" marB="76200" anchor="ctr">
                    <a:solidFill>
                      <a:srgbClr val="F4F4F4"/>
                    </a:solidFill>
                  </a:tcPr>
                </a:tc>
              </a:tr>
              <a:tr h="614363">
                <a:tc>
                  <a:txBody>
                    <a:bodyPr/>
                    <a:lstStyle/>
                    <a:p>
                      <a:r>
                        <a:rPr sz="1800">
                          <a:solidFill>
                            <a:srgbClr val="151515"/>
                          </a:solidFill>
                          <a:latin typeface="IBM Plex Sans"/>
                          <a:ea typeface="IBM Plex Sans"/>
                          <a:cs typeface="IBM Plex Sans"/>
                        </a:rPr>
                        <a:t>Капитальные вложения</a:t>
                      </a:r>
                    </a:p>
                  </a:txBody>
                  <a:tcPr marL="152400" marR="133350" marT="95250" marB="76200" anchor="ctr">
                    <a:solidFill>
                      <a:srgbClr val="FFFFFF"/>
                    </a:solidFill>
                  </a:tcPr>
                </a:tc>
                <a:tc>
                  <a:txBody>
                    <a:bodyPr/>
                    <a:lstStyle/>
                    <a:p>
                      <a:r>
                        <a:rPr sz="1800">
                          <a:solidFill>
                            <a:srgbClr val="151515"/>
                          </a:solidFill>
                          <a:latin typeface="IBM Plex Sans"/>
                          <a:ea typeface="IBM Plex Sans"/>
                          <a:cs typeface="IBM Plex Sans"/>
                        </a:rPr>
                        <a:t>3,70 млн ₽</a:t>
                      </a:r>
                    </a:p>
                  </a:txBody>
                  <a:tcPr marL="152400" marR="133350" marT="95250" marB="76200" anchor="ctr">
                    <a:solidFill>
                      <a:srgbClr val="FFFFFF"/>
                    </a:solidFill>
                  </a:tcPr>
                </a:tc>
                <a:tc>
                  <a:txBody>
                    <a:bodyPr/>
                    <a:lstStyle/>
                    <a:p>
                      <a:r>
                        <a:rPr sz="1800">
                          <a:solidFill>
                            <a:srgbClr val="151515"/>
                          </a:solidFill>
                          <a:latin typeface="IBM Plex Sans"/>
                          <a:ea typeface="IBM Plex Sans"/>
                          <a:cs typeface="IBM Plex Sans"/>
                        </a:rPr>
                        <a:t>5,20 млн ₽</a:t>
                      </a:r>
                    </a:p>
                  </a:txBody>
                  <a:tcPr marL="152400" marR="133350" marT="95250" marB="76200" anchor="ctr">
                    <a:solidFill>
                      <a:srgbClr val="FFFFFF"/>
                    </a:solidFill>
                  </a:tcPr>
                </a:tc>
              </a:tr>
              <a:tr h="614363">
                <a:tc>
                  <a:txBody>
                    <a:bodyPr/>
                    <a:lstStyle/>
                    <a:p>
                      <a:r>
                        <a:rPr sz="1800">
                          <a:solidFill>
                            <a:srgbClr val="151515"/>
                          </a:solidFill>
                          <a:latin typeface="IBM Plex Sans"/>
                          <a:ea typeface="IBM Plex Sans"/>
                          <a:cs typeface="IBM Plex Sans"/>
                        </a:rPr>
                        <a:t>Обслуживание при отказе</a:t>
                      </a:r>
                    </a:p>
                  </a:txBody>
                  <a:tcPr marL="152400" marR="133350" marT="95250" marB="76200" anchor="ctr">
                    <a:solidFill>
                      <a:srgbClr val="F4F4F4"/>
                    </a:solidFill>
                  </a:tcPr>
                </a:tc>
                <a:tc>
                  <a:txBody>
                    <a:bodyPr/>
                    <a:lstStyle/>
                    <a:p>
                      <a:r>
                        <a:rPr sz="1800">
                          <a:solidFill>
                            <a:srgbClr val="151515"/>
                          </a:solidFill>
                          <a:latin typeface="IBM Plex Sans"/>
                          <a:ea typeface="IBM Plex Sans"/>
                          <a:cs typeface="IBM Plex Sans"/>
                        </a:rPr>
                        <a:t>42,40%</a:t>
                      </a:r>
                    </a:p>
                  </a:txBody>
                  <a:tcPr marL="152400" marR="133350" marT="95250" marB="76200" anchor="ctr">
                    <a:solidFill>
                      <a:srgbClr val="F4F4F4"/>
                    </a:solidFill>
                  </a:tcPr>
                </a:tc>
                <a:tc>
                  <a:txBody>
                    <a:bodyPr/>
                    <a:lstStyle/>
                    <a:p>
                      <a:r>
                        <a:rPr sz="1800">
                          <a:solidFill>
                            <a:srgbClr val="151515"/>
                          </a:solidFill>
                          <a:latin typeface="IBM Plex Sans"/>
                          <a:ea typeface="IBM Plex Sans"/>
                          <a:cs typeface="IBM Plex Sans"/>
                        </a:rPr>
                        <a:t>93,92%</a:t>
                      </a:r>
                    </a:p>
                  </a:txBody>
                  <a:tcPr marL="152400" marR="133350" marT="95250" marB="76200" anchor="ctr">
                    <a:solidFill>
                      <a:srgbClr val="F4F4F4"/>
                    </a:solidFill>
                  </a:tcPr>
                </a:tc>
              </a:tr>
            </a:tbl>
          </a:graphicData>
        </a:graphic>
      </p:graphicFrame>
      <p:sp>
        <p:nvSpPr>
          <p:cNvPr id="5" name="Дополнительные 1,50 млн ₽ повыша">
            <a:extLst xmlns:a="http://schemas.openxmlformats.org/drawingml/2006/main">
              <a:ext uri="{FF2B5EF4-FFF2-40B4-BE49-F238E27FC236}">
                <a16:creationId xmlns:a16="http://schemas.microsoft.com/office/drawing/2014/main" id="{B054DB6F-F6A7-45B0-9074-EBFB19D00B69}"/>
              </a:ext>
            </a:extLst>
          </p:cNvPr>
          <p:cNvSpPr>
            <a:spLocks xmlns:a="http://schemas.openxmlformats.org/drawingml/2006/main" noGrp="1"/>
          </p:cNvSpPr>
          <p:nvPr/>
        </p:nvSpPr>
        <p:spPr>
          <a:xfrm xmlns:a="http://schemas.openxmlformats.org/drawingml/2006/main">
            <a:off x="685800" y="5267325"/>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IBM Plex Sans"/>
                <a:ea typeface="IBM Plex Sans"/>
                <a:cs typeface="IBM Plex Sans"/>
              </a:defRPr>
            </a:pPr>
            <a:r>
              <a:rPr sz="2250" b="1">
                <a:solidFill>
                  <a:srgbClr val="151515"/>
                </a:solidFill>
                <a:latin typeface="IBM Plex Sans"/>
                <a:ea typeface="IBM Plex Sans"/>
                <a:cs typeface="IBM Plex Sans"/>
              </a:rPr>
              <a:t>Дополнительные 1,50 млн ₽ повышают обслуживание</a:t>
            </a:r>
          </a:p>
          <a:p xmlns:a="http://schemas.openxmlformats.org/drawingml/2006/main">
            <a:pPr algn="l">
              <a:defRPr sz="2250" b="1">
                <a:solidFill>
                  <a:srgbClr val="151515"/>
                </a:solidFill>
                <a:latin typeface="IBM Plex Sans"/>
                <a:ea typeface="IBM Plex Sans"/>
                <a:cs typeface="IBM Plex Sans"/>
              </a:defRPr>
            </a:pPr>
            <a:r>
              <a:rPr sz="2250" b="1">
                <a:solidFill>
                  <a:srgbClr val="151515"/>
                </a:solidFill>
                <a:latin typeface="IBM Plex Sans"/>
                <a:ea typeface="IBM Plex Sans"/>
                <a:cs typeface="IBM Plex Sans"/>
              </a:rPr>
              <a:t>и дают резерв при отключении восточной станции</a:t>
            </a:r>
          </a:p>
        </p:txBody>
      </p:sp>
      <p:sp>
        <p:nvSpPr>
          <p:cNvPr id="6" name="Предел вложений одинаков; фактич">
            <a:extLst xmlns:a="http://schemas.openxmlformats.org/drawingml/2006/main">
              <a:ext uri="{FF2B5EF4-FFF2-40B4-BE49-F238E27FC236}">
                <a16:creationId xmlns:a16="http://schemas.microsoft.com/office/drawing/2014/main" id="{1F827562-E55A-46F1-9912-9422592F6274}"/>
              </a:ext>
            </a:extLst>
          </p:cNvPr>
          <p:cNvSpPr>
            <a:spLocks xmlns:a="http://schemas.openxmlformats.org/drawingml/2006/main" noGrp="1"/>
          </p:cNvSpPr>
          <p:nvPr/>
        </p:nvSpPr>
        <p:spPr>
          <a:xfrm xmlns:a="http://schemas.openxmlformats.org/drawingml/2006/main">
            <a:off x="685800" y="63246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06060"/>
                </a:solidFill>
                <a:latin typeface="IBM Plex Sans"/>
                <a:ea typeface="IBM Plex Sans"/>
                <a:cs typeface="IBM Plex Sans"/>
              </a:defRPr>
            </a:pPr>
            <a:r>
              <a:rPr sz="1275" b="0">
                <a:solidFill>
                  <a:srgbClr val="606060"/>
                </a:solidFill>
                <a:latin typeface="IBM Plex Sans"/>
                <a:ea typeface="IBM Plex Sans"/>
                <a:cs typeface="IBM Plex Sans"/>
              </a:rPr>
              <a:t>Предел вложений одинаков; фактические расходы различаются. Спрос, мощности и цены — сценарные.</a:t>
            </a:r>
          </a:p>
        </p:txBody>
      </p:sp>
    </p:spTree>
    <p:extLst>
      <p:ext uri="{BB962C8B-B14F-4D97-AF65-F5344CB8AC3E}">
        <p14:creationId xmlns:p14="http://schemas.microsoft.com/office/powerpoint/2010/main" val="9769219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Что получает заказчик">
            <a:extLst xmlns:a="http://schemas.openxmlformats.org/drawingml/2006/main">
              <a:ext uri="{FF2B5EF4-FFF2-40B4-BE49-F238E27FC236}">
                <a16:creationId xmlns:a16="http://schemas.microsoft.com/office/drawing/2014/main" id="{18785EF7-0146-404A-AD61-07E6E364BED8}"/>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anrope"/>
                <a:ea typeface="Manrope"/>
                <a:cs typeface="Manrope"/>
              </a:defRPr>
            </a:pPr>
            <a:r>
              <a:rPr sz="3300" b="1">
                <a:solidFill>
                  <a:srgbClr val="151515"/>
                </a:solidFill>
                <a:latin typeface="Manrope"/>
                <a:ea typeface="Manrope"/>
                <a:cs typeface="Manrope"/>
              </a:rPr>
              <a:t>Что получает заказчик</a:t>
            </a:r>
          </a:p>
        </p:txBody>
      </p:sp>
      <p:sp>
        <p:nvSpPr>
          <p:cNvPr id="2" name="10">
            <a:extLst xmlns:a="http://schemas.openxmlformats.org/drawingml/2006/main">
              <a:ext uri="{FF2B5EF4-FFF2-40B4-BE49-F238E27FC236}">
                <a16:creationId xmlns:a16="http://schemas.microsoft.com/office/drawing/2014/main" id="{69C62A67-9C33-4A4D-BBA0-1E1370C26C2F}"/>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IBM Plex Sans"/>
                <a:ea typeface="IBM Plex Sans"/>
                <a:cs typeface="IBM Plex Sans"/>
              </a:defRPr>
            </a:pPr>
            <a:r>
              <a:rPr sz="1200" b="0">
                <a:solidFill>
                  <a:srgbClr val="606060"/>
                </a:solidFill>
                <a:latin typeface="IBM Plex Sans"/>
                <a:ea typeface="IBM Plex Sans"/>
                <a:cs typeface="IBM Plex Sans"/>
              </a:rPr>
              <a:t>10</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a5524ad11a94a53"/>
          <a:stretch xmlns:a="http://schemas.openxmlformats.org/drawingml/2006/main"/>
        </p:blipFill>
        <p:spPr>
          <a:xfrm xmlns:a="http://schemas.openxmlformats.org/drawingml/2006/main">
            <a:off x="688181" y="1905000"/>
            <a:ext cx="5300663" cy="3533775"/>
          </a:xfrm>
          <a:prstGeom xmlns:a="http://schemas.openxmlformats.org/drawingml/2006/main" prst="rect">
            <a:avLst/>
          </a:prstGeom>
        </p:spPr>
      </p:pic>
      <p:sp>
        <p:nvSpPr>
          <p:cNvPr id="4" name="План строительства">
            <a:extLst xmlns:a="http://schemas.openxmlformats.org/drawingml/2006/main">
              <a:ext uri="{FF2B5EF4-FFF2-40B4-BE49-F238E27FC236}">
                <a16:creationId xmlns:a16="http://schemas.microsoft.com/office/drawing/2014/main" id="{FB560354-1811-432A-9730-652F97FB1173}"/>
              </a:ext>
            </a:extLst>
          </p:cNvPr>
          <p:cNvSpPr>
            <a:spLocks xmlns:a="http://schemas.openxmlformats.org/drawingml/2006/main" noGrp="1"/>
          </p:cNvSpPr>
          <p:nvPr/>
        </p:nvSpPr>
        <p:spPr>
          <a:xfrm xmlns:a="http://schemas.openxmlformats.org/drawingml/2006/main">
            <a:off x="6515100" y="1933575"/>
            <a:ext cx="4991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IBM Plex Sans"/>
                <a:ea typeface="IBM Plex Sans"/>
                <a:cs typeface="IBM Plex Sans"/>
              </a:defRPr>
            </a:pPr>
            <a:r>
              <a:rPr sz="2100" b="1">
                <a:solidFill>
                  <a:srgbClr val="151515"/>
                </a:solidFill>
                <a:latin typeface="IBM Plex Sans"/>
                <a:ea typeface="IBM Plex Sans"/>
                <a:cs typeface="IBM Plex Sans"/>
              </a:rPr>
              <a:t>План строительства</a:t>
            </a:r>
          </a:p>
        </p:txBody>
      </p:sp>
      <p:sp>
        <p:nvSpPr>
          <p:cNvPr id="5" name="Площадки, оснащение и сроки">
            <a:extLst xmlns:a="http://schemas.openxmlformats.org/drawingml/2006/main">
              <a:ext uri="{FF2B5EF4-FFF2-40B4-BE49-F238E27FC236}">
                <a16:creationId xmlns:a16="http://schemas.microsoft.com/office/drawing/2014/main" id="{C68C1BD8-EA7A-4310-B7DD-60C303127242}"/>
              </a:ext>
            </a:extLst>
          </p:cNvPr>
          <p:cNvSpPr>
            <a:spLocks xmlns:a="http://schemas.openxmlformats.org/drawingml/2006/main" noGrp="1"/>
          </p:cNvSpPr>
          <p:nvPr/>
        </p:nvSpPr>
        <p:spPr>
          <a:xfrm xmlns:a="http://schemas.openxmlformats.org/drawingml/2006/main">
            <a:off x="6515100" y="2343150"/>
            <a:ext cx="4991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IBM Plex Sans"/>
                <a:ea typeface="IBM Plex Sans"/>
                <a:cs typeface="IBM Plex Sans"/>
              </a:defRPr>
            </a:pPr>
            <a:r>
              <a:rPr sz="1725" b="0">
                <a:solidFill>
                  <a:srgbClr val="606060"/>
                </a:solidFill>
                <a:latin typeface="IBM Plex Sans"/>
                <a:ea typeface="IBM Plex Sans"/>
                <a:cs typeface="IBM Plex Sans"/>
              </a:rPr>
              <a:t>Площадки, оснащение и сроки</a:t>
            </a:r>
          </a:p>
        </p:txBody>
      </p:sp>
      <p:sp>
        <p:nvSpPr>
          <p:cNvPr id="6" name="Энергоснабжение">
            <a:extLst xmlns:a="http://schemas.openxmlformats.org/drawingml/2006/main">
              <a:ext uri="{FF2B5EF4-FFF2-40B4-BE49-F238E27FC236}">
                <a16:creationId xmlns:a16="http://schemas.microsoft.com/office/drawing/2014/main" id="{DB208FD4-7A7B-4BC9-A5F8-8BD6B03C0412}"/>
              </a:ext>
            </a:extLst>
          </p:cNvPr>
          <p:cNvSpPr>
            <a:spLocks xmlns:a="http://schemas.openxmlformats.org/drawingml/2006/main" noGrp="1"/>
          </p:cNvSpPr>
          <p:nvPr/>
        </p:nvSpPr>
        <p:spPr>
          <a:xfrm xmlns:a="http://schemas.openxmlformats.org/drawingml/2006/main">
            <a:off x="6515100" y="2781300"/>
            <a:ext cx="4991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IBM Plex Sans"/>
                <a:ea typeface="IBM Plex Sans"/>
                <a:cs typeface="IBM Plex Sans"/>
              </a:defRPr>
            </a:pPr>
            <a:r>
              <a:rPr sz="2100" b="1">
                <a:solidFill>
                  <a:srgbClr val="151515"/>
                </a:solidFill>
                <a:latin typeface="IBM Plex Sans"/>
                <a:ea typeface="IBM Plex Sans"/>
                <a:cs typeface="IBM Plex Sans"/>
              </a:rPr>
              <a:t>Энергоснабжение</a:t>
            </a:r>
          </a:p>
        </p:txBody>
      </p:sp>
      <p:sp>
        <p:nvSpPr>
          <p:cNvPr id="7" name="Подключения и допустимые решения">
            <a:extLst xmlns:a="http://schemas.openxmlformats.org/drawingml/2006/main">
              <a:ext uri="{FF2B5EF4-FFF2-40B4-BE49-F238E27FC236}">
                <a16:creationId xmlns:a16="http://schemas.microsoft.com/office/drawing/2014/main" id="{15CC6462-26AF-47EB-B46A-BF821394356A}"/>
              </a:ext>
            </a:extLst>
          </p:cNvPr>
          <p:cNvSpPr>
            <a:spLocks xmlns:a="http://schemas.openxmlformats.org/drawingml/2006/main" noGrp="1"/>
          </p:cNvSpPr>
          <p:nvPr/>
        </p:nvSpPr>
        <p:spPr>
          <a:xfrm xmlns:a="http://schemas.openxmlformats.org/drawingml/2006/main">
            <a:off x="6515100" y="3190875"/>
            <a:ext cx="4991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IBM Plex Sans"/>
                <a:ea typeface="IBM Plex Sans"/>
                <a:cs typeface="IBM Plex Sans"/>
              </a:defRPr>
            </a:pPr>
            <a:r>
              <a:rPr sz="1725" b="0">
                <a:solidFill>
                  <a:srgbClr val="606060"/>
                </a:solidFill>
                <a:latin typeface="IBM Plex Sans"/>
                <a:ea typeface="IBM Plex Sans"/>
                <a:cs typeface="IBM Plex Sans"/>
              </a:rPr>
              <a:t>Подключения и допустимые решения</a:t>
            </a:r>
          </a:p>
        </p:txBody>
      </p:sp>
      <p:sp>
        <p:nvSpPr>
          <p:cNvPr id="8" name="Последствия">
            <a:extLst xmlns:a="http://schemas.openxmlformats.org/drawingml/2006/main">
              <a:ext uri="{FF2B5EF4-FFF2-40B4-BE49-F238E27FC236}">
                <a16:creationId xmlns:a16="http://schemas.microsoft.com/office/drawing/2014/main" id="{E5F8A1E4-DCC2-4DA3-89C3-A41DEA6FD07B}"/>
              </a:ext>
            </a:extLst>
          </p:cNvPr>
          <p:cNvSpPr>
            <a:spLocks xmlns:a="http://schemas.openxmlformats.org/drawingml/2006/main" noGrp="1"/>
          </p:cNvSpPr>
          <p:nvPr/>
        </p:nvSpPr>
        <p:spPr>
          <a:xfrm xmlns:a="http://schemas.openxmlformats.org/drawingml/2006/main">
            <a:off x="6515100" y="3629025"/>
            <a:ext cx="4991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IBM Plex Sans"/>
                <a:ea typeface="IBM Plex Sans"/>
                <a:cs typeface="IBM Plex Sans"/>
              </a:defRPr>
            </a:pPr>
            <a:r>
              <a:rPr sz="2100" b="1">
                <a:solidFill>
                  <a:srgbClr val="151515"/>
                </a:solidFill>
                <a:latin typeface="IBM Plex Sans"/>
                <a:ea typeface="IBM Plex Sans"/>
                <a:cs typeface="IBM Plex Sans"/>
              </a:rPr>
              <a:t>Последствия</a:t>
            </a:r>
          </a:p>
        </p:txBody>
      </p:sp>
      <p:sp>
        <p:nvSpPr>
          <p:cNvPr id="9" name="Обслуживание, очереди, затраты и">
            <a:extLst xmlns:a="http://schemas.openxmlformats.org/drawingml/2006/main">
              <a:ext uri="{FF2B5EF4-FFF2-40B4-BE49-F238E27FC236}">
                <a16:creationId xmlns:a16="http://schemas.microsoft.com/office/drawing/2014/main" id="{07849C92-B056-444F-ACE0-C940D1E7FF83}"/>
              </a:ext>
            </a:extLst>
          </p:cNvPr>
          <p:cNvSpPr>
            <a:spLocks xmlns:a="http://schemas.openxmlformats.org/drawingml/2006/main" noGrp="1"/>
          </p:cNvSpPr>
          <p:nvPr/>
        </p:nvSpPr>
        <p:spPr>
          <a:xfrm xmlns:a="http://schemas.openxmlformats.org/drawingml/2006/main">
            <a:off x="6515100" y="4038600"/>
            <a:ext cx="4991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IBM Plex Sans"/>
                <a:ea typeface="IBM Plex Sans"/>
                <a:cs typeface="IBM Plex Sans"/>
              </a:defRPr>
            </a:pPr>
            <a:r>
              <a:rPr sz="1725" b="0">
                <a:solidFill>
                  <a:srgbClr val="606060"/>
                </a:solidFill>
                <a:latin typeface="IBM Plex Sans"/>
                <a:ea typeface="IBM Plex Sans"/>
                <a:cs typeface="IBM Plex Sans"/>
              </a:rPr>
              <a:t>Обслуживание, очереди, затраты и риски</a:t>
            </a:r>
          </a:p>
        </p:txBody>
      </p:sp>
      <p:sp>
        <p:nvSpPr>
          <p:cNvPr id="10" name="Пересчёт">
            <a:extLst xmlns:a="http://schemas.openxmlformats.org/drawingml/2006/main">
              <a:ext uri="{FF2B5EF4-FFF2-40B4-BE49-F238E27FC236}">
                <a16:creationId xmlns:a16="http://schemas.microsoft.com/office/drawing/2014/main" id="{1F7A4568-2597-4007-81B5-611F493204D3}"/>
              </a:ext>
            </a:extLst>
          </p:cNvPr>
          <p:cNvSpPr>
            <a:spLocks xmlns:a="http://schemas.openxmlformats.org/drawingml/2006/main" noGrp="1"/>
          </p:cNvSpPr>
          <p:nvPr/>
        </p:nvSpPr>
        <p:spPr>
          <a:xfrm xmlns:a="http://schemas.openxmlformats.org/drawingml/2006/main">
            <a:off x="6515100" y="4476750"/>
            <a:ext cx="4991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IBM Plex Sans"/>
                <a:ea typeface="IBM Plex Sans"/>
                <a:cs typeface="IBM Plex Sans"/>
              </a:defRPr>
            </a:pPr>
            <a:r>
              <a:rPr sz="2100" b="1">
                <a:solidFill>
                  <a:srgbClr val="151515"/>
                </a:solidFill>
                <a:latin typeface="IBM Plex Sans"/>
                <a:ea typeface="IBM Plex Sans"/>
                <a:cs typeface="IBM Plex Sans"/>
              </a:rPr>
              <a:t>Пересчёт</a:t>
            </a:r>
          </a:p>
        </p:txBody>
      </p:sp>
      <p:sp>
        <p:nvSpPr>
          <p:cNvPr id="11" name="Что изменится при новых условиях">
            <a:extLst xmlns:a="http://schemas.openxmlformats.org/drawingml/2006/main">
              <a:ext uri="{FF2B5EF4-FFF2-40B4-BE49-F238E27FC236}">
                <a16:creationId xmlns:a16="http://schemas.microsoft.com/office/drawing/2014/main" id="{BF47D436-2F4A-4131-85B5-64C27C7F54D7}"/>
              </a:ext>
            </a:extLst>
          </p:cNvPr>
          <p:cNvSpPr>
            <a:spLocks xmlns:a="http://schemas.openxmlformats.org/drawingml/2006/main" noGrp="1"/>
          </p:cNvSpPr>
          <p:nvPr/>
        </p:nvSpPr>
        <p:spPr>
          <a:xfrm xmlns:a="http://schemas.openxmlformats.org/drawingml/2006/main">
            <a:off x="6515100" y="4886325"/>
            <a:ext cx="4991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IBM Plex Sans"/>
                <a:ea typeface="IBM Plex Sans"/>
                <a:cs typeface="IBM Plex Sans"/>
              </a:defRPr>
            </a:pPr>
            <a:r>
              <a:rPr sz="1725" b="0">
                <a:solidFill>
                  <a:srgbClr val="606060"/>
                </a:solidFill>
                <a:latin typeface="IBM Plex Sans"/>
                <a:ea typeface="IBM Plex Sans"/>
                <a:cs typeface="IBM Plex Sans"/>
              </a:rPr>
              <a:t>Что изменится при новых условиях</a:t>
            </a:r>
          </a:p>
        </p:txBody>
      </p:sp>
      <p:sp>
        <p:nvSpPr>
          <p:cNvPr id="12" name="">
            <a:extLst xmlns:a="http://schemas.openxmlformats.org/drawingml/2006/main">
              <a:ext uri="{FF2B5EF4-FFF2-40B4-BE49-F238E27FC236}">
                <a16:creationId xmlns:a16="http://schemas.microsoft.com/office/drawing/2014/main" id="{25AFB173-1A42-49C7-8E1D-C562C8611A74}"/>
              </a:ext>
            </a:extLst>
          </p:cNvPr>
          <p:cNvSpPr>
            <a:spLocks xmlns:a="http://schemas.openxmlformats.org/drawingml/2006/main" noGrp="1"/>
          </p:cNvSpPr>
          <p:nvPr/>
        </p:nvSpPr>
        <p:spPr>
          <a:xfrm xmlns:a="http://schemas.openxmlformats.org/drawingml/2006/main">
            <a:off x="685800" y="5762625"/>
            <a:ext cx="10820400"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13" name="Совместная расчётная модель реал">
            <a:extLst xmlns:a="http://schemas.openxmlformats.org/drawingml/2006/main">
              <a:ext uri="{FF2B5EF4-FFF2-40B4-BE49-F238E27FC236}">
                <a16:creationId xmlns:a16="http://schemas.microsoft.com/office/drawing/2014/main" id="{EC5FA256-05A8-4A06-ADDB-D05977410C05}"/>
              </a:ext>
            </a:extLst>
          </p:cNvPr>
          <p:cNvSpPr>
            <a:spLocks xmlns:a="http://schemas.openxmlformats.org/drawingml/2006/main" noGrp="1"/>
          </p:cNvSpPr>
          <p:nvPr/>
        </p:nvSpPr>
        <p:spPr>
          <a:xfrm xmlns:a="http://schemas.openxmlformats.org/drawingml/2006/main">
            <a:off x="685800" y="5943600"/>
            <a:ext cx="10791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IBM Plex Sans"/>
                <a:ea typeface="IBM Plex Sans"/>
                <a:cs typeface="IBM Plex Sans"/>
              </a:defRPr>
            </a:pPr>
            <a:r>
              <a:rPr sz="2100" b="1">
                <a:solidFill>
                  <a:srgbClr val="151515"/>
                </a:solidFill>
                <a:latin typeface="IBM Plex Sans"/>
                <a:ea typeface="IBM Plex Sans"/>
                <a:cs typeface="IBM Plex Sans"/>
              </a:rPr>
              <a:t>Совместная расчётная модель реализована в продукте</a:t>
            </a:r>
          </a:p>
        </p:txBody>
      </p:sp>
      <p:sp>
        <p:nvSpPr>
          <p:cNvPr id="14" name="Эффект для конкретного города по">
            <a:extLst xmlns:a="http://schemas.openxmlformats.org/drawingml/2006/main">
              <a:ext uri="{FF2B5EF4-FFF2-40B4-BE49-F238E27FC236}">
                <a16:creationId xmlns:a16="http://schemas.microsoft.com/office/drawing/2014/main" id="{759096DA-9347-423F-8B55-065ACD9726DD}"/>
              </a:ext>
            </a:extLst>
          </p:cNvPr>
          <p:cNvSpPr>
            <a:spLocks xmlns:a="http://schemas.openxmlformats.org/drawingml/2006/main" noGrp="1"/>
          </p:cNvSpPr>
          <p:nvPr/>
        </p:nvSpPr>
        <p:spPr>
          <a:xfrm xmlns:a="http://schemas.openxmlformats.org/drawingml/2006/main">
            <a:off x="685800" y="6419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06060"/>
                </a:solidFill>
                <a:latin typeface="IBM Plex Sans"/>
                <a:ea typeface="IBM Plex Sans"/>
                <a:cs typeface="IBM Plex Sans"/>
              </a:defRPr>
            </a:pPr>
            <a:r>
              <a:rPr sz="1275" b="0">
                <a:solidFill>
                  <a:srgbClr val="606060"/>
                </a:solidFill>
                <a:latin typeface="IBM Plex Sans"/>
                <a:ea typeface="IBM Plex Sans"/>
                <a:cs typeface="IBM Plex Sans"/>
              </a:rPr>
              <a:t>Эффект для конкретного города подтверждается на данных оператора и сетевой организации</a:t>
            </a:r>
          </a:p>
        </p:txBody>
      </p:sp>
    </p:spTree>
    <p:extLst>
      <p:ext uri="{BB962C8B-B14F-4D97-AF65-F5344CB8AC3E}">
        <p14:creationId xmlns:p14="http://schemas.microsoft.com/office/powerpoint/2010/main" val="7059396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Как реализован расчёт">
            <a:extLst xmlns:a="http://schemas.openxmlformats.org/drawingml/2006/main">
              <a:ext uri="{FF2B5EF4-FFF2-40B4-BE49-F238E27FC236}">
                <a16:creationId xmlns:a16="http://schemas.microsoft.com/office/drawing/2014/main" id="{AD7664C9-E562-4821-B4FD-51DFE748E66C}"/>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anrope"/>
                <a:ea typeface="Manrope"/>
                <a:cs typeface="Manrope"/>
              </a:defRPr>
            </a:pPr>
            <a:r>
              <a:rPr sz="3300" b="1">
                <a:solidFill>
                  <a:srgbClr val="151515"/>
                </a:solidFill>
                <a:latin typeface="Manrope"/>
                <a:ea typeface="Manrope"/>
                <a:cs typeface="Manrope"/>
              </a:rPr>
              <a:t>Как реализован расчёт</a:t>
            </a:r>
          </a:p>
        </p:txBody>
      </p:sp>
      <p:sp>
        <p:nvSpPr>
          <p:cNvPr id="2" name="11">
            <a:extLst xmlns:a="http://schemas.openxmlformats.org/drawingml/2006/main">
              <a:ext uri="{FF2B5EF4-FFF2-40B4-BE49-F238E27FC236}">
                <a16:creationId xmlns:a16="http://schemas.microsoft.com/office/drawing/2014/main" id="{F4410184-CD96-4657-914E-36DA719852D1}"/>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IBM Plex Sans"/>
                <a:ea typeface="IBM Plex Sans"/>
                <a:cs typeface="IBM Plex Sans"/>
              </a:defRPr>
            </a:pPr>
            <a:r>
              <a:rPr sz="1200" b="0">
                <a:solidFill>
                  <a:srgbClr val="606060"/>
                </a:solidFill>
                <a:latin typeface="IBM Plex Sans"/>
                <a:ea typeface="IBM Plex Sans"/>
                <a:cs typeface="IBM Plex Sans"/>
              </a:rPr>
              <a:t>11</a:t>
            </a:r>
          </a:p>
        </p:txBody>
      </p:sp>
      <p:sp>
        <p:nvSpPr>
          <p:cNvPr id="3" name="">
            <a:extLst xmlns:a="http://schemas.openxmlformats.org/drawingml/2006/main">
              <a:ext uri="{FF2B5EF4-FFF2-40B4-BE49-F238E27FC236}">
                <a16:creationId xmlns:a16="http://schemas.microsoft.com/office/drawing/2014/main" id="{B5B346CA-618B-4DFB-991E-7FBCEDC80D35}"/>
              </a:ext>
            </a:extLst>
          </p:cNvPr>
          <p:cNvSpPr>
            <a:spLocks xmlns:a="http://schemas.openxmlformats.org/drawingml/2006/main" noGrp="1"/>
          </p:cNvSpPr>
          <p:nvPr/>
        </p:nvSpPr>
        <p:spPr>
          <a:xfrm xmlns:a="http://schemas.openxmlformats.org/drawingml/2006/main">
            <a:off x="685800" y="2219325"/>
            <a:ext cx="32575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4" name="Выбор плана">
            <a:extLst xmlns:a="http://schemas.openxmlformats.org/drawingml/2006/main">
              <a:ext uri="{FF2B5EF4-FFF2-40B4-BE49-F238E27FC236}">
                <a16:creationId xmlns:a16="http://schemas.microsoft.com/office/drawing/2014/main" id="{EDF206CD-B866-4D42-8ADB-2D8BB73D1335}"/>
              </a:ext>
            </a:extLst>
          </p:cNvPr>
          <p:cNvSpPr>
            <a:spLocks xmlns:a="http://schemas.openxmlformats.org/drawingml/2006/main" noGrp="1"/>
          </p:cNvSpPr>
          <p:nvPr/>
        </p:nvSpPr>
        <p:spPr>
          <a:xfrm xmlns:a="http://schemas.openxmlformats.org/drawingml/2006/main">
            <a:off x="685800" y="2476500"/>
            <a:ext cx="327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1515"/>
                </a:solidFill>
                <a:latin typeface="Manrope"/>
                <a:ea typeface="Manrope"/>
                <a:cs typeface="Manrope"/>
              </a:defRPr>
            </a:pPr>
            <a:r>
              <a:rPr sz="2325" b="1">
                <a:solidFill>
                  <a:srgbClr val="151515"/>
                </a:solidFill>
                <a:latin typeface="Manrope"/>
                <a:ea typeface="Manrope"/>
                <a:cs typeface="Manrope"/>
              </a:rPr>
              <a:t>Выбор плана</a:t>
            </a:r>
          </a:p>
        </p:txBody>
      </p:sp>
      <p:sp>
        <p:nvSpPr>
          <p:cNvPr id="5" name="Совместная оптимизация&#10;площадок,">
            <a:extLst xmlns:a="http://schemas.openxmlformats.org/drawingml/2006/main">
              <a:ext uri="{FF2B5EF4-FFF2-40B4-BE49-F238E27FC236}">
                <a16:creationId xmlns:a16="http://schemas.microsoft.com/office/drawing/2014/main" id="{C7627BBE-E098-490C-97DF-AED5B2E639E2}"/>
              </a:ext>
            </a:extLst>
          </p:cNvPr>
          <p:cNvSpPr>
            <a:spLocks xmlns:a="http://schemas.openxmlformats.org/drawingml/2006/main" noGrp="1"/>
          </p:cNvSpPr>
          <p:nvPr/>
        </p:nvSpPr>
        <p:spPr>
          <a:xfrm xmlns:a="http://schemas.openxmlformats.org/drawingml/2006/main">
            <a:off x="685800" y="3152775"/>
            <a:ext cx="32766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06060"/>
                </a:solidFill>
                <a:latin typeface="IBM Plex Sans"/>
                <a:ea typeface="IBM Plex Sans"/>
                <a:cs typeface="IBM Plex Sans"/>
              </a:defRPr>
            </a:pPr>
            <a:r>
              <a:rPr sz="1950" b="0">
                <a:solidFill>
                  <a:srgbClr val="606060"/>
                </a:solidFill>
                <a:latin typeface="IBM Plex Sans"/>
                <a:ea typeface="IBM Plex Sans"/>
                <a:cs typeface="IBM Plex Sans"/>
              </a:rPr>
              <a:t>Совместная оптимизация</a:t>
            </a:r>
          </a:p>
          <a:p xmlns:a="http://schemas.openxmlformats.org/drawingml/2006/main">
            <a:pPr algn="l">
              <a:defRPr sz="1950" b="0">
                <a:solidFill>
                  <a:srgbClr val="606060"/>
                </a:solidFill>
                <a:latin typeface="IBM Plex Sans"/>
                <a:ea typeface="IBM Plex Sans"/>
                <a:cs typeface="IBM Plex Sans"/>
              </a:defRPr>
            </a:pPr>
            <a:r>
              <a:rPr sz="1950" b="0">
                <a:solidFill>
                  <a:srgbClr val="606060"/>
                </a:solidFill>
                <a:latin typeface="IBM Plex Sans"/>
                <a:ea typeface="IBM Plex Sans"/>
                <a:cs typeface="IBM Plex Sans"/>
              </a:rPr>
              <a:t>площадок, комплектов,</a:t>
            </a:r>
          </a:p>
          <a:p xmlns:a="http://schemas.openxmlformats.org/drawingml/2006/main">
            <a:pPr algn="l">
              <a:defRPr sz="1950" b="0">
                <a:solidFill>
                  <a:srgbClr val="606060"/>
                </a:solidFill>
                <a:latin typeface="IBM Plex Sans"/>
                <a:ea typeface="IBM Plex Sans"/>
                <a:cs typeface="IBM Plex Sans"/>
              </a:defRPr>
            </a:pPr>
            <a:r>
              <a:rPr sz="1950" b="0">
                <a:solidFill>
                  <a:srgbClr val="606060"/>
                </a:solidFill>
                <a:latin typeface="IBM Plex Sans"/>
                <a:ea typeface="IBM Plex Sans"/>
                <a:cs typeface="IBM Plex Sans"/>
              </a:rPr>
              <a:t>энергии и вложений</a:t>
            </a:r>
          </a:p>
        </p:txBody>
      </p:sp>
      <p:sp>
        <p:nvSpPr>
          <p:cNvPr id="6" name="Python · Pyomo · HiGHS">
            <a:extLst xmlns:a="http://schemas.openxmlformats.org/drawingml/2006/main">
              <a:ext uri="{FF2B5EF4-FFF2-40B4-BE49-F238E27FC236}">
                <a16:creationId xmlns:a16="http://schemas.microsoft.com/office/drawing/2014/main" id="{B0C2F048-DF91-49B2-AB86-984929373E0F}"/>
              </a:ext>
            </a:extLst>
          </p:cNvPr>
          <p:cNvSpPr>
            <a:spLocks xmlns:a="http://schemas.openxmlformats.org/drawingml/2006/main" noGrp="1"/>
          </p:cNvSpPr>
          <p:nvPr/>
        </p:nvSpPr>
        <p:spPr>
          <a:xfrm xmlns:a="http://schemas.openxmlformats.org/drawingml/2006/main">
            <a:off x="685800" y="5076825"/>
            <a:ext cx="327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51515"/>
                </a:solidFill>
                <a:latin typeface="IBM Plex Sans"/>
                <a:ea typeface="IBM Plex Sans"/>
                <a:cs typeface="IBM Plex Sans"/>
              </a:defRPr>
            </a:pPr>
            <a:r>
              <a:rPr sz="1650" b="1">
                <a:solidFill>
                  <a:srgbClr val="151515"/>
                </a:solidFill>
                <a:latin typeface="IBM Plex Sans"/>
                <a:ea typeface="IBM Plex Sans"/>
                <a:cs typeface="IBM Plex Sans"/>
              </a:rPr>
              <a:t>Python · Pyomo · HiGHS</a:t>
            </a:r>
          </a:p>
        </p:txBody>
      </p:sp>
      <p:sp>
        <p:nvSpPr>
          <p:cNvPr id="7" name="">
            <a:extLst xmlns:a="http://schemas.openxmlformats.org/drawingml/2006/main">
              <a:ext uri="{FF2B5EF4-FFF2-40B4-BE49-F238E27FC236}">
                <a16:creationId xmlns:a16="http://schemas.microsoft.com/office/drawing/2014/main" id="{BBB98090-E3AA-4ED1-8F56-4132145FBD0E}"/>
              </a:ext>
            </a:extLst>
          </p:cNvPr>
          <p:cNvSpPr>
            <a:spLocks xmlns:a="http://schemas.openxmlformats.org/drawingml/2006/main" noGrp="1"/>
          </p:cNvSpPr>
          <p:nvPr/>
        </p:nvSpPr>
        <p:spPr>
          <a:xfrm xmlns:a="http://schemas.openxmlformats.org/drawingml/2006/main">
            <a:off x="4038600" y="3581400"/>
            <a:ext cx="28575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5C5CAB3-2CFE-4A1D-B86C-E674F819849B}"/>
              </a:ext>
            </a:extLst>
          </p:cNvPr>
          <p:cNvSpPr>
            <a:spLocks xmlns:a="http://schemas.openxmlformats.org/drawingml/2006/main" noGrp="1"/>
          </p:cNvSpPr>
          <p:nvPr/>
        </p:nvSpPr>
        <p:spPr>
          <a:xfrm xmlns:a="http://schemas.openxmlformats.org/drawingml/2006/main">
            <a:off x="4467225" y="2219325"/>
            <a:ext cx="32575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9" name="Работа сети">
            <a:extLst xmlns:a="http://schemas.openxmlformats.org/drawingml/2006/main">
              <a:ext uri="{FF2B5EF4-FFF2-40B4-BE49-F238E27FC236}">
                <a16:creationId xmlns:a16="http://schemas.microsoft.com/office/drawing/2014/main" id="{20F73DE4-74AC-4AEA-9774-0014507C057B}"/>
              </a:ext>
            </a:extLst>
          </p:cNvPr>
          <p:cNvSpPr>
            <a:spLocks xmlns:a="http://schemas.openxmlformats.org/drawingml/2006/main" noGrp="1"/>
          </p:cNvSpPr>
          <p:nvPr/>
        </p:nvSpPr>
        <p:spPr>
          <a:xfrm xmlns:a="http://schemas.openxmlformats.org/drawingml/2006/main">
            <a:off x="4467225" y="2476500"/>
            <a:ext cx="327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1515"/>
                </a:solidFill>
                <a:latin typeface="Manrope"/>
                <a:ea typeface="Manrope"/>
                <a:cs typeface="Manrope"/>
              </a:defRPr>
            </a:pPr>
            <a:r>
              <a:rPr sz="2325" b="1">
                <a:solidFill>
                  <a:srgbClr val="151515"/>
                </a:solidFill>
                <a:latin typeface="Manrope"/>
                <a:ea typeface="Manrope"/>
                <a:cs typeface="Manrope"/>
              </a:rPr>
              <a:t>Работа сети</a:t>
            </a:r>
          </a:p>
        </p:txBody>
      </p:sp>
      <p:sp>
        <p:nvSpPr>
          <p:cNvPr id="10" name="Прибытия, очереди,&#10;распределение">
            <a:extLst xmlns:a="http://schemas.openxmlformats.org/drawingml/2006/main">
              <a:ext uri="{FF2B5EF4-FFF2-40B4-BE49-F238E27FC236}">
                <a16:creationId xmlns:a16="http://schemas.microsoft.com/office/drawing/2014/main" id="{C337F510-69DE-4C3A-94C7-84DFDE88A13C}"/>
              </a:ext>
            </a:extLst>
          </p:cNvPr>
          <p:cNvSpPr>
            <a:spLocks xmlns:a="http://schemas.openxmlformats.org/drawingml/2006/main" noGrp="1"/>
          </p:cNvSpPr>
          <p:nvPr/>
        </p:nvSpPr>
        <p:spPr>
          <a:xfrm xmlns:a="http://schemas.openxmlformats.org/drawingml/2006/main">
            <a:off x="4467225" y="3152775"/>
            <a:ext cx="32766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06060"/>
                </a:solidFill>
                <a:latin typeface="IBM Plex Sans"/>
                <a:ea typeface="IBM Plex Sans"/>
                <a:cs typeface="IBM Plex Sans"/>
              </a:defRPr>
            </a:pPr>
            <a:r>
              <a:rPr sz="1950" b="0">
                <a:solidFill>
                  <a:srgbClr val="606060"/>
                </a:solidFill>
                <a:latin typeface="IBM Plex Sans"/>
                <a:ea typeface="IBM Plex Sans"/>
                <a:cs typeface="IBM Plex Sans"/>
              </a:rPr>
              <a:t>Прибытия, очереди,</a:t>
            </a:r>
          </a:p>
          <a:p xmlns:a="http://schemas.openxmlformats.org/drawingml/2006/main">
            <a:pPr algn="l">
              <a:defRPr sz="1950" b="0">
                <a:solidFill>
                  <a:srgbClr val="606060"/>
                </a:solidFill>
                <a:latin typeface="IBM Plex Sans"/>
                <a:ea typeface="IBM Plex Sans"/>
                <a:cs typeface="IBM Plex Sans"/>
              </a:defRPr>
            </a:pPr>
            <a:r>
              <a:rPr sz="1950" b="0">
                <a:solidFill>
                  <a:srgbClr val="606060"/>
                </a:solidFill>
                <a:latin typeface="IBM Plex Sans"/>
                <a:ea typeface="IBM Plex Sans"/>
                <a:cs typeface="IBM Plex Sans"/>
              </a:rPr>
              <a:t>распределение мощности</a:t>
            </a:r>
          </a:p>
          <a:p xmlns:a="http://schemas.openxmlformats.org/drawingml/2006/main">
            <a:pPr algn="l">
              <a:defRPr sz="1950" b="0">
                <a:solidFill>
                  <a:srgbClr val="606060"/>
                </a:solidFill>
                <a:latin typeface="IBM Plex Sans"/>
                <a:ea typeface="IBM Plex Sans"/>
                <a:cs typeface="IBM Plex Sans"/>
              </a:defRPr>
            </a:pPr>
            <a:r>
              <a:rPr sz="1950" b="0">
                <a:solidFill>
                  <a:srgbClr val="606060"/>
                </a:solidFill>
                <a:latin typeface="IBM Plex Sans"/>
                <a:ea typeface="IBM Plex Sans"/>
                <a:cs typeface="IBM Plex Sans"/>
              </a:rPr>
              <a:t>и выбор соседней станции</a:t>
            </a:r>
          </a:p>
        </p:txBody>
      </p:sp>
      <p:sp>
        <p:nvSpPr>
          <p:cNvPr id="11" name="Python · SimPy">
            <a:extLst xmlns:a="http://schemas.openxmlformats.org/drawingml/2006/main">
              <a:ext uri="{FF2B5EF4-FFF2-40B4-BE49-F238E27FC236}">
                <a16:creationId xmlns:a16="http://schemas.microsoft.com/office/drawing/2014/main" id="{07C5CB52-8C04-47ED-B98D-C584A4C0A831}"/>
              </a:ext>
            </a:extLst>
          </p:cNvPr>
          <p:cNvSpPr>
            <a:spLocks xmlns:a="http://schemas.openxmlformats.org/drawingml/2006/main" noGrp="1"/>
          </p:cNvSpPr>
          <p:nvPr/>
        </p:nvSpPr>
        <p:spPr>
          <a:xfrm xmlns:a="http://schemas.openxmlformats.org/drawingml/2006/main">
            <a:off x="4467225" y="5076825"/>
            <a:ext cx="327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51515"/>
                </a:solidFill>
                <a:latin typeface="IBM Plex Sans"/>
                <a:ea typeface="IBM Plex Sans"/>
                <a:cs typeface="IBM Plex Sans"/>
              </a:defRPr>
            </a:pPr>
            <a:r>
              <a:rPr sz="1650" b="1">
                <a:solidFill>
                  <a:srgbClr val="151515"/>
                </a:solidFill>
                <a:latin typeface="IBM Plex Sans"/>
                <a:ea typeface="IBM Plex Sans"/>
                <a:cs typeface="IBM Plex Sans"/>
              </a:rPr>
              <a:t>Python · SimPy</a:t>
            </a:r>
          </a:p>
        </p:txBody>
      </p:sp>
      <p:sp>
        <p:nvSpPr>
          <p:cNvPr id="12" name="">
            <a:extLst xmlns:a="http://schemas.openxmlformats.org/drawingml/2006/main">
              <a:ext uri="{FF2B5EF4-FFF2-40B4-BE49-F238E27FC236}">
                <a16:creationId xmlns:a16="http://schemas.microsoft.com/office/drawing/2014/main" id="{98FA0D3F-EE14-4A01-A363-02B38EE14419}"/>
              </a:ext>
            </a:extLst>
          </p:cNvPr>
          <p:cNvSpPr>
            <a:spLocks xmlns:a="http://schemas.openxmlformats.org/drawingml/2006/main" noGrp="1"/>
          </p:cNvSpPr>
          <p:nvPr/>
        </p:nvSpPr>
        <p:spPr>
          <a:xfrm xmlns:a="http://schemas.openxmlformats.org/drawingml/2006/main">
            <a:off x="7820025" y="3581400"/>
            <a:ext cx="28575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B1F611A-4CE2-467E-9E65-671CFC221736}"/>
              </a:ext>
            </a:extLst>
          </p:cNvPr>
          <p:cNvSpPr>
            <a:spLocks xmlns:a="http://schemas.openxmlformats.org/drawingml/2006/main" noGrp="1"/>
          </p:cNvSpPr>
          <p:nvPr/>
        </p:nvSpPr>
        <p:spPr>
          <a:xfrm xmlns:a="http://schemas.openxmlformats.org/drawingml/2006/main">
            <a:off x="8248650" y="2219325"/>
            <a:ext cx="32575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14" name="Проверка">
            <a:extLst xmlns:a="http://schemas.openxmlformats.org/drawingml/2006/main">
              <a:ext uri="{FF2B5EF4-FFF2-40B4-BE49-F238E27FC236}">
                <a16:creationId xmlns:a16="http://schemas.microsoft.com/office/drawing/2014/main" id="{3DB7DBF3-DC0A-4D8D-99C8-DC5D1F6A072F}"/>
              </a:ext>
            </a:extLst>
          </p:cNvPr>
          <p:cNvSpPr>
            <a:spLocks xmlns:a="http://schemas.openxmlformats.org/drawingml/2006/main" noGrp="1"/>
          </p:cNvSpPr>
          <p:nvPr/>
        </p:nvSpPr>
        <p:spPr>
          <a:xfrm xmlns:a="http://schemas.openxmlformats.org/drawingml/2006/main">
            <a:off x="8248650" y="2476500"/>
            <a:ext cx="327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1515"/>
                </a:solidFill>
                <a:latin typeface="Manrope"/>
                <a:ea typeface="Manrope"/>
                <a:cs typeface="Manrope"/>
              </a:defRPr>
            </a:pPr>
            <a:r>
              <a:rPr sz="2325" b="1">
                <a:solidFill>
                  <a:srgbClr val="151515"/>
                </a:solidFill>
                <a:latin typeface="Manrope"/>
                <a:ea typeface="Manrope"/>
                <a:cs typeface="Manrope"/>
              </a:rPr>
              <a:t>Проверка</a:t>
            </a:r>
          </a:p>
        </p:txBody>
      </p:sp>
      <p:sp>
        <p:nvSpPr>
          <p:cNvPr id="15" name="Энергетический баланс,&#10;ограничен">
            <a:extLst xmlns:a="http://schemas.openxmlformats.org/drawingml/2006/main">
              <a:ext uri="{FF2B5EF4-FFF2-40B4-BE49-F238E27FC236}">
                <a16:creationId xmlns:a16="http://schemas.microsoft.com/office/drawing/2014/main" id="{AA63B90E-160A-4116-9BC4-90FA1C061129}"/>
              </a:ext>
            </a:extLst>
          </p:cNvPr>
          <p:cNvSpPr>
            <a:spLocks xmlns:a="http://schemas.openxmlformats.org/drawingml/2006/main" noGrp="1"/>
          </p:cNvSpPr>
          <p:nvPr/>
        </p:nvSpPr>
        <p:spPr>
          <a:xfrm xmlns:a="http://schemas.openxmlformats.org/drawingml/2006/main">
            <a:off x="8248650" y="3152775"/>
            <a:ext cx="32766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06060"/>
                </a:solidFill>
                <a:latin typeface="IBM Plex Sans"/>
                <a:ea typeface="IBM Plex Sans"/>
                <a:cs typeface="IBM Plex Sans"/>
              </a:defRPr>
            </a:pPr>
            <a:r>
              <a:rPr sz="1950" b="0">
                <a:solidFill>
                  <a:srgbClr val="606060"/>
                </a:solidFill>
                <a:latin typeface="IBM Plex Sans"/>
                <a:ea typeface="IBM Plex Sans"/>
                <a:cs typeface="IBM Plex Sans"/>
              </a:rPr>
              <a:t>Энергетический баланс,</a:t>
            </a:r>
          </a:p>
          <a:p xmlns:a="http://schemas.openxmlformats.org/drawingml/2006/main">
            <a:pPr algn="l">
              <a:defRPr sz="1950" b="0">
                <a:solidFill>
                  <a:srgbClr val="606060"/>
                </a:solidFill>
                <a:latin typeface="IBM Plex Sans"/>
                <a:ea typeface="IBM Plex Sans"/>
                <a:cs typeface="IBM Plex Sans"/>
              </a:defRPr>
            </a:pPr>
            <a:r>
              <a:rPr sz="1950" b="0">
                <a:solidFill>
                  <a:srgbClr val="606060"/>
                </a:solidFill>
                <a:latin typeface="IBM Plex Sans"/>
                <a:ea typeface="IBM Plex Sans"/>
                <a:cs typeface="IBM Plex Sans"/>
              </a:rPr>
              <a:t>ограничения бюджета</a:t>
            </a:r>
          </a:p>
          <a:p xmlns:a="http://schemas.openxmlformats.org/drawingml/2006/main">
            <a:pPr algn="l">
              <a:defRPr sz="1950" b="0">
                <a:solidFill>
                  <a:srgbClr val="606060"/>
                </a:solidFill>
                <a:latin typeface="IBM Plex Sans"/>
                <a:ea typeface="IBM Plex Sans"/>
                <a:cs typeface="IBM Plex Sans"/>
              </a:defRPr>
            </a:pPr>
            <a:r>
              <a:rPr sz="1950" b="0">
                <a:solidFill>
                  <a:srgbClr val="606060"/>
                </a:solidFill>
                <a:latin typeface="IBM Plex Sans"/>
                <a:ea typeface="IBM Plex Sans"/>
                <a:cs typeface="IBM Plex Sans"/>
              </a:rPr>
              <a:t>и качество обслуживания</a:t>
            </a:r>
          </a:p>
        </p:txBody>
      </p:sp>
      <p:sp>
        <p:nvSpPr>
          <p:cNvPr id="16" name="Отдельный аудит результата">
            <a:extLst xmlns:a="http://schemas.openxmlformats.org/drawingml/2006/main">
              <a:ext uri="{FF2B5EF4-FFF2-40B4-BE49-F238E27FC236}">
                <a16:creationId xmlns:a16="http://schemas.microsoft.com/office/drawing/2014/main" id="{D204C4BA-004C-4E94-BD46-B15CAE26270F}"/>
              </a:ext>
            </a:extLst>
          </p:cNvPr>
          <p:cNvSpPr>
            <a:spLocks xmlns:a="http://schemas.openxmlformats.org/drawingml/2006/main" noGrp="1"/>
          </p:cNvSpPr>
          <p:nvPr/>
        </p:nvSpPr>
        <p:spPr>
          <a:xfrm xmlns:a="http://schemas.openxmlformats.org/drawingml/2006/main">
            <a:off x="8248650" y="5076825"/>
            <a:ext cx="327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51515"/>
                </a:solidFill>
                <a:latin typeface="IBM Plex Sans"/>
                <a:ea typeface="IBM Plex Sans"/>
                <a:cs typeface="IBM Plex Sans"/>
              </a:defRPr>
            </a:pPr>
            <a:r>
              <a:rPr sz="1650" b="1">
                <a:solidFill>
                  <a:srgbClr val="151515"/>
                </a:solidFill>
                <a:latin typeface="IBM Plex Sans"/>
                <a:ea typeface="IBM Plex Sans"/>
                <a:cs typeface="IBM Plex Sans"/>
              </a:rPr>
              <a:t>Отдельный аудит результата</a:t>
            </a:r>
          </a:p>
        </p:txBody>
      </p:sp>
      <p:sp>
        <p:nvSpPr>
          <p:cNvPr id="17" name="Расчёт сохраняет исходные услови">
            <a:extLst xmlns:a="http://schemas.openxmlformats.org/drawingml/2006/main">
              <a:ext uri="{FF2B5EF4-FFF2-40B4-BE49-F238E27FC236}">
                <a16:creationId xmlns:a16="http://schemas.microsoft.com/office/drawing/2014/main" id="{47150886-3F68-4CE7-8A0F-F7B750838BDB}"/>
              </a:ext>
            </a:extLst>
          </p:cNvPr>
          <p:cNvSpPr>
            <a:spLocks xmlns:a="http://schemas.openxmlformats.org/drawingml/2006/main" noGrp="1"/>
          </p:cNvSpPr>
          <p:nvPr/>
        </p:nvSpPr>
        <p:spPr>
          <a:xfrm xmlns:a="http://schemas.openxmlformats.org/drawingml/2006/main">
            <a:off x="685800" y="619125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IBM Plex Sans"/>
                <a:ea typeface="IBM Plex Sans"/>
                <a:cs typeface="IBM Plex Sans"/>
              </a:defRPr>
            </a:pPr>
            <a:r>
              <a:rPr sz="1725" b="0">
                <a:solidFill>
                  <a:srgbClr val="606060"/>
                </a:solidFill>
                <a:latin typeface="IBM Plex Sans"/>
                <a:ea typeface="IBM Plex Sans"/>
                <a:cs typeface="IBM Plex Sans"/>
              </a:rPr>
              <a:t>Расчёт сохраняет исходные условия, выбранный план и его последствия</a:t>
            </a:r>
          </a:p>
        </p:txBody>
      </p:sp>
    </p:spTree>
    <p:extLst>
      <p:ext uri="{BB962C8B-B14F-4D97-AF65-F5344CB8AC3E}">
        <p14:creationId xmlns:p14="http://schemas.microsoft.com/office/powerpoint/2010/main" val="1434974858"/>
      </p:ext>
    </p:extLst>
  </p:cSld>
</p:sld>
</file>

<file path=ppt/slides/slide12.xml><?xml version="1.0" encoding="utf-8"?>
<p:sld xmlns:p="http://schemas.openxmlformats.org/presentationml/2006/main">
  <p:cSld>
    <p:bg>
      <p:bgPr>
        <a:solidFill xmlns:a="http://schemas.openxmlformats.org/drawingml/2006/main">
          <a:srgbClr val="151515"/>
        </a:solidFill>
      </p:bgPr>
    </p:bg>
    <p:spTree>
      <p:nvGrpSpPr>
        <p:cNvPr id="1" name=""/>
        <p:cNvGrpSpPr/>
        <p:nvPr/>
      </p:nvGrpSpPr>
      <p:grpSpPr>
        <a:xfrm xmlns:a="http://schemas.openxmlformats.org/drawingml/2006/main"/>
      </p:grpSpPr>
      <p:sp>
        <p:nvSpPr>
          <p:cNvPr id="17" name="Программный комплект">
            <a:extLst xmlns:a="http://schemas.openxmlformats.org/drawingml/2006/main">
              <a:ext uri="{FF2B5EF4-FFF2-40B4-BE49-F238E27FC236}">
                <a16:creationId xmlns:a16="http://schemas.microsoft.com/office/drawing/2014/main" id="{5E7543D9-A04D-4AA1-9E51-E427B1053734}"/>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Manrope"/>
                <a:ea typeface="Manrope"/>
                <a:cs typeface="Manrope"/>
              </a:defRPr>
            </a:pPr>
            <a:r>
              <a:rPr sz="3300" b="1">
                <a:solidFill>
                  <a:srgbClr val="FFFFFF"/>
                </a:solidFill>
                <a:latin typeface="Manrope"/>
                <a:ea typeface="Manrope"/>
                <a:cs typeface="Manrope"/>
              </a:rPr>
              <a:t>Программный комплект</a:t>
            </a:r>
          </a:p>
        </p:txBody>
      </p:sp>
      <p:sp>
        <p:nvSpPr>
          <p:cNvPr id="2" name="12">
            <a:extLst xmlns:a="http://schemas.openxmlformats.org/drawingml/2006/main">
              <a:ext uri="{FF2B5EF4-FFF2-40B4-BE49-F238E27FC236}">
                <a16:creationId xmlns:a16="http://schemas.microsoft.com/office/drawing/2014/main" id="{710C38A0-A588-406B-AD16-BBC4426C0936}"/>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6A6A6"/>
                </a:solidFill>
                <a:latin typeface="IBM Plex Sans"/>
                <a:ea typeface="IBM Plex Sans"/>
                <a:cs typeface="IBM Plex Sans"/>
              </a:defRPr>
            </a:pPr>
            <a:r>
              <a:rPr sz="1200" b="0">
                <a:solidFill>
                  <a:srgbClr val="A6A6A6"/>
                </a:solidFill>
                <a:latin typeface="IBM Plex Sans"/>
                <a:ea typeface="IBM Plex Sans"/>
                <a:cs typeface="IBM Plex Sans"/>
              </a:rPr>
              <a:t>12</a:t>
            </a:r>
          </a:p>
        </p:txBody>
      </p:sp>
      <p:sp>
        <p:nvSpPr>
          <p:cNvPr id="3" name="">
            <a:extLst xmlns:a="http://schemas.openxmlformats.org/drawingml/2006/main">
              <a:ext uri="{FF2B5EF4-FFF2-40B4-BE49-F238E27FC236}">
                <a16:creationId xmlns:a16="http://schemas.microsoft.com/office/drawing/2014/main" id="{E534815D-CA4B-48D3-8644-CB967DAABC5B}"/>
              </a:ext>
            </a:extLst>
          </p:cNvPr>
          <p:cNvSpPr>
            <a:spLocks xmlns:a="http://schemas.openxmlformats.org/drawingml/2006/main" noGrp="1"/>
          </p:cNvSpPr>
          <p:nvPr/>
        </p:nvSpPr>
        <p:spPr>
          <a:xfrm xmlns:a="http://schemas.openxmlformats.org/drawingml/2006/main">
            <a:off x="685800" y="1933575"/>
            <a:ext cx="10820400" cy="9525"/>
          </a:xfrm>
          <a:prstGeom xmlns:a="http://schemas.openxmlformats.org/drawingml/2006/main" prst="rect">
            <a:avLst/>
          </a:prstGeom>
          <a:solidFill xmlns:a="http://schemas.openxmlformats.org/drawingml/2006/main">
            <a:srgbClr val="484848"/>
          </a:solidFill>
          <a:ln xmlns:a="http://schemas.openxmlformats.org/drawingml/2006/main" w="0">
            <a:noFill/>
          </a:ln>
        </p:spPr>
      </p:sp>
      <p:sp>
        <p:nvSpPr>
          <p:cNvPr id="4" name="Веб-приложение">
            <a:extLst xmlns:a="http://schemas.openxmlformats.org/drawingml/2006/main">
              <a:ext uri="{FF2B5EF4-FFF2-40B4-BE49-F238E27FC236}">
                <a16:creationId xmlns:a16="http://schemas.microsoft.com/office/drawing/2014/main" id="{7A93214F-723E-4B97-95CD-ED447E78D93D}"/>
              </a:ext>
            </a:extLst>
          </p:cNvPr>
          <p:cNvSpPr>
            <a:spLocks xmlns:a="http://schemas.openxmlformats.org/drawingml/2006/main" noGrp="1"/>
          </p:cNvSpPr>
          <p:nvPr/>
        </p:nvSpPr>
        <p:spPr>
          <a:xfrm xmlns:a="http://schemas.openxmlformats.org/drawingml/2006/main">
            <a:off x="685800" y="2143125"/>
            <a:ext cx="3962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IBM Plex Sans"/>
                <a:ea typeface="IBM Plex Sans"/>
                <a:cs typeface="IBM Plex Sans"/>
              </a:defRPr>
            </a:pPr>
            <a:r>
              <a:rPr sz="2100" b="1">
                <a:solidFill>
                  <a:srgbClr val="FFFFFF"/>
                </a:solidFill>
                <a:latin typeface="IBM Plex Sans"/>
                <a:ea typeface="IBM Plex Sans"/>
                <a:cs typeface="IBM Plex Sans"/>
              </a:rPr>
              <a:t>Веб-приложение</a:t>
            </a:r>
          </a:p>
        </p:txBody>
      </p:sp>
      <p:sp>
        <p:nvSpPr>
          <p:cNvPr id="5" name="Карта, сценарии и результаты">
            <a:extLst xmlns:a="http://schemas.openxmlformats.org/drawingml/2006/main">
              <a:ext uri="{FF2B5EF4-FFF2-40B4-BE49-F238E27FC236}">
                <a16:creationId xmlns:a16="http://schemas.microsoft.com/office/drawing/2014/main" id="{CDE9643B-74BC-4057-B31F-C24259FF7845}"/>
              </a:ext>
            </a:extLst>
          </p:cNvPr>
          <p:cNvSpPr>
            <a:spLocks xmlns:a="http://schemas.openxmlformats.org/drawingml/2006/main" noGrp="1"/>
          </p:cNvSpPr>
          <p:nvPr/>
        </p:nvSpPr>
        <p:spPr>
          <a:xfrm xmlns:a="http://schemas.openxmlformats.org/drawingml/2006/main">
            <a:off x="5191125" y="2143125"/>
            <a:ext cx="6267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BCBCB"/>
                </a:solidFill>
                <a:latin typeface="IBM Plex Sans"/>
                <a:ea typeface="IBM Plex Sans"/>
                <a:cs typeface="IBM Plex Sans"/>
              </a:defRPr>
            </a:pPr>
            <a:r>
              <a:rPr sz="2025" b="0">
                <a:solidFill>
                  <a:srgbClr val="CBCBCB"/>
                </a:solidFill>
                <a:latin typeface="IBM Plex Sans"/>
                <a:ea typeface="IBM Plex Sans"/>
                <a:cs typeface="IBM Plex Sans"/>
              </a:rPr>
              <a:t>Карта, сценарии и результаты</a:t>
            </a:r>
          </a:p>
        </p:txBody>
      </p:sp>
      <p:sp>
        <p:nvSpPr>
          <p:cNvPr id="6" name="">
            <a:extLst xmlns:a="http://schemas.openxmlformats.org/drawingml/2006/main">
              <a:ext uri="{FF2B5EF4-FFF2-40B4-BE49-F238E27FC236}">
                <a16:creationId xmlns:a16="http://schemas.microsoft.com/office/drawing/2014/main" id="{8D8A27E6-CA83-45AD-B289-16FDC7A88F08}"/>
              </a:ext>
            </a:extLst>
          </p:cNvPr>
          <p:cNvSpPr>
            <a:spLocks xmlns:a="http://schemas.openxmlformats.org/drawingml/2006/main" noGrp="1"/>
          </p:cNvSpPr>
          <p:nvPr/>
        </p:nvSpPr>
        <p:spPr>
          <a:xfrm xmlns:a="http://schemas.openxmlformats.org/drawingml/2006/main">
            <a:off x="685800" y="2800350"/>
            <a:ext cx="10820400" cy="9525"/>
          </a:xfrm>
          <a:prstGeom xmlns:a="http://schemas.openxmlformats.org/drawingml/2006/main" prst="rect">
            <a:avLst/>
          </a:prstGeom>
          <a:solidFill xmlns:a="http://schemas.openxmlformats.org/drawingml/2006/main">
            <a:srgbClr val="484848"/>
          </a:solidFill>
          <a:ln xmlns:a="http://schemas.openxmlformats.org/drawingml/2006/main" w="0">
            <a:noFill/>
          </a:ln>
        </p:spPr>
      </p:sp>
      <p:sp>
        <p:nvSpPr>
          <p:cNvPr id="7" name="Сервер и данные">
            <a:extLst xmlns:a="http://schemas.openxmlformats.org/drawingml/2006/main">
              <a:ext uri="{FF2B5EF4-FFF2-40B4-BE49-F238E27FC236}">
                <a16:creationId xmlns:a16="http://schemas.microsoft.com/office/drawing/2014/main" id="{8C32363D-2C25-4A68-8127-1DF9BA262AE4}"/>
              </a:ext>
            </a:extLst>
          </p:cNvPr>
          <p:cNvSpPr>
            <a:spLocks xmlns:a="http://schemas.openxmlformats.org/drawingml/2006/main" noGrp="1"/>
          </p:cNvSpPr>
          <p:nvPr/>
        </p:nvSpPr>
        <p:spPr>
          <a:xfrm xmlns:a="http://schemas.openxmlformats.org/drawingml/2006/main">
            <a:off x="685800" y="3009900"/>
            <a:ext cx="3962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IBM Plex Sans"/>
                <a:ea typeface="IBM Plex Sans"/>
                <a:cs typeface="IBM Plex Sans"/>
              </a:defRPr>
            </a:pPr>
            <a:r>
              <a:rPr sz="2100" b="1">
                <a:solidFill>
                  <a:srgbClr val="FFFFFF"/>
                </a:solidFill>
                <a:latin typeface="IBM Plex Sans"/>
                <a:ea typeface="IBM Plex Sans"/>
                <a:cs typeface="IBM Plex Sans"/>
              </a:rPr>
              <a:t>Сервер и данные</a:t>
            </a:r>
          </a:p>
        </p:txBody>
      </p:sp>
      <p:sp>
        <p:nvSpPr>
          <p:cNvPr id="8" name="Go · PostgreSQL/PostGIS · Redis">
            <a:extLst xmlns:a="http://schemas.openxmlformats.org/drawingml/2006/main">
              <a:ext uri="{FF2B5EF4-FFF2-40B4-BE49-F238E27FC236}">
                <a16:creationId xmlns:a16="http://schemas.microsoft.com/office/drawing/2014/main" id="{9C346A09-0ACB-4C7A-960B-30CC92674CD2}"/>
              </a:ext>
            </a:extLst>
          </p:cNvPr>
          <p:cNvSpPr>
            <a:spLocks xmlns:a="http://schemas.openxmlformats.org/drawingml/2006/main" noGrp="1"/>
          </p:cNvSpPr>
          <p:nvPr/>
        </p:nvSpPr>
        <p:spPr>
          <a:xfrm xmlns:a="http://schemas.openxmlformats.org/drawingml/2006/main">
            <a:off x="5191125" y="3009900"/>
            <a:ext cx="6267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BCBCB"/>
                </a:solidFill>
                <a:latin typeface="IBM Plex Sans"/>
                <a:ea typeface="IBM Plex Sans"/>
                <a:cs typeface="IBM Plex Sans"/>
              </a:defRPr>
            </a:pPr>
            <a:r>
              <a:rPr sz="2025" b="0">
                <a:solidFill>
                  <a:srgbClr val="CBCBCB"/>
                </a:solidFill>
                <a:latin typeface="IBM Plex Sans"/>
                <a:ea typeface="IBM Plex Sans"/>
                <a:cs typeface="IBM Plex Sans"/>
              </a:rPr>
              <a:t>Go · PostgreSQL/PostGIS · Redis</a:t>
            </a:r>
          </a:p>
        </p:txBody>
      </p:sp>
      <p:sp>
        <p:nvSpPr>
          <p:cNvPr id="9" name="">
            <a:extLst xmlns:a="http://schemas.openxmlformats.org/drawingml/2006/main">
              <a:ext uri="{FF2B5EF4-FFF2-40B4-BE49-F238E27FC236}">
                <a16:creationId xmlns:a16="http://schemas.microsoft.com/office/drawing/2014/main" id="{C323D580-A6D1-4D22-ADBC-0D5FD54890EF}"/>
              </a:ext>
            </a:extLst>
          </p:cNvPr>
          <p:cNvSpPr>
            <a:spLocks xmlns:a="http://schemas.openxmlformats.org/drawingml/2006/main" noGrp="1"/>
          </p:cNvSpPr>
          <p:nvPr/>
        </p:nvSpPr>
        <p:spPr>
          <a:xfrm xmlns:a="http://schemas.openxmlformats.org/drawingml/2006/main">
            <a:off x="685800" y="3667125"/>
            <a:ext cx="10820400" cy="9525"/>
          </a:xfrm>
          <a:prstGeom xmlns:a="http://schemas.openxmlformats.org/drawingml/2006/main" prst="rect">
            <a:avLst/>
          </a:prstGeom>
          <a:solidFill xmlns:a="http://schemas.openxmlformats.org/drawingml/2006/main">
            <a:srgbClr val="484848"/>
          </a:solidFill>
          <a:ln xmlns:a="http://schemas.openxmlformats.org/drawingml/2006/main" w="0">
            <a:noFill/>
          </a:ln>
        </p:spPr>
      </p:sp>
      <p:sp>
        <p:nvSpPr>
          <p:cNvPr id="10" name="Расчётное ядро">
            <a:extLst xmlns:a="http://schemas.openxmlformats.org/drawingml/2006/main">
              <a:ext uri="{FF2B5EF4-FFF2-40B4-BE49-F238E27FC236}">
                <a16:creationId xmlns:a16="http://schemas.microsoft.com/office/drawing/2014/main" id="{6F7F33BE-D8B8-4D3F-98F1-E147EB21D84F}"/>
              </a:ext>
            </a:extLst>
          </p:cNvPr>
          <p:cNvSpPr>
            <a:spLocks xmlns:a="http://schemas.openxmlformats.org/drawingml/2006/main" noGrp="1"/>
          </p:cNvSpPr>
          <p:nvPr/>
        </p:nvSpPr>
        <p:spPr>
          <a:xfrm xmlns:a="http://schemas.openxmlformats.org/drawingml/2006/main">
            <a:off x="685800" y="3876675"/>
            <a:ext cx="3962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IBM Plex Sans"/>
                <a:ea typeface="IBM Plex Sans"/>
                <a:cs typeface="IBM Plex Sans"/>
              </a:defRPr>
            </a:pPr>
            <a:r>
              <a:rPr sz="2100" b="1">
                <a:solidFill>
                  <a:srgbClr val="FFFFFF"/>
                </a:solidFill>
                <a:latin typeface="IBM Plex Sans"/>
                <a:ea typeface="IBM Plex Sans"/>
                <a:cs typeface="IBM Plex Sans"/>
              </a:rPr>
              <a:t>Расчётное ядро</a:t>
            </a:r>
          </a:p>
        </p:txBody>
      </p:sp>
      <p:sp>
        <p:nvSpPr>
          <p:cNvPr id="11" name="Python · Pyomo · HiGHS · SimPy">
            <a:extLst xmlns:a="http://schemas.openxmlformats.org/drawingml/2006/main">
              <a:ext uri="{FF2B5EF4-FFF2-40B4-BE49-F238E27FC236}">
                <a16:creationId xmlns:a16="http://schemas.microsoft.com/office/drawing/2014/main" id="{29487189-B596-4961-9292-41C6E20BF0FE}"/>
              </a:ext>
            </a:extLst>
          </p:cNvPr>
          <p:cNvSpPr>
            <a:spLocks xmlns:a="http://schemas.openxmlformats.org/drawingml/2006/main" noGrp="1"/>
          </p:cNvSpPr>
          <p:nvPr/>
        </p:nvSpPr>
        <p:spPr>
          <a:xfrm xmlns:a="http://schemas.openxmlformats.org/drawingml/2006/main">
            <a:off x="5191125" y="3876675"/>
            <a:ext cx="6267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BCBCB"/>
                </a:solidFill>
                <a:latin typeface="IBM Plex Sans"/>
                <a:ea typeface="IBM Plex Sans"/>
                <a:cs typeface="IBM Plex Sans"/>
              </a:defRPr>
            </a:pPr>
            <a:r>
              <a:rPr sz="2025" b="0">
                <a:solidFill>
                  <a:srgbClr val="CBCBCB"/>
                </a:solidFill>
                <a:latin typeface="IBM Plex Sans"/>
                <a:ea typeface="IBM Plex Sans"/>
                <a:cs typeface="IBM Plex Sans"/>
              </a:rPr>
              <a:t>Python · Pyomo · HiGHS · SimPy</a:t>
            </a:r>
          </a:p>
        </p:txBody>
      </p:sp>
      <p:sp>
        <p:nvSpPr>
          <p:cNvPr id="12" name="">
            <a:extLst xmlns:a="http://schemas.openxmlformats.org/drawingml/2006/main">
              <a:ext uri="{FF2B5EF4-FFF2-40B4-BE49-F238E27FC236}">
                <a16:creationId xmlns:a16="http://schemas.microsoft.com/office/drawing/2014/main" id="{57CF0368-1FB6-44F6-9D19-E9DCCEFF759F}"/>
              </a:ext>
            </a:extLst>
          </p:cNvPr>
          <p:cNvSpPr>
            <a:spLocks xmlns:a="http://schemas.openxmlformats.org/drawingml/2006/main" noGrp="1"/>
          </p:cNvSpPr>
          <p:nvPr/>
        </p:nvSpPr>
        <p:spPr>
          <a:xfrm xmlns:a="http://schemas.openxmlformats.org/drawingml/2006/main">
            <a:off x="685800" y="4533900"/>
            <a:ext cx="10820400" cy="9525"/>
          </a:xfrm>
          <a:prstGeom xmlns:a="http://schemas.openxmlformats.org/drawingml/2006/main" prst="rect">
            <a:avLst/>
          </a:prstGeom>
          <a:solidFill xmlns:a="http://schemas.openxmlformats.org/drawingml/2006/main">
            <a:srgbClr val="484848"/>
          </a:solidFill>
          <a:ln xmlns:a="http://schemas.openxmlformats.org/drawingml/2006/main" w="0">
            <a:noFill/>
          </a:ln>
        </p:spPr>
      </p:sp>
      <p:sp>
        <p:nvSpPr>
          <p:cNvPr id="13" name="Развёртывание">
            <a:extLst xmlns:a="http://schemas.openxmlformats.org/drawingml/2006/main">
              <a:ext uri="{FF2B5EF4-FFF2-40B4-BE49-F238E27FC236}">
                <a16:creationId xmlns:a16="http://schemas.microsoft.com/office/drawing/2014/main" id="{A4504029-AF63-440D-A216-C32A8E344DC9}"/>
              </a:ext>
            </a:extLst>
          </p:cNvPr>
          <p:cNvSpPr>
            <a:spLocks xmlns:a="http://schemas.openxmlformats.org/drawingml/2006/main" noGrp="1"/>
          </p:cNvSpPr>
          <p:nvPr/>
        </p:nvSpPr>
        <p:spPr>
          <a:xfrm xmlns:a="http://schemas.openxmlformats.org/drawingml/2006/main">
            <a:off x="685800" y="4743450"/>
            <a:ext cx="3962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IBM Plex Sans"/>
                <a:ea typeface="IBM Plex Sans"/>
                <a:cs typeface="IBM Plex Sans"/>
              </a:defRPr>
            </a:pPr>
            <a:r>
              <a:rPr sz="2100" b="1">
                <a:solidFill>
                  <a:srgbClr val="FFFFFF"/>
                </a:solidFill>
                <a:latin typeface="IBM Plex Sans"/>
                <a:ea typeface="IBM Plex Sans"/>
                <a:cs typeface="IBM Plex Sans"/>
              </a:rPr>
              <a:t>Развёртывание</a:t>
            </a:r>
          </a:p>
        </p:txBody>
      </p:sp>
      <p:sp>
        <p:nvSpPr>
          <p:cNvPr id="14" name="Docker и инструкция запуска">
            <a:extLst xmlns:a="http://schemas.openxmlformats.org/drawingml/2006/main">
              <a:ext uri="{FF2B5EF4-FFF2-40B4-BE49-F238E27FC236}">
                <a16:creationId xmlns:a16="http://schemas.microsoft.com/office/drawing/2014/main" id="{61E7ACFF-611C-4093-82C8-BE54A384170A}"/>
              </a:ext>
            </a:extLst>
          </p:cNvPr>
          <p:cNvSpPr>
            <a:spLocks xmlns:a="http://schemas.openxmlformats.org/drawingml/2006/main" noGrp="1"/>
          </p:cNvSpPr>
          <p:nvPr/>
        </p:nvSpPr>
        <p:spPr>
          <a:xfrm xmlns:a="http://schemas.openxmlformats.org/drawingml/2006/main">
            <a:off x="5191125" y="4743450"/>
            <a:ext cx="6267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BCBCB"/>
                </a:solidFill>
                <a:latin typeface="IBM Plex Sans"/>
                <a:ea typeface="IBM Plex Sans"/>
                <a:cs typeface="IBM Plex Sans"/>
              </a:defRPr>
            </a:pPr>
            <a:r>
              <a:rPr sz="2025" b="0">
                <a:solidFill>
                  <a:srgbClr val="CBCBCB"/>
                </a:solidFill>
                <a:latin typeface="IBM Plex Sans"/>
                <a:ea typeface="IBM Plex Sans"/>
                <a:cs typeface="IBM Plex Sans"/>
              </a:rPr>
              <a:t>Docker и инструкция запуска</a:t>
            </a:r>
          </a:p>
        </p:txBody>
      </p:sp>
      <p:sp>
        <p:nvSpPr>
          <p:cNvPr id="15" name="Исходный код и документация">
            <a:extLst xmlns:a="http://schemas.openxmlformats.org/drawingml/2006/main">
              <a:ext uri="{FF2B5EF4-FFF2-40B4-BE49-F238E27FC236}">
                <a16:creationId xmlns:a16="http://schemas.microsoft.com/office/drawing/2014/main" id="{E9E1AC8B-6CDB-49C4-9C13-51644F8FC539}"/>
              </a:ext>
            </a:extLst>
          </p:cNvPr>
          <p:cNvSpPr>
            <a:spLocks xmlns:a="http://schemas.openxmlformats.org/drawingml/2006/main" noGrp="1"/>
          </p:cNvSpPr>
          <p:nvPr/>
        </p:nvSpPr>
        <p:spPr>
          <a:xfrm xmlns:a="http://schemas.openxmlformats.org/drawingml/2006/main">
            <a:off x="685800" y="57721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CBCBCB"/>
                </a:solidFill>
                <a:latin typeface="IBM Plex Sans"/>
                <a:ea typeface="IBM Plex Sans"/>
                <a:cs typeface="IBM Plex Sans"/>
              </a:defRPr>
            </a:pPr>
            <a:r>
              <a:rPr sz="1650" b="0">
                <a:solidFill>
                  <a:srgbClr val="CBCBCB"/>
                </a:solidFill>
                <a:latin typeface="IBM Plex Sans"/>
                <a:ea typeface="IBM Plex Sans"/>
                <a:cs typeface="IBM Plex Sans"/>
              </a:rPr>
              <a:t>Исходный код и документация</a:t>
            </a:r>
          </a:p>
        </p:txBody>
      </p:sp>
      <p:sp>
        <p:nvSpPr>
          <p:cNvPr id="16" name="github.com/Elmar006/energy_web">
            <a:extLst xmlns:a="http://schemas.openxmlformats.org/drawingml/2006/main">
              <a:ext uri="{FF2B5EF4-FFF2-40B4-BE49-F238E27FC236}">
                <a16:creationId xmlns:a16="http://schemas.microsoft.com/office/drawing/2014/main" id="{AF47036F-8D79-47EE-A660-F809AB512906}"/>
              </a:ext>
            </a:extLst>
          </p:cNvPr>
          <p:cNvSpPr>
            <a:spLocks xmlns:a="http://schemas.openxmlformats.org/drawingml/2006/main" noGrp="1"/>
          </p:cNvSpPr>
          <p:nvPr/>
        </p:nvSpPr>
        <p:spPr>
          <a:xfrm xmlns:a="http://schemas.openxmlformats.org/drawingml/2006/main">
            <a:off x="685800" y="614362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FFFFFF"/>
                </a:solidFill>
                <a:latin typeface="IBM Plex Sans"/>
                <a:ea typeface="IBM Plex Sans"/>
                <a:cs typeface="IBM Plex Sans"/>
              </a:defRPr>
            </a:pPr>
            <a:r>
              <a:rPr sz="2250" u="sng">
                <a:solidFill>
                  <a:srgbClr val="FFFFFF"/>
                </a:solidFill>
                <a:latin typeface="IBM Plex Sans"/>
                <a:ea typeface="IBM Plex Sans"/>
                <a:cs typeface="IBM Plex Sans"/>
                <a:hlinkClick xmlns:r="http://schemas.openxmlformats.org/officeDocument/2006/relationships" r:id="R232f35877f5c47f1"/>
              </a:rPr>
              <a:t>github.com/Elmar006/energy_web</a:t>
            </a:r>
          </a:p>
        </p:txBody>
      </p:sp>
    </p:spTree>
    <p:extLst>
      <p:ext uri="{BB962C8B-B14F-4D97-AF65-F5344CB8AC3E}">
        <p14:creationId xmlns:p14="http://schemas.microsoft.com/office/powerpoint/2010/main" val="15540357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2026-10-01T20:25:54.7650000Z</dcterms:created>
  <dcterms:modified xsi:type="dcterms:W3CDTF">2026-10-01T20:25:54.7650000Z</dcterms:modified>
</coreProperties>
</file>